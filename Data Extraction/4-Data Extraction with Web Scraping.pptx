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9"/>
  </p:notesMasterIdLst>
  <p:sldIdLst>
    <p:sldId id="2561" r:id="rId2"/>
    <p:sldId id="2562" r:id="rId3"/>
    <p:sldId id="2563" r:id="rId4"/>
    <p:sldId id="2564" r:id="rId5"/>
    <p:sldId id="2565" r:id="rId6"/>
    <p:sldId id="2566" r:id="rId7"/>
    <p:sldId id="2567" r:id="rId8"/>
    <p:sldId id="2568" r:id="rId9"/>
    <p:sldId id="2569" r:id="rId10"/>
    <p:sldId id="2570" r:id="rId11"/>
    <p:sldId id="2571" r:id="rId12"/>
    <p:sldId id="2572" r:id="rId13"/>
    <p:sldId id="2573" r:id="rId14"/>
    <p:sldId id="2574" r:id="rId15"/>
    <p:sldId id="2575" r:id="rId16"/>
    <p:sldId id="2576" r:id="rId17"/>
    <p:sldId id="2577" r:id="rId18"/>
    <p:sldId id="2578" r:id="rId19"/>
    <p:sldId id="2579" r:id="rId20"/>
    <p:sldId id="2580" r:id="rId21"/>
    <p:sldId id="2581" r:id="rId22"/>
    <p:sldId id="2582" r:id="rId23"/>
    <p:sldId id="2583" r:id="rId24"/>
    <p:sldId id="2584" r:id="rId25"/>
    <p:sldId id="2585" r:id="rId26"/>
    <p:sldId id="2586" r:id="rId27"/>
    <p:sldId id="2587"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astering Web Scraping for Data Extraction" id="{683E62FF-72B1-451F-B090-C4F1AEE9351F}">
          <p14:sldIdLst>
            <p14:sldId id="2561"/>
            <p14:sldId id="2562"/>
          </p14:sldIdLst>
        </p14:section>
        <p14:section name="Introduction to Web Scraping" id="{99DD1DA7-C55C-485D-8E25-6A90D4C7CCA8}">
          <p14:sldIdLst>
            <p14:sldId id="2563"/>
            <p14:sldId id="2564"/>
            <p14:sldId id="2565"/>
          </p14:sldIdLst>
        </p14:section>
        <p14:section name="Web Scraping Techniques" id="{7F1894D0-BE4E-4442-A6A0-D29AD124B552}">
          <p14:sldIdLst>
            <p14:sldId id="2566"/>
            <p14:sldId id="2567"/>
            <p14:sldId id="2568"/>
            <p14:sldId id="2569"/>
          </p14:sldIdLst>
        </p14:section>
        <p14:section name="Web Scraping Tools and Libraries" id="{05771818-43C5-4A7D-AA2C-6C9FAE1832E5}">
          <p14:sldIdLst>
            <p14:sldId id="2570"/>
            <p14:sldId id="2571"/>
            <p14:sldId id="2572"/>
            <p14:sldId id="2573"/>
          </p14:sldIdLst>
        </p14:section>
        <p14:section name="Ethics and Legal Considerations in Web Scraping" id="{18E59FFC-EB99-43D0-807F-7D7ABD415267}">
          <p14:sldIdLst>
            <p14:sldId id="2574"/>
            <p14:sldId id="2575"/>
            <p14:sldId id="2576"/>
            <p14:sldId id="2577"/>
          </p14:sldIdLst>
        </p14:section>
        <p14:section name="Dealing with Anti-Scraping Mechanisms" id="{00928169-18EE-4EEB-9156-0AA1E2090638}">
          <p14:sldIdLst>
            <p14:sldId id="2578"/>
            <p14:sldId id="2579"/>
            <p14:sldId id="2580"/>
          </p14:sldIdLst>
        </p14:section>
        <p14:section name="Saving and Exporting Scraped Data" id="{69959D13-35AA-4516-8DA0-D610BE581B6B}">
          <p14:sldIdLst>
            <p14:sldId id="2581"/>
            <p14:sldId id="2582"/>
            <p14:sldId id="2583"/>
          </p14:sldIdLst>
        </p14:section>
        <p14:section name="Handling Large-Scale Scraping" id="{B8F5A6B0-555D-4361-A5FA-CCA028FDC37A}">
          <p14:sldIdLst>
            <p14:sldId id="2584"/>
            <p14:sldId id="2585"/>
            <p14:sldId id="2586"/>
          </p14:sldIdLst>
        </p14:section>
        <p14:section name="Conclusion" id="{0C8AF9AB-B669-40D5-8300-698CFBE4C882}">
          <p14:sldIdLst>
            <p14:sldId id="258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15987" autoAdjust="0"/>
    <p:restoredTop sz="94994" autoAdjust="0"/>
  </p:normalViewPr>
  <p:slideViewPr>
    <p:cSldViewPr snapToGrid="0">
      <p:cViewPr varScale="1">
        <p:scale>
          <a:sx n="89" d="100"/>
          <a:sy n="89" d="100"/>
        </p:scale>
        <p:origin x="346" y="230"/>
      </p:cViewPr>
      <p:guideLst/>
    </p:cSldViewPr>
  </p:slideViewPr>
  <p:notesTextViewPr>
    <p:cViewPr>
      <p:scale>
        <a:sx n="1" d="1"/>
        <a:sy n="1" d="1"/>
      </p:scale>
      <p:origin x="0" y="0"/>
    </p:cViewPr>
  </p:notesTextViewPr>
  <p:sorterViewPr>
    <p:cViewPr varScale="1">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7595C33-CE7A-4F97-A372-BE85B2DA220F}" type="datetimeFigureOut">
              <a:rPr lang="en-IN" smtClean="0"/>
              <a:t>04-Oct-2024 Fri</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1601CE5-7632-42D8-8117-E548C6330F6A}" type="slidenum">
              <a:rPr lang="en-IN" smtClean="0"/>
              <a:t>‹#›</a:t>
            </a:fld>
            <a:endParaRPr lang="en-IN"/>
          </a:p>
        </p:txBody>
      </p:sp>
    </p:spTree>
    <p:extLst>
      <p:ext uri="{BB962C8B-B14F-4D97-AF65-F5344CB8AC3E}">
        <p14:creationId xmlns:p14="http://schemas.microsoft.com/office/powerpoint/2010/main" val="4335951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Web scraping is the process of extracting data from websites for various use cases such as market research, competitive analysis, and content aggregation. In this presentation, we will discuss the techniques, tools, and ethics involved in web scraping.</a:t>
            </a:r>
          </a:p>
        </p:txBody>
      </p:sp>
      <p:sp>
        <p:nvSpPr>
          <p:cNvPr id="4" name="Slide Number Placeholder 3"/>
          <p:cNvSpPr>
            <a:spLocks noGrp="1"/>
          </p:cNvSpPr>
          <p:nvPr>
            <p:ph type="sldNum" sz="quarter" idx="5"/>
          </p:nvPr>
        </p:nvSpPr>
        <p:spPr/>
        <p:txBody>
          <a:bodyPr/>
          <a:lstStyle/>
          <a:p>
            <a:fld id="{75EF5D97-012E-475C-B03A-21EB16EAA062}" type="slidenum">
              <a:rPr lang="en-IN" smtClean="0"/>
              <a:t>1</a:t>
            </a:fld>
            <a:endParaRPr lang="en-IN"/>
          </a:p>
        </p:txBody>
      </p:sp>
    </p:spTree>
    <p:extLst>
      <p:ext uri="{BB962C8B-B14F-4D97-AF65-F5344CB8AC3E}">
        <p14:creationId xmlns:p14="http://schemas.microsoft.com/office/powerpoint/2010/main" val="2206862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We will start by introducing the concept of web scraping and its use cases. Then, we will dive into the techniques involved in parsing HTML and navigating through DOM structures. Next, we will explore the popular tools and libraries used for web scraping, including Python libraries like BeautifulSoup, Scrapy, and Selenium, and cloud-based scraping tools like ParseHub and Octoparse. After that, we will discuss the ethics and legal considerations involved in web scraping, such as complying with website terms of service and avoiding copyright infringement. We will also cover anti-scraping mechanisms and techniques to handle them, including CAPTCHA, IP rotation, and user-agent spoofing. Finally, we will talk about saving and exporting scraped data, as well as handling large-scale scraping jobs using distributed scraping and cloud infrastructure.</a:t>
            </a:r>
          </a:p>
        </p:txBody>
      </p:sp>
      <p:sp>
        <p:nvSpPr>
          <p:cNvPr id="4" name="Slide Number Placeholder 3"/>
          <p:cNvSpPr>
            <a:spLocks noGrp="1"/>
          </p:cNvSpPr>
          <p:nvPr>
            <p:ph type="sldNum" sz="quarter" idx="5"/>
          </p:nvPr>
        </p:nvSpPr>
        <p:spPr/>
        <p:txBody>
          <a:bodyPr/>
          <a:lstStyle/>
          <a:p>
            <a:fld id="{75EF5D97-012E-475C-B03A-21EB16EAA062}" type="slidenum">
              <a:rPr lang="en-IN" smtClean="0"/>
              <a:t>2</a:t>
            </a:fld>
            <a:endParaRPr lang="en-IN"/>
          </a:p>
        </p:txBody>
      </p:sp>
    </p:spTree>
    <p:extLst>
      <p:ext uri="{BB962C8B-B14F-4D97-AF65-F5344CB8AC3E}">
        <p14:creationId xmlns:p14="http://schemas.microsoft.com/office/powerpoint/2010/main" val="6610916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Web scraping is the process of extracting data from websites using automated tools. It has various use cases such as market research, competitive analysis, and content aggregation. In this section, we will define web scraping and its purpose.</a:t>
            </a:r>
          </a:p>
        </p:txBody>
      </p:sp>
      <p:sp>
        <p:nvSpPr>
          <p:cNvPr id="4" name="Slide Number Placeholder 3"/>
          <p:cNvSpPr>
            <a:spLocks noGrp="1"/>
          </p:cNvSpPr>
          <p:nvPr>
            <p:ph type="sldNum" sz="quarter" idx="5"/>
          </p:nvPr>
        </p:nvSpPr>
        <p:spPr/>
        <p:txBody>
          <a:bodyPr/>
          <a:lstStyle/>
          <a:p>
            <a:fld id="{75EF5D97-012E-475C-B03A-21EB16EAA062}" type="slidenum">
              <a:rPr lang="en-IN" smtClean="0"/>
              <a:t>3</a:t>
            </a:fld>
            <a:endParaRPr lang="en-IN"/>
          </a:p>
        </p:txBody>
      </p:sp>
    </p:spTree>
    <p:extLst>
      <p:ext uri="{BB962C8B-B14F-4D97-AF65-F5344CB8AC3E}">
        <p14:creationId xmlns:p14="http://schemas.microsoft.com/office/powerpoint/2010/main" val="19209311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Web scraping is a technique of extracting data from websites using automated tools. It has various applications such as market research, competitive analysis, and content aggregation.</a:t>
            </a:r>
          </a:p>
        </p:txBody>
      </p:sp>
      <p:sp>
        <p:nvSpPr>
          <p:cNvPr id="4" name="Slide Number Placeholder 3"/>
          <p:cNvSpPr>
            <a:spLocks noGrp="1"/>
          </p:cNvSpPr>
          <p:nvPr>
            <p:ph type="sldNum" sz="quarter" idx="5"/>
          </p:nvPr>
        </p:nvSpPr>
        <p:spPr/>
        <p:txBody>
          <a:bodyPr/>
          <a:lstStyle/>
          <a:p>
            <a:fld id="{75EF5D97-012E-475C-B03A-21EB16EAA062}" type="slidenum">
              <a:rPr lang="en-IN" smtClean="0"/>
              <a:t>4</a:t>
            </a:fld>
            <a:endParaRPr lang="en-IN"/>
          </a:p>
        </p:txBody>
      </p:sp>
    </p:spTree>
    <p:extLst>
      <p:ext uri="{BB962C8B-B14F-4D97-AF65-F5344CB8AC3E}">
        <p14:creationId xmlns:p14="http://schemas.microsoft.com/office/powerpoint/2010/main" val="26106597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Web scraping can be used for a variety of purposes such as market research, competitive analysis, and content aggregation. It allows businesses to gather data from various sources and make informed decisions based on that data.</a:t>
            </a:r>
          </a:p>
        </p:txBody>
      </p:sp>
      <p:sp>
        <p:nvSpPr>
          <p:cNvPr id="4" name="Slide Number Placeholder 3"/>
          <p:cNvSpPr>
            <a:spLocks noGrp="1"/>
          </p:cNvSpPr>
          <p:nvPr>
            <p:ph type="sldNum" sz="quarter" idx="5"/>
          </p:nvPr>
        </p:nvSpPr>
        <p:spPr/>
        <p:txBody>
          <a:bodyPr/>
          <a:lstStyle/>
          <a:p>
            <a:fld id="{75EF5D97-012E-475C-B03A-21EB16EAA062}" type="slidenum">
              <a:rPr lang="en-IN" smtClean="0"/>
              <a:t>5</a:t>
            </a:fld>
            <a:endParaRPr lang="en-IN"/>
          </a:p>
        </p:txBody>
      </p:sp>
    </p:spTree>
    <p:extLst>
      <p:ext uri="{BB962C8B-B14F-4D97-AF65-F5344CB8AC3E}">
        <p14:creationId xmlns:p14="http://schemas.microsoft.com/office/powerpoint/2010/main" val="339655800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Web scraping involves parsing HTML to extract data from web pages, navigating through DOM structures, and handling dynamic content. In this section, we will discuss the techniques involved in web scraping.</a:t>
            </a:r>
          </a:p>
        </p:txBody>
      </p:sp>
      <p:sp>
        <p:nvSpPr>
          <p:cNvPr id="4" name="Slide Number Placeholder 3"/>
          <p:cNvSpPr>
            <a:spLocks noGrp="1"/>
          </p:cNvSpPr>
          <p:nvPr>
            <p:ph type="sldNum" sz="quarter" idx="5"/>
          </p:nvPr>
        </p:nvSpPr>
        <p:spPr/>
        <p:txBody>
          <a:bodyPr/>
          <a:lstStyle/>
          <a:p>
            <a:fld id="{75EF5D97-012E-475C-B03A-21EB16EAA062}" type="slidenum">
              <a:rPr lang="en-IN" smtClean="0"/>
              <a:t>6</a:t>
            </a:fld>
            <a:endParaRPr lang="en-IN"/>
          </a:p>
        </p:txBody>
      </p:sp>
    </p:spTree>
    <p:extLst>
      <p:ext uri="{BB962C8B-B14F-4D97-AF65-F5344CB8AC3E}">
        <p14:creationId xmlns:p14="http://schemas.microsoft.com/office/powerpoint/2010/main" val="37892000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Parsing HTML is the process of extracting data from web pages by analyzing their HTML structure. This involves identifying relevant HTML tags and attributes to extract the desired data.</a:t>
            </a:r>
          </a:p>
        </p:txBody>
      </p:sp>
      <p:sp>
        <p:nvSpPr>
          <p:cNvPr id="4" name="Slide Number Placeholder 3"/>
          <p:cNvSpPr>
            <a:spLocks noGrp="1"/>
          </p:cNvSpPr>
          <p:nvPr>
            <p:ph type="sldNum" sz="quarter" idx="5"/>
          </p:nvPr>
        </p:nvSpPr>
        <p:spPr/>
        <p:txBody>
          <a:bodyPr/>
          <a:lstStyle/>
          <a:p>
            <a:fld id="{75EF5D97-012E-475C-B03A-21EB16EAA062}" type="slidenum">
              <a:rPr lang="en-IN" smtClean="0"/>
              <a:t>7</a:t>
            </a:fld>
            <a:endParaRPr lang="en-IN"/>
          </a:p>
        </p:txBody>
      </p:sp>
    </p:spTree>
    <p:extLst>
      <p:ext uri="{BB962C8B-B14F-4D97-AF65-F5344CB8AC3E}">
        <p14:creationId xmlns:p14="http://schemas.microsoft.com/office/powerpoint/2010/main" val="289281313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DOM (Document Object Model) is a hierarchical representation of a web page's HTML structure. Navigating through DOM structures involves identifying the relevant elements and their relationships to extract the desired data.</a:t>
            </a:r>
          </a:p>
        </p:txBody>
      </p:sp>
      <p:sp>
        <p:nvSpPr>
          <p:cNvPr id="4" name="Slide Number Placeholder 3"/>
          <p:cNvSpPr>
            <a:spLocks noGrp="1"/>
          </p:cNvSpPr>
          <p:nvPr>
            <p:ph type="sldNum" sz="quarter" idx="5"/>
          </p:nvPr>
        </p:nvSpPr>
        <p:spPr/>
        <p:txBody>
          <a:bodyPr/>
          <a:lstStyle/>
          <a:p>
            <a:fld id="{75EF5D97-012E-475C-B03A-21EB16EAA062}" type="slidenum">
              <a:rPr lang="en-IN" smtClean="0"/>
              <a:t>8</a:t>
            </a:fld>
            <a:endParaRPr lang="en-IN"/>
          </a:p>
        </p:txBody>
      </p:sp>
    </p:spTree>
    <p:extLst>
      <p:ext uri="{BB962C8B-B14F-4D97-AF65-F5344CB8AC3E}">
        <p14:creationId xmlns:p14="http://schemas.microsoft.com/office/powerpoint/2010/main" val="281741240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Some websites use JavaScript to render their content dynamically. Handling dynamic content involves using tools like Selenium to interact with the website and extract the desired data.</a:t>
            </a:r>
          </a:p>
        </p:txBody>
      </p:sp>
      <p:sp>
        <p:nvSpPr>
          <p:cNvPr id="4" name="Slide Number Placeholder 3"/>
          <p:cNvSpPr>
            <a:spLocks noGrp="1"/>
          </p:cNvSpPr>
          <p:nvPr>
            <p:ph type="sldNum" sz="quarter" idx="5"/>
          </p:nvPr>
        </p:nvSpPr>
        <p:spPr/>
        <p:txBody>
          <a:bodyPr/>
          <a:lstStyle/>
          <a:p>
            <a:fld id="{75EF5D97-012E-475C-B03A-21EB16EAA062}" type="slidenum">
              <a:rPr lang="en-IN" smtClean="0"/>
              <a:t>9</a:t>
            </a:fld>
            <a:endParaRPr lang="en-IN"/>
          </a:p>
        </p:txBody>
      </p:sp>
    </p:spTree>
    <p:extLst>
      <p:ext uri="{BB962C8B-B14F-4D97-AF65-F5344CB8AC3E}">
        <p14:creationId xmlns:p14="http://schemas.microsoft.com/office/powerpoint/2010/main" val="153904160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There are various tools and libraries available for web scraping, including Python libraries like BeautifulSoup, Scrapy, and Selenium, and cloud-based scraping tools like ParseHub and Octoparse. In this section, we will discuss these tools and their features.</a:t>
            </a:r>
          </a:p>
        </p:txBody>
      </p:sp>
      <p:sp>
        <p:nvSpPr>
          <p:cNvPr id="4" name="Slide Number Placeholder 3"/>
          <p:cNvSpPr>
            <a:spLocks noGrp="1"/>
          </p:cNvSpPr>
          <p:nvPr>
            <p:ph type="sldNum" sz="quarter" idx="5"/>
          </p:nvPr>
        </p:nvSpPr>
        <p:spPr/>
        <p:txBody>
          <a:bodyPr/>
          <a:lstStyle/>
          <a:p>
            <a:fld id="{75EF5D97-012E-475C-B03A-21EB16EAA062}" type="slidenum">
              <a:rPr lang="en-IN" smtClean="0"/>
              <a:t>10</a:t>
            </a:fld>
            <a:endParaRPr lang="en-IN"/>
          </a:p>
        </p:txBody>
      </p:sp>
    </p:spTree>
    <p:extLst>
      <p:ext uri="{BB962C8B-B14F-4D97-AF65-F5344CB8AC3E}">
        <p14:creationId xmlns:p14="http://schemas.microsoft.com/office/powerpoint/2010/main" val="189237201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Python libraries like BeautifulSoup, Scrapy, and Selenium are popular tools for web scraping. BeautifulSoup is a library for parsing HTML and XML documents, Scrapy is a framework for web scraping and crawling, and Selenium is a tool for automating web browsers.</a:t>
            </a:r>
          </a:p>
        </p:txBody>
      </p:sp>
      <p:sp>
        <p:nvSpPr>
          <p:cNvPr id="4" name="Slide Number Placeholder 3"/>
          <p:cNvSpPr>
            <a:spLocks noGrp="1"/>
          </p:cNvSpPr>
          <p:nvPr>
            <p:ph type="sldNum" sz="quarter" idx="5"/>
          </p:nvPr>
        </p:nvSpPr>
        <p:spPr/>
        <p:txBody>
          <a:bodyPr/>
          <a:lstStyle/>
          <a:p>
            <a:fld id="{75EF5D97-012E-475C-B03A-21EB16EAA062}" type="slidenum">
              <a:rPr lang="en-IN" smtClean="0"/>
              <a:t>11</a:t>
            </a:fld>
            <a:endParaRPr lang="en-IN"/>
          </a:p>
        </p:txBody>
      </p:sp>
    </p:spTree>
    <p:extLst>
      <p:ext uri="{BB962C8B-B14F-4D97-AF65-F5344CB8AC3E}">
        <p14:creationId xmlns:p14="http://schemas.microsoft.com/office/powerpoint/2010/main" val="352081209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Selenium can be used to automate web browsers and interact with websites. It is useful for handling dynamic content and performing tasks like filling out forms and clicking buttons.</a:t>
            </a:r>
          </a:p>
        </p:txBody>
      </p:sp>
      <p:sp>
        <p:nvSpPr>
          <p:cNvPr id="4" name="Slide Number Placeholder 3"/>
          <p:cNvSpPr>
            <a:spLocks noGrp="1"/>
          </p:cNvSpPr>
          <p:nvPr>
            <p:ph type="sldNum" sz="quarter" idx="5"/>
          </p:nvPr>
        </p:nvSpPr>
        <p:spPr/>
        <p:txBody>
          <a:bodyPr/>
          <a:lstStyle/>
          <a:p>
            <a:fld id="{75EF5D97-012E-475C-B03A-21EB16EAA062}" type="slidenum">
              <a:rPr lang="en-IN" smtClean="0"/>
              <a:t>12</a:t>
            </a:fld>
            <a:endParaRPr lang="en-IN"/>
          </a:p>
        </p:txBody>
      </p:sp>
    </p:spTree>
    <p:extLst>
      <p:ext uri="{BB962C8B-B14F-4D97-AF65-F5344CB8AC3E}">
        <p14:creationId xmlns:p14="http://schemas.microsoft.com/office/powerpoint/2010/main" val="384422416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Cloud-based scraping tools like ParseHub and Octoparse offer a user-friendly interface for web scraping. They allow users to create scraping projects without writing any code and offer features like IP rotation and CAPTCHA handling.</a:t>
            </a:r>
          </a:p>
        </p:txBody>
      </p:sp>
      <p:sp>
        <p:nvSpPr>
          <p:cNvPr id="4" name="Slide Number Placeholder 3"/>
          <p:cNvSpPr>
            <a:spLocks noGrp="1"/>
          </p:cNvSpPr>
          <p:nvPr>
            <p:ph type="sldNum" sz="quarter" idx="5"/>
          </p:nvPr>
        </p:nvSpPr>
        <p:spPr/>
        <p:txBody>
          <a:bodyPr/>
          <a:lstStyle/>
          <a:p>
            <a:fld id="{75EF5D97-012E-475C-B03A-21EB16EAA062}" type="slidenum">
              <a:rPr lang="en-IN" smtClean="0"/>
              <a:t>13</a:t>
            </a:fld>
            <a:endParaRPr lang="en-IN"/>
          </a:p>
        </p:txBody>
      </p:sp>
    </p:spTree>
    <p:extLst>
      <p:ext uri="{BB962C8B-B14F-4D97-AF65-F5344CB8AC3E}">
        <p14:creationId xmlns:p14="http://schemas.microsoft.com/office/powerpoint/2010/main" val="30229912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Web scraping involves ethical and legal considerations. In this section, we will discuss the ethical and legal considerations involved in web scraping.</a:t>
            </a:r>
          </a:p>
        </p:txBody>
      </p:sp>
      <p:sp>
        <p:nvSpPr>
          <p:cNvPr id="4" name="Slide Number Placeholder 3"/>
          <p:cNvSpPr>
            <a:spLocks noGrp="1"/>
          </p:cNvSpPr>
          <p:nvPr>
            <p:ph type="sldNum" sz="quarter" idx="5"/>
          </p:nvPr>
        </p:nvSpPr>
        <p:spPr/>
        <p:txBody>
          <a:bodyPr/>
          <a:lstStyle/>
          <a:p>
            <a:fld id="{75EF5D97-012E-475C-B03A-21EB16EAA062}" type="slidenum">
              <a:rPr lang="en-IN" smtClean="0"/>
              <a:t>14</a:t>
            </a:fld>
            <a:endParaRPr lang="en-IN"/>
          </a:p>
        </p:txBody>
      </p:sp>
    </p:spTree>
    <p:extLst>
      <p:ext uri="{BB962C8B-B14F-4D97-AF65-F5344CB8AC3E}">
        <p14:creationId xmlns:p14="http://schemas.microsoft.com/office/powerpoint/2010/main" val="77392962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Many websites have terms of service that prohibit web scraping. It is important to comply with these terms to avoid legal repercussions.</a:t>
            </a:r>
          </a:p>
        </p:txBody>
      </p:sp>
      <p:sp>
        <p:nvSpPr>
          <p:cNvPr id="4" name="Slide Number Placeholder 3"/>
          <p:cNvSpPr>
            <a:spLocks noGrp="1"/>
          </p:cNvSpPr>
          <p:nvPr>
            <p:ph type="sldNum" sz="quarter" idx="5"/>
          </p:nvPr>
        </p:nvSpPr>
        <p:spPr/>
        <p:txBody>
          <a:bodyPr/>
          <a:lstStyle/>
          <a:p>
            <a:fld id="{75EF5D97-012E-475C-B03A-21EB16EAA062}" type="slidenum">
              <a:rPr lang="en-IN" smtClean="0"/>
              <a:t>15</a:t>
            </a:fld>
            <a:endParaRPr lang="en-IN"/>
          </a:p>
        </p:txBody>
      </p:sp>
    </p:spTree>
    <p:extLst>
      <p:ext uri="{BB962C8B-B14F-4D97-AF65-F5344CB8AC3E}">
        <p14:creationId xmlns:p14="http://schemas.microsoft.com/office/powerpoint/2010/main" val="303761656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Some websites have rate limits and anti-scraping mechanisms that can result in IP blocking. It is important to handle these mechanisms carefully to avoid being blocked from the website.</a:t>
            </a:r>
          </a:p>
        </p:txBody>
      </p:sp>
      <p:sp>
        <p:nvSpPr>
          <p:cNvPr id="4" name="Slide Number Placeholder 3"/>
          <p:cNvSpPr>
            <a:spLocks noGrp="1"/>
          </p:cNvSpPr>
          <p:nvPr>
            <p:ph type="sldNum" sz="quarter" idx="5"/>
          </p:nvPr>
        </p:nvSpPr>
        <p:spPr/>
        <p:txBody>
          <a:bodyPr/>
          <a:lstStyle/>
          <a:p>
            <a:fld id="{75EF5D97-012E-475C-B03A-21EB16EAA062}" type="slidenum">
              <a:rPr lang="en-IN" smtClean="0"/>
              <a:t>16</a:t>
            </a:fld>
            <a:endParaRPr lang="en-IN"/>
          </a:p>
        </p:txBody>
      </p:sp>
    </p:spTree>
    <p:extLst>
      <p:ext uri="{BB962C8B-B14F-4D97-AF65-F5344CB8AC3E}">
        <p14:creationId xmlns:p14="http://schemas.microsoft.com/office/powerpoint/2010/main" val="213590915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Web scraping can raise ethical concerns, especially when it comes to personal data and copyright infringement. It is important to scrape data ethically and avoid infringing on copyright.</a:t>
            </a:r>
          </a:p>
        </p:txBody>
      </p:sp>
      <p:sp>
        <p:nvSpPr>
          <p:cNvPr id="4" name="Slide Number Placeholder 3"/>
          <p:cNvSpPr>
            <a:spLocks noGrp="1"/>
          </p:cNvSpPr>
          <p:nvPr>
            <p:ph type="sldNum" sz="quarter" idx="5"/>
          </p:nvPr>
        </p:nvSpPr>
        <p:spPr/>
        <p:txBody>
          <a:bodyPr/>
          <a:lstStyle/>
          <a:p>
            <a:fld id="{75EF5D97-012E-475C-B03A-21EB16EAA062}" type="slidenum">
              <a:rPr lang="en-IN" smtClean="0"/>
              <a:t>17</a:t>
            </a:fld>
            <a:endParaRPr lang="en-IN"/>
          </a:p>
        </p:txBody>
      </p:sp>
    </p:spTree>
    <p:extLst>
      <p:ext uri="{BB962C8B-B14F-4D97-AF65-F5344CB8AC3E}">
        <p14:creationId xmlns:p14="http://schemas.microsoft.com/office/powerpoint/2010/main" val="409439114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Anti-scraping mechanisms such as CAPTCHA, IP rotation, and user-agent spoofing can make web scraping challenging. In this section, we will discuss the techniques to handle these mechanisms.</a:t>
            </a:r>
          </a:p>
        </p:txBody>
      </p:sp>
      <p:sp>
        <p:nvSpPr>
          <p:cNvPr id="4" name="Slide Number Placeholder 3"/>
          <p:cNvSpPr>
            <a:spLocks noGrp="1"/>
          </p:cNvSpPr>
          <p:nvPr>
            <p:ph type="sldNum" sz="quarter" idx="5"/>
          </p:nvPr>
        </p:nvSpPr>
        <p:spPr/>
        <p:txBody>
          <a:bodyPr/>
          <a:lstStyle/>
          <a:p>
            <a:fld id="{75EF5D97-012E-475C-B03A-21EB16EAA062}" type="slidenum">
              <a:rPr lang="en-IN" smtClean="0"/>
              <a:t>18</a:t>
            </a:fld>
            <a:endParaRPr lang="en-IN"/>
          </a:p>
        </p:txBody>
      </p:sp>
    </p:spTree>
    <p:extLst>
      <p:ext uri="{BB962C8B-B14F-4D97-AF65-F5344CB8AC3E}">
        <p14:creationId xmlns:p14="http://schemas.microsoft.com/office/powerpoint/2010/main" val="244478959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CAPTCHA is a common anti-scraping mechanism that involves presenting users with a challenge to prove they are human. CAPTCHA can be managed using tools like DeathByCaptcha and AntiCaptcha.</a:t>
            </a:r>
          </a:p>
        </p:txBody>
      </p:sp>
      <p:sp>
        <p:nvSpPr>
          <p:cNvPr id="4" name="Slide Number Placeholder 3"/>
          <p:cNvSpPr>
            <a:spLocks noGrp="1"/>
          </p:cNvSpPr>
          <p:nvPr>
            <p:ph type="sldNum" sz="quarter" idx="5"/>
          </p:nvPr>
        </p:nvSpPr>
        <p:spPr/>
        <p:txBody>
          <a:bodyPr/>
          <a:lstStyle/>
          <a:p>
            <a:fld id="{75EF5D97-012E-475C-B03A-21EB16EAA062}" type="slidenum">
              <a:rPr lang="en-IN" smtClean="0"/>
              <a:t>19</a:t>
            </a:fld>
            <a:endParaRPr lang="en-IN"/>
          </a:p>
        </p:txBody>
      </p:sp>
    </p:spTree>
    <p:extLst>
      <p:ext uri="{BB962C8B-B14F-4D97-AF65-F5344CB8AC3E}">
        <p14:creationId xmlns:p14="http://schemas.microsoft.com/office/powerpoint/2010/main" val="356123233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IP rotation involves using multiple IP addresses to avoid being blocked by anti-scraping mechanisms. User-agent spoofing involves changing the user-agent string to avoid being detected as a scraper. These techniques can be used to avoid anti-scraping mechanisms.</a:t>
            </a:r>
          </a:p>
        </p:txBody>
      </p:sp>
      <p:sp>
        <p:nvSpPr>
          <p:cNvPr id="4" name="Slide Number Placeholder 3"/>
          <p:cNvSpPr>
            <a:spLocks noGrp="1"/>
          </p:cNvSpPr>
          <p:nvPr>
            <p:ph type="sldNum" sz="quarter" idx="5"/>
          </p:nvPr>
        </p:nvSpPr>
        <p:spPr/>
        <p:txBody>
          <a:bodyPr/>
          <a:lstStyle/>
          <a:p>
            <a:fld id="{75EF5D97-012E-475C-B03A-21EB16EAA062}" type="slidenum">
              <a:rPr lang="en-IN" smtClean="0"/>
              <a:t>20</a:t>
            </a:fld>
            <a:endParaRPr lang="en-IN"/>
          </a:p>
        </p:txBody>
      </p:sp>
    </p:spTree>
    <p:extLst>
      <p:ext uri="{BB962C8B-B14F-4D97-AF65-F5344CB8AC3E}">
        <p14:creationId xmlns:p14="http://schemas.microsoft.com/office/powerpoint/2010/main" val="319521785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After scraping data from websites, it is important to save and export the data for analysis. In this section, we will discuss the techniques for saving and exporting scraped data.</a:t>
            </a:r>
          </a:p>
        </p:txBody>
      </p:sp>
      <p:sp>
        <p:nvSpPr>
          <p:cNvPr id="4" name="Slide Number Placeholder 3"/>
          <p:cNvSpPr>
            <a:spLocks noGrp="1"/>
          </p:cNvSpPr>
          <p:nvPr>
            <p:ph type="sldNum" sz="quarter" idx="5"/>
          </p:nvPr>
        </p:nvSpPr>
        <p:spPr/>
        <p:txBody>
          <a:bodyPr/>
          <a:lstStyle/>
          <a:p>
            <a:fld id="{75EF5D97-012E-475C-B03A-21EB16EAA062}" type="slidenum">
              <a:rPr lang="en-IN" smtClean="0"/>
              <a:t>21</a:t>
            </a:fld>
            <a:endParaRPr lang="en-IN"/>
          </a:p>
        </p:txBody>
      </p:sp>
    </p:spTree>
    <p:extLst>
      <p:ext uri="{BB962C8B-B14F-4D97-AF65-F5344CB8AC3E}">
        <p14:creationId xmlns:p14="http://schemas.microsoft.com/office/powerpoint/2010/main" val="305493648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Scraped data can be stored in various formats such as CSV, JSON, or databases. The choice of format depends on the nature of the data and the intended use.</a:t>
            </a:r>
          </a:p>
        </p:txBody>
      </p:sp>
      <p:sp>
        <p:nvSpPr>
          <p:cNvPr id="4" name="Slide Number Placeholder 3"/>
          <p:cNvSpPr>
            <a:spLocks noGrp="1"/>
          </p:cNvSpPr>
          <p:nvPr>
            <p:ph type="sldNum" sz="quarter" idx="5"/>
          </p:nvPr>
        </p:nvSpPr>
        <p:spPr/>
        <p:txBody>
          <a:bodyPr/>
          <a:lstStyle/>
          <a:p>
            <a:fld id="{75EF5D97-012E-475C-B03A-21EB16EAA062}" type="slidenum">
              <a:rPr lang="en-IN" smtClean="0"/>
              <a:t>22</a:t>
            </a:fld>
            <a:endParaRPr lang="en-IN"/>
          </a:p>
        </p:txBody>
      </p:sp>
    </p:spTree>
    <p:extLst>
      <p:ext uri="{BB962C8B-B14F-4D97-AF65-F5344CB8AC3E}">
        <p14:creationId xmlns:p14="http://schemas.microsoft.com/office/powerpoint/2010/main" val="301939997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Scraped data may require cleaning and processing before analysis. This involves removing duplicates, correcting errors, and formatting data for analysis.</a:t>
            </a:r>
          </a:p>
        </p:txBody>
      </p:sp>
      <p:sp>
        <p:nvSpPr>
          <p:cNvPr id="4" name="Slide Number Placeholder 3"/>
          <p:cNvSpPr>
            <a:spLocks noGrp="1"/>
          </p:cNvSpPr>
          <p:nvPr>
            <p:ph type="sldNum" sz="quarter" idx="5"/>
          </p:nvPr>
        </p:nvSpPr>
        <p:spPr/>
        <p:txBody>
          <a:bodyPr/>
          <a:lstStyle/>
          <a:p>
            <a:fld id="{75EF5D97-012E-475C-B03A-21EB16EAA062}" type="slidenum">
              <a:rPr lang="en-IN" smtClean="0"/>
              <a:t>23</a:t>
            </a:fld>
            <a:endParaRPr lang="en-IN"/>
          </a:p>
        </p:txBody>
      </p:sp>
    </p:spTree>
    <p:extLst>
      <p:ext uri="{BB962C8B-B14F-4D97-AF65-F5344CB8AC3E}">
        <p14:creationId xmlns:p14="http://schemas.microsoft.com/office/powerpoint/2010/main" val="4976296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Large-scale scraping jobs can be challenging to handle. In this section, we will discuss the techniques for handling large-scale scraping.</a:t>
            </a:r>
          </a:p>
        </p:txBody>
      </p:sp>
      <p:sp>
        <p:nvSpPr>
          <p:cNvPr id="4" name="Slide Number Placeholder 3"/>
          <p:cNvSpPr>
            <a:spLocks noGrp="1"/>
          </p:cNvSpPr>
          <p:nvPr>
            <p:ph type="sldNum" sz="quarter" idx="5"/>
          </p:nvPr>
        </p:nvSpPr>
        <p:spPr/>
        <p:txBody>
          <a:bodyPr/>
          <a:lstStyle/>
          <a:p>
            <a:fld id="{75EF5D97-012E-475C-B03A-21EB16EAA062}" type="slidenum">
              <a:rPr lang="en-IN" smtClean="0"/>
              <a:t>24</a:t>
            </a:fld>
            <a:endParaRPr lang="en-IN"/>
          </a:p>
        </p:txBody>
      </p:sp>
    </p:spTree>
    <p:extLst>
      <p:ext uri="{BB962C8B-B14F-4D97-AF65-F5344CB8AC3E}">
        <p14:creationId xmlns:p14="http://schemas.microsoft.com/office/powerpoint/2010/main" val="371729041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Distributed scraping and parallel processing can be used to speed up large-scale scraping jobs. This involves using multiple machines to scrape data in parallel.</a:t>
            </a:r>
          </a:p>
        </p:txBody>
      </p:sp>
      <p:sp>
        <p:nvSpPr>
          <p:cNvPr id="4" name="Slide Number Placeholder 3"/>
          <p:cNvSpPr>
            <a:spLocks noGrp="1"/>
          </p:cNvSpPr>
          <p:nvPr>
            <p:ph type="sldNum" sz="quarter" idx="5"/>
          </p:nvPr>
        </p:nvSpPr>
        <p:spPr/>
        <p:txBody>
          <a:bodyPr/>
          <a:lstStyle/>
          <a:p>
            <a:fld id="{75EF5D97-012E-475C-B03A-21EB16EAA062}" type="slidenum">
              <a:rPr lang="en-IN" smtClean="0"/>
              <a:t>25</a:t>
            </a:fld>
            <a:endParaRPr lang="en-IN"/>
          </a:p>
        </p:txBody>
      </p:sp>
    </p:spTree>
    <p:extLst>
      <p:ext uri="{BB962C8B-B14F-4D97-AF65-F5344CB8AC3E}">
        <p14:creationId xmlns:p14="http://schemas.microsoft.com/office/powerpoint/2010/main" val="214614750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Cloud infrastructure can be used to handle large-scale scraping jobs by providing on-demand computing resources. This allows users to scale up their scraping jobs as needed.</a:t>
            </a:r>
          </a:p>
        </p:txBody>
      </p:sp>
      <p:sp>
        <p:nvSpPr>
          <p:cNvPr id="4" name="Slide Number Placeholder 3"/>
          <p:cNvSpPr>
            <a:spLocks noGrp="1"/>
          </p:cNvSpPr>
          <p:nvPr>
            <p:ph type="sldNum" sz="quarter" idx="5"/>
          </p:nvPr>
        </p:nvSpPr>
        <p:spPr/>
        <p:txBody>
          <a:bodyPr/>
          <a:lstStyle/>
          <a:p>
            <a:fld id="{75EF5D97-012E-475C-B03A-21EB16EAA062}" type="slidenum">
              <a:rPr lang="en-IN" smtClean="0"/>
              <a:t>26</a:t>
            </a:fld>
            <a:endParaRPr lang="en-IN"/>
          </a:p>
        </p:txBody>
      </p:sp>
    </p:spTree>
    <p:extLst>
      <p:ext uri="{BB962C8B-B14F-4D97-AF65-F5344CB8AC3E}">
        <p14:creationId xmlns:p14="http://schemas.microsoft.com/office/powerpoint/2010/main" val="333422220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Web scraping is a valuable technique for extracting data from websites for various use cases. By using the techniques, tools, and ethics discussed in this presentation, businesses can gather valuable insights and make informed decisions based on that data.</a:t>
            </a:r>
          </a:p>
        </p:txBody>
      </p:sp>
      <p:sp>
        <p:nvSpPr>
          <p:cNvPr id="4" name="Slide Number Placeholder 3"/>
          <p:cNvSpPr>
            <a:spLocks noGrp="1"/>
          </p:cNvSpPr>
          <p:nvPr>
            <p:ph type="sldNum" sz="quarter" idx="5"/>
          </p:nvPr>
        </p:nvSpPr>
        <p:spPr/>
        <p:txBody>
          <a:bodyPr/>
          <a:lstStyle/>
          <a:p>
            <a:fld id="{75EF5D97-012E-475C-B03A-21EB16EAA062}" type="slidenum">
              <a:rPr lang="en-IN" smtClean="0"/>
              <a:t>27</a:t>
            </a:fld>
            <a:endParaRPr lang="en-IN"/>
          </a:p>
        </p:txBody>
      </p:sp>
    </p:spTree>
    <p:extLst>
      <p:ext uri="{BB962C8B-B14F-4D97-AF65-F5344CB8AC3E}">
        <p14:creationId xmlns:p14="http://schemas.microsoft.com/office/powerpoint/2010/main" val="19109591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45610A-17B4-4656-93CF-E1D9982860F7}"/>
              </a:ext>
            </a:extLst>
          </p:cNvPr>
          <p:cNvSpPr>
            <a:spLocks noGrp="1"/>
          </p:cNvSpPr>
          <p:nvPr>
            <p:ph type="ctrTitle"/>
          </p:nvPr>
        </p:nvSpPr>
        <p:spPr>
          <a:xfrm>
            <a:off x="640080" y="1371599"/>
            <a:ext cx="6675120" cy="2951825"/>
          </a:xfrm>
        </p:spPr>
        <p:txBody>
          <a:bodyPr anchor="t">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A451C80B-DFD6-415B-BA5B-E56E510CD12B}"/>
              </a:ext>
            </a:extLst>
          </p:cNvPr>
          <p:cNvSpPr>
            <a:spLocks noGrp="1"/>
          </p:cNvSpPr>
          <p:nvPr>
            <p:ph type="subTitle" idx="1"/>
          </p:nvPr>
        </p:nvSpPr>
        <p:spPr>
          <a:xfrm>
            <a:off x="640080" y="4584879"/>
            <a:ext cx="6675120" cy="1287887"/>
          </a:xfrm>
        </p:spPr>
        <p:txBody>
          <a:bodyPr anchor="b">
            <a:normAutofit/>
          </a:bodyPr>
          <a:lstStyle>
            <a:lvl1pPr marL="0" indent="0" algn="l">
              <a:lnSpc>
                <a:spcPct val="130000"/>
              </a:lnSpc>
              <a:buNone/>
              <a:defRPr sz="1800" b="1" cap="all" spc="3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67A2065B-06FF-4991-9F8A-4BE25457B479}"/>
              </a:ext>
            </a:extLst>
          </p:cNvPr>
          <p:cNvSpPr>
            <a:spLocks noGrp="1"/>
          </p:cNvSpPr>
          <p:nvPr>
            <p:ph type="dt" sz="half" idx="10"/>
          </p:nvPr>
        </p:nvSpPr>
        <p:spPr/>
        <p:txBody>
          <a:bodyPr/>
          <a:lstStyle/>
          <a:p>
            <a:fld id="{769254D7-D8C0-4AD0-97FA-FF9B2FB28C5E}" type="datetime1">
              <a:rPr lang="en-US" smtClean="0"/>
              <a:t>10/4/2024</a:t>
            </a:fld>
            <a:endParaRPr lang="en-US"/>
          </a:p>
        </p:txBody>
      </p:sp>
      <p:sp>
        <p:nvSpPr>
          <p:cNvPr id="5" name="Footer Placeholder 4">
            <a:extLst>
              <a:ext uri="{FF2B5EF4-FFF2-40B4-BE49-F238E27FC236}">
                <a16:creationId xmlns:a16="http://schemas.microsoft.com/office/drawing/2014/main" id="{B20DF2FA-C604-45D8-A633-11D3742EC14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2EE5DA9-2D04-4850-AB9F-BD353816504A}"/>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9923562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8B246-6A68-46BE-9DBD-614FA8CF4E26}"/>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3E47706-8D18-4093-A7C1-F30D7543CED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EC7C8FC-AAEA-4AB6-9DB5-2503F58F0E69}"/>
              </a:ext>
            </a:extLst>
          </p:cNvPr>
          <p:cNvSpPr>
            <a:spLocks noGrp="1"/>
          </p:cNvSpPr>
          <p:nvPr>
            <p:ph type="dt" sz="half" idx="10"/>
          </p:nvPr>
        </p:nvSpPr>
        <p:spPr/>
        <p:txBody>
          <a:bodyPr/>
          <a:lstStyle/>
          <a:p>
            <a:fld id="{BC9ABE84-6D3A-4ACC-A2CF-53A65D86113A}" type="datetime1">
              <a:rPr lang="en-US" smtClean="0"/>
              <a:t>10/4/2024</a:t>
            </a:fld>
            <a:endParaRPr lang="en-US"/>
          </a:p>
        </p:txBody>
      </p:sp>
      <p:sp>
        <p:nvSpPr>
          <p:cNvPr id="5" name="Footer Placeholder 4">
            <a:extLst>
              <a:ext uri="{FF2B5EF4-FFF2-40B4-BE49-F238E27FC236}">
                <a16:creationId xmlns:a16="http://schemas.microsoft.com/office/drawing/2014/main" id="{E8B1616B-3F08-4869-A522-773C38940F6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3E030CE6-9124-4B3A-A912-AE16B5C34003}"/>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9975864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1BB59B6-79B9-97F5-AC3B-DF65899D39D8}"/>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6C78885-57B2-4930-BD7D-CBF916EDF1C6}"/>
              </a:ext>
            </a:extLst>
          </p:cNvPr>
          <p:cNvSpPr>
            <a:spLocks noGrp="1"/>
          </p:cNvSpPr>
          <p:nvPr>
            <p:ph type="title"/>
          </p:nvPr>
        </p:nvSpPr>
        <p:spPr>
          <a:xfrm>
            <a:off x="640080" y="1291366"/>
            <a:ext cx="9214884" cy="3159974"/>
          </a:xfrm>
        </p:spPr>
        <p:txBody>
          <a:bodyPr anchor="b">
            <a:normAutofit/>
          </a:bodyPr>
          <a:lstStyle>
            <a:lvl1pPr>
              <a:defRPr sz="5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9BE495E4-2F8B-4CC7-88AC-A312067E60D2}"/>
              </a:ext>
            </a:extLst>
          </p:cNvPr>
          <p:cNvSpPr>
            <a:spLocks noGrp="1"/>
          </p:cNvSpPr>
          <p:nvPr>
            <p:ph type="body" idx="1"/>
          </p:nvPr>
        </p:nvSpPr>
        <p:spPr>
          <a:xfrm>
            <a:off x="640080" y="5018567"/>
            <a:ext cx="7907079" cy="1073889"/>
          </a:xfrm>
        </p:spPr>
        <p:txBody>
          <a:bodyP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8585CC9-BAD3-4807-90BB-97DA2D6A6BE2}"/>
              </a:ext>
            </a:extLst>
          </p:cNvPr>
          <p:cNvSpPr>
            <a:spLocks noGrp="1"/>
          </p:cNvSpPr>
          <p:nvPr>
            <p:ph type="dt" sz="half" idx="10"/>
          </p:nvPr>
        </p:nvSpPr>
        <p:spPr/>
        <p:txBody>
          <a:bodyPr/>
          <a:lstStyle/>
          <a:p>
            <a:fld id="{EF6F389F-1D3C-4B5C-981B-687591D1744E}" type="datetime1">
              <a:rPr lang="en-US" smtClean="0"/>
              <a:t>10/4/2024</a:t>
            </a:fld>
            <a:endParaRPr lang="en-US"/>
          </a:p>
        </p:txBody>
      </p:sp>
      <p:sp>
        <p:nvSpPr>
          <p:cNvPr id="5" name="Footer Placeholder 4">
            <a:extLst>
              <a:ext uri="{FF2B5EF4-FFF2-40B4-BE49-F238E27FC236}">
                <a16:creationId xmlns:a16="http://schemas.microsoft.com/office/drawing/2014/main" id="{5F108CEF-165F-4D7E-9666-5CD0156B497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E0EBC3D-3277-4D34-9F67-71040C21E3B3}"/>
              </a:ext>
            </a:extLst>
          </p:cNvPr>
          <p:cNvSpPr>
            <a:spLocks noGrp="1"/>
          </p:cNvSpPr>
          <p:nvPr>
            <p:ph type="sldNum" sz="quarter" idx="12"/>
          </p:nvPr>
        </p:nvSpPr>
        <p:spPr/>
        <p:txBody>
          <a:bodyPr/>
          <a:lstStyle/>
          <a:p>
            <a:fld id="{70C12960-6E85-460F-B6E3-5B82CB31AF3D}" type="slidenum">
              <a:rPr lang="en-US" smtClean="0"/>
              <a:t>‹#›</a:t>
            </a:fld>
            <a:endParaRPr lang="en-US"/>
          </a:p>
        </p:txBody>
      </p:sp>
      <p:cxnSp>
        <p:nvCxnSpPr>
          <p:cNvPr id="7" name="Straight Connector 6">
            <a:extLst>
              <a:ext uri="{FF2B5EF4-FFF2-40B4-BE49-F238E27FC236}">
                <a16:creationId xmlns:a16="http://schemas.microsoft.com/office/drawing/2014/main" id="{FF05EAE5-4812-F718-6D75-9627884180BF}"/>
              </a:ext>
              <a:ext uri="{C183D7F6-B498-43B3-948B-1728B52AA6E4}">
                <adec:decorative xmlns:adec="http://schemas.microsoft.com/office/drawing/2017/decorative" val="1"/>
              </a:ext>
            </a:extLst>
          </p:cNvPr>
          <p:cNvCxnSpPr>
            <a:cxnSpLocks/>
          </p:cNvCxnSpPr>
          <p:nvPr/>
        </p:nvCxnSpPr>
        <p:spPr>
          <a:xfrm>
            <a:off x="716281" y="4715234"/>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243188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B477A4-4D01-45B6-9563-0BF13BA72F7C}"/>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EE17E00-96AC-45F0-82B2-9F601E9B93C2}"/>
              </a:ext>
            </a:extLst>
          </p:cNvPr>
          <p:cNvSpPr>
            <a:spLocks noGrp="1"/>
          </p:cNvSpPr>
          <p:nvPr>
            <p:ph sz="half" idx="1"/>
          </p:nvPr>
        </p:nvSpPr>
        <p:spPr>
          <a:xfrm>
            <a:off x="640080" y="2633472"/>
            <a:ext cx="5212080" cy="3566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2BA30CD-95C0-427B-A571-A7D8A53278F4}"/>
              </a:ext>
            </a:extLst>
          </p:cNvPr>
          <p:cNvSpPr>
            <a:spLocks noGrp="1"/>
          </p:cNvSpPr>
          <p:nvPr>
            <p:ph sz="half" idx="2"/>
          </p:nvPr>
        </p:nvSpPr>
        <p:spPr>
          <a:xfrm>
            <a:off x="6318928" y="2633472"/>
            <a:ext cx="5212080" cy="3566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6F67CAC-53E4-44AF-BEAC-8FFB96F05A86}"/>
              </a:ext>
            </a:extLst>
          </p:cNvPr>
          <p:cNvSpPr>
            <a:spLocks noGrp="1"/>
          </p:cNvSpPr>
          <p:nvPr>
            <p:ph type="dt" sz="half" idx="10"/>
          </p:nvPr>
        </p:nvSpPr>
        <p:spPr/>
        <p:txBody>
          <a:bodyPr/>
          <a:lstStyle/>
          <a:p>
            <a:fld id="{22CCB9F0-C407-4E92-8DC6-D696AAE294BF}" type="datetime1">
              <a:rPr lang="en-US" smtClean="0"/>
              <a:t>10/4/2024</a:t>
            </a:fld>
            <a:endParaRPr lang="en-US"/>
          </a:p>
        </p:txBody>
      </p:sp>
      <p:sp>
        <p:nvSpPr>
          <p:cNvPr id="6" name="Footer Placeholder 5">
            <a:extLst>
              <a:ext uri="{FF2B5EF4-FFF2-40B4-BE49-F238E27FC236}">
                <a16:creationId xmlns:a16="http://schemas.microsoft.com/office/drawing/2014/main" id="{083D9F3A-E7F0-45E7-AFA8-0D4A669EC16C}"/>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C5F008B-58BB-45FF-923F-5909DAB49D34}"/>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1507247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97B549-9E51-42E0-992A-73E775957773}"/>
              </a:ext>
            </a:extLst>
          </p:cNvPr>
          <p:cNvSpPr>
            <a:spLocks noGrp="1"/>
          </p:cNvSpPr>
          <p:nvPr>
            <p:ph type="title"/>
          </p:nvPr>
        </p:nvSpPr>
        <p:spPr>
          <a:xfrm>
            <a:off x="640079" y="1371599"/>
            <a:ext cx="10890929" cy="939753"/>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C81A5FDC-7C4B-45FB-8462-E2CE79919F33}"/>
              </a:ext>
            </a:extLst>
          </p:cNvPr>
          <p:cNvSpPr>
            <a:spLocks noGrp="1"/>
          </p:cNvSpPr>
          <p:nvPr>
            <p:ph type="body" idx="1"/>
          </p:nvPr>
        </p:nvSpPr>
        <p:spPr>
          <a:xfrm>
            <a:off x="640079" y="2311352"/>
            <a:ext cx="5212080" cy="695373"/>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BD8B686-2E92-45B9-A3D7-9DCAA0C50B36}"/>
              </a:ext>
            </a:extLst>
          </p:cNvPr>
          <p:cNvSpPr>
            <a:spLocks noGrp="1"/>
          </p:cNvSpPr>
          <p:nvPr>
            <p:ph sz="half" idx="2"/>
          </p:nvPr>
        </p:nvSpPr>
        <p:spPr>
          <a:xfrm>
            <a:off x="640079" y="3006725"/>
            <a:ext cx="5212080" cy="31912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86ADB526-4A44-47B6-8D14-93202E590AA7}"/>
              </a:ext>
            </a:extLst>
          </p:cNvPr>
          <p:cNvSpPr>
            <a:spLocks noGrp="1"/>
          </p:cNvSpPr>
          <p:nvPr>
            <p:ph type="body" sz="quarter" idx="3"/>
          </p:nvPr>
        </p:nvSpPr>
        <p:spPr>
          <a:xfrm>
            <a:off x="6318928" y="2311352"/>
            <a:ext cx="5212080" cy="695373"/>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4177CA-5C13-4311-BFD3-B98FBD942DA5}"/>
              </a:ext>
            </a:extLst>
          </p:cNvPr>
          <p:cNvSpPr>
            <a:spLocks noGrp="1"/>
          </p:cNvSpPr>
          <p:nvPr>
            <p:ph sz="quarter" idx="4"/>
          </p:nvPr>
        </p:nvSpPr>
        <p:spPr>
          <a:xfrm>
            <a:off x="6318928" y="3006725"/>
            <a:ext cx="5212080" cy="31912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DEA255A-4CB5-40CA-B756-1AA5E27C20BF}"/>
              </a:ext>
            </a:extLst>
          </p:cNvPr>
          <p:cNvSpPr>
            <a:spLocks noGrp="1"/>
          </p:cNvSpPr>
          <p:nvPr>
            <p:ph type="dt" sz="half" idx="10"/>
          </p:nvPr>
        </p:nvSpPr>
        <p:spPr/>
        <p:txBody>
          <a:bodyPr/>
          <a:lstStyle/>
          <a:p>
            <a:fld id="{A607FD34-D757-489C-9C9F-CC732FC8EAC0}" type="datetime1">
              <a:rPr lang="en-US" smtClean="0"/>
              <a:t>10/4/2024</a:t>
            </a:fld>
            <a:endParaRPr lang="en-US"/>
          </a:p>
        </p:txBody>
      </p:sp>
      <p:sp>
        <p:nvSpPr>
          <p:cNvPr id="8" name="Footer Placeholder 7">
            <a:extLst>
              <a:ext uri="{FF2B5EF4-FFF2-40B4-BE49-F238E27FC236}">
                <a16:creationId xmlns:a16="http://schemas.microsoft.com/office/drawing/2014/main" id="{FF3072C4-10F1-49B8-B0BF-69204EDDCFAE}"/>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4A5ACC97-44C1-4887-909B-E6732D3C1FFE}"/>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4919162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27D313-943A-47E0-8A7A-DFFBCC297AB7}"/>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23AC25A7-81C8-4AA1-AD9F-C78A451FDE2E}"/>
              </a:ext>
            </a:extLst>
          </p:cNvPr>
          <p:cNvSpPr>
            <a:spLocks noGrp="1"/>
          </p:cNvSpPr>
          <p:nvPr>
            <p:ph type="dt" sz="half" idx="10"/>
          </p:nvPr>
        </p:nvSpPr>
        <p:spPr/>
        <p:txBody>
          <a:bodyPr/>
          <a:lstStyle/>
          <a:p>
            <a:fld id="{7BF23B3A-2E64-4926-919C-3228F686D1F4}" type="datetime1">
              <a:rPr lang="en-US" smtClean="0"/>
              <a:t>10/4/2024</a:t>
            </a:fld>
            <a:endParaRPr lang="en-US"/>
          </a:p>
        </p:txBody>
      </p:sp>
      <p:sp>
        <p:nvSpPr>
          <p:cNvPr id="4" name="Footer Placeholder 3">
            <a:extLst>
              <a:ext uri="{FF2B5EF4-FFF2-40B4-BE49-F238E27FC236}">
                <a16:creationId xmlns:a16="http://schemas.microsoft.com/office/drawing/2014/main" id="{6EF54740-6022-46B2-9C55-B60E9651684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089497C9-6B5E-46D6-8FE9-0A5E0CF7F95B}"/>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41130904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149F9F0F-FB8C-5565-247C-BDCC156B5CAF}"/>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Date Placeholder 1">
            <a:extLst>
              <a:ext uri="{FF2B5EF4-FFF2-40B4-BE49-F238E27FC236}">
                <a16:creationId xmlns:a16="http://schemas.microsoft.com/office/drawing/2014/main" id="{92740D3C-270A-401A-810C-2F86BBBB87D4}"/>
              </a:ext>
            </a:extLst>
          </p:cNvPr>
          <p:cNvSpPr>
            <a:spLocks noGrp="1"/>
          </p:cNvSpPr>
          <p:nvPr>
            <p:ph type="dt" sz="half" idx="10"/>
          </p:nvPr>
        </p:nvSpPr>
        <p:spPr/>
        <p:txBody>
          <a:bodyPr/>
          <a:lstStyle/>
          <a:p>
            <a:fld id="{C2E9DCE0-A113-4838-AD03-4C377365CB2C}" type="datetime1">
              <a:rPr lang="en-US" smtClean="0"/>
              <a:t>10/4/2024</a:t>
            </a:fld>
            <a:endParaRPr lang="en-US"/>
          </a:p>
        </p:txBody>
      </p:sp>
      <p:sp>
        <p:nvSpPr>
          <p:cNvPr id="3" name="Footer Placeholder 2">
            <a:extLst>
              <a:ext uri="{FF2B5EF4-FFF2-40B4-BE49-F238E27FC236}">
                <a16:creationId xmlns:a16="http://schemas.microsoft.com/office/drawing/2014/main" id="{DDCBE9F8-1765-4F36-A4DE-1DB136025AC9}"/>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7790CF9E-A6C6-4873-ADBE-7A2939319E58}"/>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6665086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8CDF8-00AD-4441-A6D5-9D7A659EB6C0}"/>
              </a:ext>
            </a:extLst>
          </p:cNvPr>
          <p:cNvSpPr>
            <a:spLocks noGrp="1"/>
          </p:cNvSpPr>
          <p:nvPr>
            <p:ph type="title"/>
          </p:nvPr>
        </p:nvSpPr>
        <p:spPr>
          <a:xfrm>
            <a:off x="640080" y="1371600"/>
            <a:ext cx="3859397" cy="1451723"/>
          </a:xfrm>
        </p:spPr>
        <p:txBody>
          <a:bodyPr anchor="t">
            <a:normAutofit/>
          </a:bodyPr>
          <a:lstStyle>
            <a:lvl1pPr>
              <a:defRPr sz="36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8C330AF-CB7E-420A-AE8A-E02E90325885}"/>
              </a:ext>
            </a:extLst>
          </p:cNvPr>
          <p:cNvSpPr>
            <a:spLocks noGrp="1"/>
          </p:cNvSpPr>
          <p:nvPr>
            <p:ph idx="1"/>
          </p:nvPr>
        </p:nvSpPr>
        <p:spPr>
          <a:xfrm>
            <a:off x="4936519" y="1031001"/>
            <a:ext cx="6594490" cy="516636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F43257AD-2422-4CDA-9C55-700F4B5BF251}"/>
              </a:ext>
            </a:extLst>
          </p:cNvPr>
          <p:cNvSpPr>
            <a:spLocks noGrp="1"/>
          </p:cNvSpPr>
          <p:nvPr>
            <p:ph type="body" sz="half" idx="2"/>
          </p:nvPr>
        </p:nvSpPr>
        <p:spPr>
          <a:xfrm>
            <a:off x="640080" y="2972168"/>
            <a:ext cx="3859397" cy="322682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1B7454-C1CC-46F2-A6FB-1FE786C48F49}"/>
              </a:ext>
            </a:extLst>
          </p:cNvPr>
          <p:cNvSpPr>
            <a:spLocks noGrp="1"/>
          </p:cNvSpPr>
          <p:nvPr>
            <p:ph type="dt" sz="half" idx="10"/>
          </p:nvPr>
        </p:nvSpPr>
        <p:spPr/>
        <p:txBody>
          <a:bodyPr/>
          <a:lstStyle/>
          <a:p>
            <a:fld id="{EFD3F2A0-6D83-4C94-AEA3-2063754E4CDD}" type="datetime1">
              <a:rPr lang="en-US" smtClean="0"/>
              <a:t>10/4/2024</a:t>
            </a:fld>
            <a:endParaRPr lang="en-US"/>
          </a:p>
        </p:txBody>
      </p:sp>
      <p:sp>
        <p:nvSpPr>
          <p:cNvPr id="6" name="Footer Placeholder 5">
            <a:extLst>
              <a:ext uri="{FF2B5EF4-FFF2-40B4-BE49-F238E27FC236}">
                <a16:creationId xmlns:a16="http://schemas.microsoft.com/office/drawing/2014/main" id="{49077DBE-6CC7-421B-AB5E-341E20BD922B}"/>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FD6EAB8F-7526-4CDB-B782-FAD8B3E70B0A}"/>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0192856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1647F-5A61-44C9-81DC-331C9AE5DDAE}"/>
              </a:ext>
            </a:extLst>
          </p:cNvPr>
          <p:cNvSpPr>
            <a:spLocks noGrp="1"/>
          </p:cNvSpPr>
          <p:nvPr>
            <p:ph type="title"/>
          </p:nvPr>
        </p:nvSpPr>
        <p:spPr>
          <a:xfrm>
            <a:off x="640080" y="1371600"/>
            <a:ext cx="3859397" cy="1451723"/>
          </a:xfrm>
        </p:spPr>
        <p:txBody>
          <a:bodyPr anchor="t">
            <a:normAutofit/>
          </a:bodyPr>
          <a:lstStyle>
            <a:lvl1pPr>
              <a:defRPr sz="36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1627A0F-F1B8-49BE-A0FF-7FE16E3BDCC1}"/>
              </a:ext>
            </a:extLst>
          </p:cNvPr>
          <p:cNvSpPr>
            <a:spLocks noGrp="1"/>
          </p:cNvSpPr>
          <p:nvPr>
            <p:ph type="pic" idx="1"/>
          </p:nvPr>
        </p:nvSpPr>
        <p:spPr>
          <a:xfrm>
            <a:off x="4937760" y="1033271"/>
            <a:ext cx="6592824" cy="516636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C86D1BD6-1519-4431-9FAF-7D4F4129972C}"/>
              </a:ext>
            </a:extLst>
          </p:cNvPr>
          <p:cNvSpPr>
            <a:spLocks noGrp="1"/>
          </p:cNvSpPr>
          <p:nvPr>
            <p:ph type="body" sz="half" idx="2"/>
          </p:nvPr>
        </p:nvSpPr>
        <p:spPr>
          <a:xfrm>
            <a:off x="640080" y="2972167"/>
            <a:ext cx="3859397" cy="322682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5A587A0-353B-42C2-BA96-B1ADEDF642BE}"/>
              </a:ext>
            </a:extLst>
          </p:cNvPr>
          <p:cNvSpPr>
            <a:spLocks noGrp="1"/>
          </p:cNvSpPr>
          <p:nvPr>
            <p:ph type="dt" sz="half" idx="10"/>
          </p:nvPr>
        </p:nvSpPr>
        <p:spPr/>
        <p:txBody>
          <a:bodyPr/>
          <a:lstStyle/>
          <a:p>
            <a:fld id="{004A942B-24AB-41FE-9B24-77F99E4EE82B}" type="datetime1">
              <a:rPr lang="en-US" smtClean="0"/>
              <a:t>10/4/2024</a:t>
            </a:fld>
            <a:endParaRPr lang="en-US"/>
          </a:p>
        </p:txBody>
      </p:sp>
      <p:sp>
        <p:nvSpPr>
          <p:cNvPr id="6" name="Footer Placeholder 5">
            <a:extLst>
              <a:ext uri="{FF2B5EF4-FFF2-40B4-BE49-F238E27FC236}">
                <a16:creationId xmlns:a16="http://schemas.microsoft.com/office/drawing/2014/main" id="{44D5A88E-3957-4B76-B1BE-4164029217B5}"/>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5F7C5FD-E56A-4C66-8F23-087F95A2FD0E}"/>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41383575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E4BB7-3F30-4C31-9BB2-8EC24FC0A1D6}"/>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1ECF4134-70F5-4EE6-88BE-49D129630CD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19EABC7-C044-44DE-B303-55A0581DA1E8}"/>
              </a:ext>
            </a:extLst>
          </p:cNvPr>
          <p:cNvSpPr>
            <a:spLocks noGrp="1"/>
          </p:cNvSpPr>
          <p:nvPr>
            <p:ph type="dt" sz="half" idx="10"/>
          </p:nvPr>
        </p:nvSpPr>
        <p:spPr/>
        <p:txBody>
          <a:bodyPr/>
          <a:lstStyle/>
          <a:p>
            <a:fld id="{E0096558-489F-4C22-854A-72D6022105B5}" type="datetime1">
              <a:rPr lang="en-US" smtClean="0"/>
              <a:t>10/4/2024</a:t>
            </a:fld>
            <a:endParaRPr lang="en-US"/>
          </a:p>
        </p:txBody>
      </p:sp>
      <p:sp>
        <p:nvSpPr>
          <p:cNvPr id="5" name="Footer Placeholder 4">
            <a:extLst>
              <a:ext uri="{FF2B5EF4-FFF2-40B4-BE49-F238E27FC236}">
                <a16:creationId xmlns:a16="http://schemas.microsoft.com/office/drawing/2014/main" id="{4D4A63E1-5BC5-402E-9916-BAB84BCF0BB2}"/>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A2EF915-AF64-4ECC-8B1A-B7E6A89B7917}"/>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1889523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1CB3635-47E1-90D8-B693-DA85A66B3831}"/>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Vertical Title 1">
            <a:extLst>
              <a:ext uri="{FF2B5EF4-FFF2-40B4-BE49-F238E27FC236}">
                <a16:creationId xmlns:a16="http://schemas.microsoft.com/office/drawing/2014/main" id="{6EB09414-2AA1-4D8E-A00A-C092FBC92D91}"/>
              </a:ext>
            </a:extLst>
          </p:cNvPr>
          <p:cNvSpPr>
            <a:spLocks noGrp="1"/>
          </p:cNvSpPr>
          <p:nvPr>
            <p:ph type="title" orient="vert"/>
          </p:nvPr>
        </p:nvSpPr>
        <p:spPr>
          <a:xfrm>
            <a:off x="9209219" y="640079"/>
            <a:ext cx="1811773" cy="5536884"/>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D42C3A78-37C5-46D0-9DF4-CB78AF883C2C}"/>
              </a:ext>
            </a:extLst>
          </p:cNvPr>
          <p:cNvSpPr>
            <a:spLocks noGrp="1"/>
          </p:cNvSpPr>
          <p:nvPr>
            <p:ph type="body" orient="vert" idx="1"/>
          </p:nvPr>
        </p:nvSpPr>
        <p:spPr>
          <a:xfrm>
            <a:off x="640080" y="640080"/>
            <a:ext cx="8412422" cy="553688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9D8705E-925D-4F57-8268-107CE3CF4C45}"/>
              </a:ext>
            </a:extLst>
          </p:cNvPr>
          <p:cNvSpPr>
            <a:spLocks noGrp="1"/>
          </p:cNvSpPr>
          <p:nvPr>
            <p:ph type="dt" sz="half" idx="10"/>
          </p:nvPr>
        </p:nvSpPr>
        <p:spPr/>
        <p:txBody>
          <a:bodyPr/>
          <a:lstStyle/>
          <a:p>
            <a:fld id="{5E0F4E65-2EB9-4B1F-B7A4-C4BAE6C5EF1E}" type="datetime1">
              <a:rPr lang="en-US" smtClean="0"/>
              <a:t>10/4/2024</a:t>
            </a:fld>
            <a:endParaRPr lang="en-US"/>
          </a:p>
        </p:txBody>
      </p:sp>
      <p:sp>
        <p:nvSpPr>
          <p:cNvPr id="5" name="Footer Placeholder 4">
            <a:extLst>
              <a:ext uri="{FF2B5EF4-FFF2-40B4-BE49-F238E27FC236}">
                <a16:creationId xmlns:a16="http://schemas.microsoft.com/office/drawing/2014/main" id="{50FE207E-070D-4EC8-A44C-21F1815FDAA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15D01D1-C266-4161-A820-C084B980131C}"/>
              </a:ext>
            </a:extLst>
          </p:cNvPr>
          <p:cNvSpPr>
            <a:spLocks noGrp="1"/>
          </p:cNvSpPr>
          <p:nvPr>
            <p:ph type="sldNum" sz="quarter" idx="12"/>
          </p:nvPr>
        </p:nvSpPr>
        <p:spPr/>
        <p:txBody>
          <a:bodyPr/>
          <a:lstStyle/>
          <a:p>
            <a:fld id="{70C12960-6E85-460F-B6E3-5B82CB31AF3D}" type="slidenum">
              <a:rPr lang="en-US" smtClean="0"/>
              <a:t>‹#›</a:t>
            </a:fld>
            <a:endParaRPr lang="en-US"/>
          </a:p>
        </p:txBody>
      </p:sp>
      <p:cxnSp>
        <p:nvCxnSpPr>
          <p:cNvPr id="7" name="Straight Connector 6">
            <a:extLst>
              <a:ext uri="{FF2B5EF4-FFF2-40B4-BE49-F238E27FC236}">
                <a16:creationId xmlns:a16="http://schemas.microsoft.com/office/drawing/2014/main" id="{3230604F-219C-2DEE-830E-27274CC2FE19}"/>
              </a:ext>
              <a:ext uri="{C183D7F6-B498-43B3-948B-1728B52AA6E4}">
                <adec:decorative xmlns:adec="http://schemas.microsoft.com/office/drawing/2017/decorative" val="1"/>
              </a:ext>
            </a:extLst>
          </p:cNvPr>
          <p:cNvCxnSpPr>
            <a:cxnSpLocks/>
          </p:cNvCxnSpPr>
          <p:nvPr/>
        </p:nvCxnSpPr>
        <p:spPr>
          <a:xfrm rot="5400000">
            <a:off x="10872154" y="1192438"/>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89011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AB4E786-7636-4278-8595-D365D28A796A}"/>
              </a:ext>
            </a:extLst>
          </p:cNvPr>
          <p:cNvSpPr>
            <a:spLocks noGrp="1"/>
          </p:cNvSpPr>
          <p:nvPr>
            <p:ph type="title"/>
          </p:nvPr>
        </p:nvSpPr>
        <p:spPr>
          <a:xfrm>
            <a:off x="640079" y="1371601"/>
            <a:ext cx="10890929" cy="109728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EA740849-7059-4C70-992B-5304D2EE9BAB}"/>
              </a:ext>
            </a:extLst>
          </p:cNvPr>
          <p:cNvSpPr>
            <a:spLocks noGrp="1"/>
          </p:cNvSpPr>
          <p:nvPr>
            <p:ph type="body" idx="1"/>
          </p:nvPr>
        </p:nvSpPr>
        <p:spPr>
          <a:xfrm>
            <a:off x="640080" y="2633472"/>
            <a:ext cx="10890928" cy="356616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D09FEBF6-CEA6-4332-87B3-697807571C84}"/>
              </a:ext>
            </a:extLst>
          </p:cNvPr>
          <p:cNvSpPr>
            <a:spLocks noGrp="1"/>
          </p:cNvSpPr>
          <p:nvPr>
            <p:ph type="dt" sz="half" idx="2"/>
          </p:nvPr>
        </p:nvSpPr>
        <p:spPr>
          <a:xfrm>
            <a:off x="640080" y="6356350"/>
            <a:ext cx="2743200" cy="365125"/>
          </a:xfrm>
          <a:prstGeom prst="rect">
            <a:avLst/>
          </a:prstGeom>
        </p:spPr>
        <p:txBody>
          <a:bodyPr vert="horz" lIns="91440" tIns="45720" rIns="91440" bIns="45720" rtlCol="0" anchor="ctr"/>
          <a:lstStyle>
            <a:lvl1pPr algn="l">
              <a:defRPr sz="900" b="1" cap="all" spc="300" baseline="0">
                <a:solidFill>
                  <a:schemeClr val="tx1"/>
                </a:solidFill>
              </a:defRPr>
            </a:lvl1pPr>
          </a:lstStyle>
          <a:p>
            <a:fld id="{04FF8A6D-6898-462A-86D7-2395E0438B01}" type="datetime1">
              <a:rPr lang="en-US" smtClean="0"/>
              <a:t>10/4/2024</a:t>
            </a:fld>
            <a:endParaRPr lang="en-US"/>
          </a:p>
        </p:txBody>
      </p:sp>
      <p:sp>
        <p:nvSpPr>
          <p:cNvPr id="5" name="Footer Placeholder 4">
            <a:extLst>
              <a:ext uri="{FF2B5EF4-FFF2-40B4-BE49-F238E27FC236}">
                <a16:creationId xmlns:a16="http://schemas.microsoft.com/office/drawing/2014/main" id="{BC6BAF94-621C-43E1-BA0C-410A6899031B}"/>
              </a:ext>
            </a:extLst>
          </p:cNvPr>
          <p:cNvSpPr>
            <a:spLocks noGrp="1"/>
          </p:cNvSpPr>
          <p:nvPr>
            <p:ph type="ftr" sz="quarter" idx="3"/>
          </p:nvPr>
        </p:nvSpPr>
        <p:spPr>
          <a:xfrm>
            <a:off x="6767622" y="6356350"/>
            <a:ext cx="4040373" cy="365125"/>
          </a:xfrm>
          <a:prstGeom prst="rect">
            <a:avLst/>
          </a:prstGeom>
        </p:spPr>
        <p:txBody>
          <a:bodyPr vert="horz" lIns="91440" tIns="45720" rIns="91440" bIns="45720" rtlCol="0" anchor="ctr"/>
          <a:lstStyle>
            <a:lvl1pPr algn="r">
              <a:defRPr sz="900" b="1" cap="all" spc="300" baseline="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137D19E5-9E16-48C9-AAE2-0C70679A8D7B}"/>
              </a:ext>
            </a:extLst>
          </p:cNvPr>
          <p:cNvSpPr>
            <a:spLocks noGrp="1"/>
          </p:cNvSpPr>
          <p:nvPr>
            <p:ph type="sldNum" sz="quarter" idx="4"/>
          </p:nvPr>
        </p:nvSpPr>
        <p:spPr>
          <a:xfrm>
            <a:off x="10807995" y="6356350"/>
            <a:ext cx="723014" cy="365125"/>
          </a:xfrm>
          <a:prstGeom prst="rect">
            <a:avLst/>
          </a:prstGeom>
        </p:spPr>
        <p:txBody>
          <a:bodyPr vert="horz" lIns="91440" tIns="45720" rIns="91440" bIns="45720" rtlCol="0" anchor="ctr"/>
          <a:lstStyle>
            <a:lvl1pPr algn="r">
              <a:defRPr sz="900" b="1" cap="all" spc="300" baseline="0">
                <a:solidFill>
                  <a:schemeClr val="tx1"/>
                </a:solidFill>
              </a:defRPr>
            </a:lvl1pPr>
          </a:lstStyle>
          <a:p>
            <a:fld id="{70C12960-6E85-460F-B6E3-5B82CB31AF3D}" type="slidenum">
              <a:rPr lang="en-US" smtClean="0"/>
              <a:t>‹#›</a:t>
            </a:fld>
            <a:endParaRPr lang="en-US"/>
          </a:p>
        </p:txBody>
      </p:sp>
      <p:cxnSp>
        <p:nvCxnSpPr>
          <p:cNvPr id="9" name="Straight Connector 8">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p:cNvCxnSpPr>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868925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100000"/>
        </a:lnSpc>
        <a:spcBef>
          <a:spcPct val="0"/>
        </a:spcBef>
        <a:buNone/>
        <a:defRPr sz="40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87000"/>
        <a:buFont typeface="Arial" panose="020B0604020202020204" pitchFamily="34" charset="0"/>
        <a:buChar char="•"/>
        <a:defRPr sz="2000" kern="1200">
          <a:solidFill>
            <a:schemeClr val="tx1"/>
          </a:solidFill>
          <a:latin typeface="+mn-lt"/>
          <a:ea typeface="+mn-ea"/>
          <a:cs typeface="+mn-cs"/>
        </a:defRPr>
      </a:lvl1pPr>
      <a:lvl2pPr marL="493776" indent="-228600" algn="l" defTabSz="914400" rtl="0" eaLnBrk="1" latinLnBrk="0" hangingPunct="1">
        <a:lnSpc>
          <a:spcPct val="120000"/>
        </a:lnSpc>
        <a:spcBef>
          <a:spcPts val="500"/>
        </a:spcBef>
        <a:buSzPct val="87000"/>
        <a:buFont typeface="Arial" panose="020B06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120000"/>
        </a:lnSpc>
        <a:spcBef>
          <a:spcPts val="500"/>
        </a:spcBef>
        <a:buSzPct val="87000"/>
        <a:buFont typeface="Arial" panose="020B0604020202020204" pitchFamily="34" charset="0"/>
        <a:buChar char="•"/>
        <a:defRPr sz="1600" kern="1200">
          <a:solidFill>
            <a:schemeClr val="tx1"/>
          </a:solidFill>
          <a:latin typeface="+mn-lt"/>
          <a:ea typeface="+mn-ea"/>
          <a:cs typeface="+mn-cs"/>
        </a:defRPr>
      </a:lvl3pPr>
      <a:lvl4pPr marL="1051560" indent="-28575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4pPr>
      <a:lvl5pPr marL="1298448" indent="-22860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9F9BF86-FE94-4517-B97D-026C7515E5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randview Display"/>
              <a:ea typeface="+mn-ea"/>
              <a:cs typeface="+mn-cs"/>
            </a:endParaRPr>
          </a:p>
        </p:txBody>
      </p:sp>
      <p:pic>
        <p:nvPicPr>
          <p:cNvPr id="4" name="Picture 3">
            <a:extLst>
              <a:ext uri="{FF2B5EF4-FFF2-40B4-BE49-F238E27FC236}">
                <a16:creationId xmlns:a16="http://schemas.microsoft.com/office/drawing/2014/main" id="{230DD585-07E0-4E2D-A81A-24F72EB244DA}"/>
              </a:ext>
            </a:extLst>
          </p:cNvPr>
          <p:cNvPicPr>
            <a:picLocks noChangeAspect="1"/>
          </p:cNvPicPr>
          <p:nvPr/>
        </p:nvPicPr>
        <p:blipFill>
          <a:blip r:embed="rId3"/>
          <a:srcRect/>
          <a:stretch/>
        </p:blipFill>
        <p:spPr>
          <a:xfrm>
            <a:off x="1" y="10"/>
            <a:ext cx="12192000" cy="6857990"/>
          </a:xfrm>
          <a:prstGeom prst="rect">
            <a:avLst/>
          </a:prstGeom>
        </p:spPr>
      </p:pic>
      <p:sp>
        <p:nvSpPr>
          <p:cNvPr id="11" name="Rectangle 10">
            <a:extLst>
              <a:ext uri="{FF2B5EF4-FFF2-40B4-BE49-F238E27FC236}">
                <a16:creationId xmlns:a16="http://schemas.microsoft.com/office/drawing/2014/main" id="{36136311-C81B-47C5-AE0A-5641A5A595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76600" y="1066800"/>
            <a:ext cx="4681728" cy="4724400"/>
          </a:xfrm>
          <a:prstGeom prst="rect">
            <a:avLst/>
          </a:prstGeom>
          <a:solidFill>
            <a:schemeClr val="bg1">
              <a:alpha val="4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randview Display"/>
              <a:ea typeface="+mn-ea"/>
              <a:cs typeface="+mn-cs"/>
            </a:endParaRPr>
          </a:p>
        </p:txBody>
      </p:sp>
      <p:sp>
        <p:nvSpPr>
          <p:cNvPr id="2" name="Title 1">
            <a:extLst>
              <a:ext uri="{FF2B5EF4-FFF2-40B4-BE49-F238E27FC236}">
                <a16:creationId xmlns:a16="http://schemas.microsoft.com/office/drawing/2014/main" id="{C3F5E1F8-E86E-36F2-06FD-69490FEEC1C8}"/>
              </a:ext>
            </a:extLst>
          </p:cNvPr>
          <p:cNvSpPr>
            <a:spLocks noGrp="1"/>
          </p:cNvSpPr>
          <p:nvPr>
            <p:ph type="ctrTitle"/>
          </p:nvPr>
        </p:nvSpPr>
        <p:spPr>
          <a:xfrm>
            <a:off x="7769722" y="1562101"/>
            <a:ext cx="3884568" cy="2738530"/>
          </a:xfrm>
        </p:spPr>
        <p:txBody>
          <a:bodyPr anchor="t">
            <a:normAutofit/>
          </a:bodyPr>
          <a:lstStyle/>
          <a:p>
            <a:pPr>
              <a:lnSpc>
                <a:spcPct val="90000"/>
              </a:lnSpc>
            </a:pPr>
            <a:r>
              <a:rPr lang="en-IN" sz="4800"/>
              <a:t>Mastering Web Scraping for Data Extraction</a:t>
            </a:r>
          </a:p>
        </p:txBody>
      </p:sp>
      <p:sp>
        <p:nvSpPr>
          <p:cNvPr id="3" name="Subtitle 2">
            <a:extLst>
              <a:ext uri="{FF2B5EF4-FFF2-40B4-BE49-F238E27FC236}">
                <a16:creationId xmlns:a16="http://schemas.microsoft.com/office/drawing/2014/main" id="{510F512C-043A-0970-2005-B7A3B06D4D83}"/>
              </a:ext>
            </a:extLst>
          </p:cNvPr>
          <p:cNvSpPr>
            <a:spLocks noGrp="1"/>
          </p:cNvSpPr>
          <p:nvPr>
            <p:ph type="subTitle" idx="1"/>
          </p:nvPr>
        </p:nvSpPr>
        <p:spPr>
          <a:xfrm>
            <a:off x="7769722" y="4321622"/>
            <a:ext cx="3813048" cy="941832"/>
          </a:xfrm>
        </p:spPr>
        <p:txBody>
          <a:bodyPr>
            <a:normAutofit/>
          </a:bodyPr>
          <a:lstStyle/>
          <a:p>
            <a:pPr>
              <a:lnSpc>
                <a:spcPct val="120000"/>
              </a:lnSpc>
            </a:pPr>
            <a:r>
              <a:rPr lang="en-IN" sz="1600"/>
              <a:t>Tools and techniques for collecting data from websites</a:t>
            </a:r>
          </a:p>
        </p:txBody>
      </p:sp>
      <p:cxnSp>
        <p:nvCxnSpPr>
          <p:cNvPr id="13" name="Straight Connector 12">
            <a:extLst>
              <a:ext uri="{FF2B5EF4-FFF2-40B4-BE49-F238E27FC236}">
                <a16:creationId xmlns:a16="http://schemas.microsoft.com/office/drawing/2014/main" id="{7CC73A33-65FF-41A9-A3B0-006753CD102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rot="16200000">
            <a:off x="9619035" y="3435440"/>
            <a:ext cx="0" cy="4690872"/>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5" name="Slide Number Placeholder 4">
            <a:extLst>
              <a:ext uri="{FF2B5EF4-FFF2-40B4-BE49-F238E27FC236}">
                <a16:creationId xmlns:a16="http://schemas.microsoft.com/office/drawing/2014/main" id="{BD4CC69A-055B-6835-3E90-B211A7EB22AE}"/>
              </a:ext>
            </a:extLst>
          </p:cNvPr>
          <p:cNvSpPr>
            <a:spLocks noGrp="1"/>
          </p:cNvSpPr>
          <p:nvPr>
            <p:ph type="sldNum" sz="quarter" idx="12"/>
          </p:nvPr>
        </p:nvSpPr>
        <p:spPr/>
        <p:txBody>
          <a:bodyPr/>
          <a:lstStyle/>
          <a:p>
            <a:fld id="{70C12960-6E85-460F-B6E3-5B82CB31AF3D}" type="slidenum">
              <a:rPr lang="en-US" smtClean="0"/>
              <a:t>1</a:t>
            </a:fld>
            <a:endParaRPr lang="en-US"/>
          </a:p>
        </p:txBody>
      </p:sp>
    </p:spTree>
    <p:extLst>
      <p:ext uri="{BB962C8B-B14F-4D97-AF65-F5344CB8AC3E}">
        <p14:creationId xmlns:p14="http://schemas.microsoft.com/office/powerpoint/2010/main" val="4228904830"/>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par>
                                <p:cTn id="11" presetID="42" presetClass="entr" presetSubtype="0" fill="hold" grpId="1" nodeType="withEffect">
                                  <p:stCondLst>
                                    <p:cond delay="250"/>
                                  </p:stCondLst>
                                  <p:iterate>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250"/>
                                        <p:tgtEl>
                                          <p:spTgt spid="3"/>
                                        </p:tgtEl>
                                      </p:cBhvr>
                                    </p:animEffect>
                                    <p:anim calcmode="lin" valueType="num">
                                      <p:cBhvr>
                                        <p:cTn id="14" dur="250" fill="hold"/>
                                        <p:tgtEl>
                                          <p:spTgt spid="3"/>
                                        </p:tgtEl>
                                        <p:attrNameLst>
                                          <p:attrName>ppt_x</p:attrName>
                                        </p:attrNameLst>
                                      </p:cBhvr>
                                      <p:tavLst>
                                        <p:tav tm="0">
                                          <p:val>
                                            <p:strVal val="#ppt_x"/>
                                          </p:val>
                                        </p:tav>
                                        <p:tav tm="100000">
                                          <p:val>
                                            <p:strVal val="#ppt_x"/>
                                          </p:val>
                                        </p:tav>
                                      </p:tavLst>
                                    </p:anim>
                                    <p:anim calcmode="lin" valueType="num">
                                      <p:cBhvr>
                                        <p:cTn id="15"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WWW internet connection 3d backgroundOriginal reference map taken from NASA http://visibleearth.nasa.gov/view_rec.phpvev1id=11656Binary Earth-map create by me and now my own texture">
            <a:extLst>
              <a:ext uri="{FF2B5EF4-FFF2-40B4-BE49-F238E27FC236}">
                <a16:creationId xmlns:a16="http://schemas.microsoft.com/office/drawing/2014/main" id="{C4C03AFE-C83C-4F16-ACF1-86703DC9FAFC}"/>
              </a:ext>
            </a:extLst>
          </p:cNvPr>
          <p:cNvPicPr>
            <a:picLocks noGrp="1" noChangeAspect="1"/>
          </p:cNvPicPr>
          <p:nvPr>
            <p:ph sz="half" idx="1"/>
          </p:nvPr>
        </p:nvPicPr>
        <p:blipFill>
          <a:blip r:embed="rId3"/>
          <a:srcRect l="4734" r="2001"/>
          <a:stretch/>
        </p:blipFill>
        <p:spPr>
          <a:xfrm>
            <a:off x="-1" y="914399"/>
            <a:ext cx="6657255" cy="5353523"/>
          </a:xfrm>
          <a:prstGeom prst="rect">
            <a:avLst/>
          </a:prstGeom>
        </p:spPr>
      </p:pic>
      <p:cxnSp>
        <p:nvCxnSpPr>
          <p:cNvPr id="14" name="Straight Connector 13">
            <a:extLst>
              <a:ext uri="{FF2B5EF4-FFF2-40B4-BE49-F238E27FC236}">
                <a16:creationId xmlns:a16="http://schemas.microsoft.com/office/drawing/2014/main" id="{08052531-D50B-3899-B150-D05525F4F2B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0" y="6267922"/>
            <a:ext cx="6656832" cy="1"/>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E5F6F730-D24F-1B1B-68C1-C32FB5AA172F}"/>
              </a:ext>
            </a:extLst>
          </p:cNvPr>
          <p:cNvSpPr>
            <a:spLocks noGrp="1"/>
          </p:cNvSpPr>
          <p:nvPr>
            <p:ph type="title"/>
          </p:nvPr>
        </p:nvSpPr>
        <p:spPr>
          <a:xfrm>
            <a:off x="7269904" y="914400"/>
            <a:ext cx="4261104" cy="1097280"/>
          </a:xfrm>
        </p:spPr>
        <p:txBody>
          <a:bodyPr vert="horz" lIns="91440" tIns="45720" rIns="91440" bIns="45720" rtlCol="0" anchor="t">
            <a:normAutofit/>
          </a:bodyPr>
          <a:lstStyle/>
          <a:p>
            <a:r>
              <a:rPr lang="en-US" sz="3600"/>
              <a:t>Agenda Items</a:t>
            </a:r>
          </a:p>
        </p:txBody>
      </p:sp>
      <p:sp>
        <p:nvSpPr>
          <p:cNvPr id="4" name="Content Placeholder 3">
            <a:extLst>
              <a:ext uri="{FF2B5EF4-FFF2-40B4-BE49-F238E27FC236}">
                <a16:creationId xmlns:a16="http://schemas.microsoft.com/office/drawing/2014/main" id="{B289463D-415D-90B2-A3A6-A1610B357CF1}"/>
              </a:ext>
            </a:extLst>
          </p:cNvPr>
          <p:cNvSpPr>
            <a:spLocks noGrp="1"/>
          </p:cNvSpPr>
          <p:nvPr>
            <p:ph sz="half" idx="2"/>
          </p:nvPr>
        </p:nvSpPr>
        <p:spPr>
          <a:xfrm>
            <a:off x="7269905" y="2176036"/>
            <a:ext cx="4261104" cy="4121887"/>
          </a:xfrm>
        </p:spPr>
        <p:txBody>
          <a:bodyPr vert="horz" lIns="91440" tIns="45720" rIns="91440" bIns="45720" rtlCol="0">
            <a:normAutofit/>
          </a:bodyPr>
          <a:lstStyle/>
          <a:p>
            <a:r>
              <a:rPr lang="en-US" sz="1900"/>
              <a:t>Introduction to Web Scraping</a:t>
            </a:r>
          </a:p>
          <a:p>
            <a:r>
              <a:rPr lang="en-US" sz="1900"/>
              <a:t>Web Scraping Techniques</a:t>
            </a:r>
          </a:p>
          <a:p>
            <a:r>
              <a:rPr lang="en-US" sz="1900"/>
              <a:t>Web Scraping Tools and Libraries</a:t>
            </a:r>
          </a:p>
          <a:p>
            <a:r>
              <a:rPr lang="en-US" sz="1900"/>
              <a:t>Ethics and Legal Considerations in Web Scraping</a:t>
            </a:r>
          </a:p>
          <a:p>
            <a:r>
              <a:rPr lang="en-US" sz="1900"/>
              <a:t>Dealing with Anti-Scraping Mechanisms</a:t>
            </a:r>
          </a:p>
          <a:p>
            <a:r>
              <a:rPr lang="en-US" sz="1900"/>
              <a:t>Saving and Exporting Scraped Data</a:t>
            </a:r>
          </a:p>
          <a:p>
            <a:r>
              <a:rPr lang="en-US" sz="1900"/>
              <a:t>Handling Large-Scale Scraping</a:t>
            </a:r>
          </a:p>
        </p:txBody>
      </p:sp>
      <p:sp>
        <p:nvSpPr>
          <p:cNvPr id="3" name="Slide Number Placeholder 2">
            <a:extLst>
              <a:ext uri="{FF2B5EF4-FFF2-40B4-BE49-F238E27FC236}">
                <a16:creationId xmlns:a16="http://schemas.microsoft.com/office/drawing/2014/main" id="{E62F9016-F0A0-AA29-5236-DF6C464D6595}"/>
              </a:ext>
            </a:extLst>
          </p:cNvPr>
          <p:cNvSpPr>
            <a:spLocks noGrp="1"/>
          </p:cNvSpPr>
          <p:nvPr>
            <p:ph type="sldNum" sz="quarter" idx="12"/>
          </p:nvPr>
        </p:nvSpPr>
        <p:spPr/>
        <p:txBody>
          <a:bodyPr/>
          <a:lstStyle/>
          <a:p>
            <a:fld id="{70C12960-6E85-460F-B6E3-5B82CB31AF3D}" type="slidenum">
              <a:rPr lang="en-US" smtClean="0"/>
              <a:t>2</a:t>
            </a:fld>
            <a:endParaRPr lang="en-US"/>
          </a:p>
        </p:txBody>
      </p:sp>
    </p:spTree>
    <p:extLst>
      <p:ext uri="{BB962C8B-B14F-4D97-AF65-F5344CB8AC3E}">
        <p14:creationId xmlns:p14="http://schemas.microsoft.com/office/powerpoint/2010/main" val="84479609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9" name="Rectangle 8">
            <a:extLst>
              <a:ext uri="{FF2B5EF4-FFF2-40B4-BE49-F238E27FC236}">
                <a16:creationId xmlns:a16="http://schemas.microsoft.com/office/drawing/2014/main" id="{46B9231A-B34B-4A29-A6AC-532E1EE815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randview Display"/>
              <a:ea typeface="+mn-ea"/>
              <a:cs typeface="+mn-cs"/>
            </a:endParaRPr>
          </a:p>
        </p:txBody>
      </p:sp>
      <p:sp useBgFill="1">
        <p:nvSpPr>
          <p:cNvPr id="11" name="Rectangle 10">
            <a:extLst>
              <a:ext uri="{FF2B5EF4-FFF2-40B4-BE49-F238E27FC236}">
                <a16:creationId xmlns:a16="http://schemas.microsoft.com/office/drawing/2014/main" id="{19F9BF86-FE94-4517-B97D-026C7515E5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randview Display"/>
              <a:ea typeface="+mn-ea"/>
              <a:cs typeface="+mn-cs"/>
            </a:endParaRPr>
          </a:p>
        </p:txBody>
      </p:sp>
      <p:sp>
        <p:nvSpPr>
          <p:cNvPr id="2" name="Title 1">
            <a:extLst>
              <a:ext uri="{FF2B5EF4-FFF2-40B4-BE49-F238E27FC236}">
                <a16:creationId xmlns:a16="http://schemas.microsoft.com/office/drawing/2014/main" id="{665D5DDE-E450-9215-731D-F4E95AED48E7}"/>
              </a:ext>
            </a:extLst>
          </p:cNvPr>
          <p:cNvSpPr>
            <a:spLocks noGrp="1"/>
          </p:cNvSpPr>
          <p:nvPr>
            <p:ph type="title"/>
          </p:nvPr>
        </p:nvSpPr>
        <p:spPr>
          <a:xfrm>
            <a:off x="559219" y="1115844"/>
            <a:ext cx="7680960" cy="4631911"/>
          </a:xfrm>
        </p:spPr>
        <p:txBody>
          <a:bodyPr vert="horz" lIns="91440" tIns="45720" rIns="91440" bIns="45720" rtlCol="0" anchor="b">
            <a:normAutofit/>
          </a:bodyPr>
          <a:lstStyle/>
          <a:p>
            <a:r>
              <a:rPr lang="en-US" sz="6500"/>
              <a:t>Introduction to Web Scraping</a:t>
            </a:r>
          </a:p>
        </p:txBody>
      </p:sp>
      <p:cxnSp>
        <p:nvCxnSpPr>
          <p:cNvPr id="13" name="Straight Connector 12">
            <a:extLst>
              <a:ext uri="{FF2B5EF4-FFF2-40B4-BE49-F238E27FC236}">
                <a16:creationId xmlns:a16="http://schemas.microsoft.com/office/drawing/2014/main" id="{53C0BBAA-A5EC-5D5D-32E6-9F7EA604848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23131" y="6268313"/>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3" name="Slide Number Placeholder 2">
            <a:extLst>
              <a:ext uri="{FF2B5EF4-FFF2-40B4-BE49-F238E27FC236}">
                <a16:creationId xmlns:a16="http://schemas.microsoft.com/office/drawing/2014/main" id="{25A2C9EC-AAC9-055D-31D6-D1C7C7AC5AE6}"/>
              </a:ext>
            </a:extLst>
          </p:cNvPr>
          <p:cNvSpPr>
            <a:spLocks noGrp="1"/>
          </p:cNvSpPr>
          <p:nvPr>
            <p:ph type="sldNum" sz="quarter" idx="12"/>
          </p:nvPr>
        </p:nvSpPr>
        <p:spPr/>
        <p:txBody>
          <a:bodyPr/>
          <a:lstStyle/>
          <a:p>
            <a:fld id="{70C12960-6E85-460F-B6E3-5B82CB31AF3D}" type="slidenum">
              <a:rPr lang="en-US" smtClean="0"/>
              <a:t>3</a:t>
            </a:fld>
            <a:endParaRPr lang="en-US"/>
          </a:p>
        </p:txBody>
      </p:sp>
    </p:spTree>
    <p:extLst>
      <p:ext uri="{BB962C8B-B14F-4D97-AF65-F5344CB8AC3E}">
        <p14:creationId xmlns:p14="http://schemas.microsoft.com/office/powerpoint/2010/main" val="336655258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Robot operating a machine">
            <a:extLst>
              <a:ext uri="{FF2B5EF4-FFF2-40B4-BE49-F238E27FC236}">
                <a16:creationId xmlns:a16="http://schemas.microsoft.com/office/drawing/2014/main" id="{96D907F1-F8E6-4836-BA14-DD982A97A220}"/>
              </a:ext>
            </a:extLst>
          </p:cNvPr>
          <p:cNvPicPr>
            <a:picLocks noGrp="1" noChangeAspect="1"/>
          </p:cNvPicPr>
          <p:nvPr>
            <p:ph sz="half" idx="1"/>
          </p:nvPr>
        </p:nvPicPr>
        <p:blipFill>
          <a:blip r:embed="rId3"/>
          <a:srcRect l="3830" r="2683" b="-1"/>
          <a:stretch/>
        </p:blipFill>
        <p:spPr>
          <a:xfrm>
            <a:off x="5671128" y="914399"/>
            <a:ext cx="6520872" cy="5353521"/>
          </a:xfrm>
          <a:prstGeom prst="rect">
            <a:avLst/>
          </a:prstGeom>
        </p:spPr>
      </p:pic>
      <p:cxnSp>
        <p:nvCxnSpPr>
          <p:cNvPr id="14" name="Straight Connector 13">
            <a:extLst>
              <a:ext uri="{FF2B5EF4-FFF2-40B4-BE49-F238E27FC236}">
                <a16:creationId xmlns:a16="http://schemas.microsoft.com/office/drawing/2014/main" id="{92025DBA-8780-9CA0-2826-FF6E3BD1A0C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5672328" y="6267921"/>
            <a:ext cx="6519672" cy="2"/>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0A301CD2-A5EA-E8E2-8AEF-3FA8B942CBF9}"/>
              </a:ext>
            </a:extLst>
          </p:cNvPr>
          <p:cNvSpPr>
            <a:spLocks noGrp="1"/>
          </p:cNvSpPr>
          <p:nvPr>
            <p:ph type="title"/>
          </p:nvPr>
        </p:nvSpPr>
        <p:spPr>
          <a:xfrm>
            <a:off x="640079" y="914400"/>
            <a:ext cx="4261104" cy="1097280"/>
          </a:xfrm>
        </p:spPr>
        <p:txBody>
          <a:bodyPr vert="horz" lIns="91440" tIns="45720" rIns="91440" bIns="45720" rtlCol="0" anchor="t">
            <a:normAutofit/>
          </a:bodyPr>
          <a:lstStyle/>
          <a:p>
            <a:pPr>
              <a:lnSpc>
                <a:spcPct val="90000"/>
              </a:lnSpc>
            </a:pPr>
            <a:r>
              <a:rPr lang="en-US" sz="3100"/>
              <a:t>Definition and Purpose of Web Scraping</a:t>
            </a:r>
          </a:p>
        </p:txBody>
      </p:sp>
      <p:sp>
        <p:nvSpPr>
          <p:cNvPr id="4" name="Content Placeholder 3">
            <a:extLst>
              <a:ext uri="{FF2B5EF4-FFF2-40B4-BE49-F238E27FC236}">
                <a16:creationId xmlns:a16="http://schemas.microsoft.com/office/drawing/2014/main" id="{4CD2F7F1-7CEC-2C96-D316-A483D4A178FB}"/>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40079" y="2176036"/>
            <a:ext cx="4261104" cy="4121887"/>
          </a:xfrm>
        </p:spPr>
        <p:txBody>
          <a:bodyPr>
            <a:normAutofit/>
          </a:bodyPr>
          <a:lstStyle/>
          <a:p>
            <a:pPr marL="0" indent="0">
              <a:spcBef>
                <a:spcPts val="2500"/>
              </a:spcBef>
              <a:buNone/>
            </a:pPr>
            <a:r>
              <a:rPr lang="en-US" sz="1400" b="1"/>
              <a:t>What is Web Scraping?</a:t>
            </a:r>
          </a:p>
          <a:p>
            <a:pPr marL="0" lvl="1" indent="0">
              <a:buNone/>
            </a:pPr>
            <a:r>
              <a:rPr lang="en-US" sz="1400"/>
              <a:t>Web scraping is an automated technique of extracting data from websites. It involves using software tools to extract data from web pages and save it in a structured format for further analysis.</a:t>
            </a:r>
          </a:p>
          <a:p>
            <a:pPr marL="0" indent="0">
              <a:spcBef>
                <a:spcPts val="2500"/>
              </a:spcBef>
              <a:buNone/>
            </a:pPr>
            <a:r>
              <a:rPr lang="en-US" sz="1400" b="1"/>
              <a:t>Applications of Web Scraping</a:t>
            </a:r>
          </a:p>
          <a:p>
            <a:pPr marL="0" lvl="1" indent="0">
              <a:buNone/>
            </a:pPr>
            <a:r>
              <a:rPr lang="en-US" sz="1400"/>
              <a:t>Web scraping has various applications, including market research, competitive analysis, and content aggregation. It can be used to gather data on products, prices, and customer reviews, among other things.</a:t>
            </a:r>
            <a:endParaRPr lang="en-IN" sz="1400"/>
          </a:p>
        </p:txBody>
      </p:sp>
      <p:sp>
        <p:nvSpPr>
          <p:cNvPr id="3" name="Slide Number Placeholder 2">
            <a:extLst>
              <a:ext uri="{FF2B5EF4-FFF2-40B4-BE49-F238E27FC236}">
                <a16:creationId xmlns:a16="http://schemas.microsoft.com/office/drawing/2014/main" id="{EE3D15AC-7D9F-78F0-A68A-97693B69B330}"/>
              </a:ext>
            </a:extLst>
          </p:cNvPr>
          <p:cNvSpPr>
            <a:spLocks noGrp="1"/>
          </p:cNvSpPr>
          <p:nvPr>
            <p:ph type="sldNum" sz="quarter" idx="12"/>
          </p:nvPr>
        </p:nvSpPr>
        <p:spPr/>
        <p:txBody>
          <a:bodyPr/>
          <a:lstStyle/>
          <a:p>
            <a:fld id="{70C12960-6E85-460F-B6E3-5B82CB31AF3D}" type="slidenum">
              <a:rPr lang="en-US" smtClean="0"/>
              <a:t>4</a:t>
            </a:fld>
            <a:endParaRPr lang="en-US"/>
          </a:p>
        </p:txBody>
      </p:sp>
    </p:spTree>
    <p:extLst>
      <p:ext uri="{BB962C8B-B14F-4D97-AF65-F5344CB8AC3E}">
        <p14:creationId xmlns:p14="http://schemas.microsoft.com/office/powerpoint/2010/main" val="388857093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3d illustration">
            <a:extLst>
              <a:ext uri="{FF2B5EF4-FFF2-40B4-BE49-F238E27FC236}">
                <a16:creationId xmlns:a16="http://schemas.microsoft.com/office/drawing/2014/main" id="{6ECEE4B8-46EE-4BA2-83BC-02C1A9ED7B1F}"/>
              </a:ext>
            </a:extLst>
          </p:cNvPr>
          <p:cNvPicPr>
            <a:picLocks noGrp="1" noChangeAspect="1"/>
          </p:cNvPicPr>
          <p:nvPr>
            <p:ph sz="half" idx="1"/>
          </p:nvPr>
        </p:nvPicPr>
        <p:blipFill>
          <a:blip r:embed="rId3"/>
          <a:srcRect l="7307" r="10196" b="1"/>
          <a:stretch/>
        </p:blipFill>
        <p:spPr>
          <a:xfrm>
            <a:off x="20" y="914399"/>
            <a:ext cx="4416532" cy="5353523"/>
          </a:xfrm>
          <a:prstGeom prst="rect">
            <a:avLst/>
          </a:prstGeom>
        </p:spPr>
      </p:pic>
      <p:cxnSp>
        <p:nvCxnSpPr>
          <p:cNvPr id="14" name="Straight Connector 13">
            <a:extLst>
              <a:ext uri="{FF2B5EF4-FFF2-40B4-BE49-F238E27FC236}">
                <a16:creationId xmlns:a16="http://schemas.microsoft.com/office/drawing/2014/main" id="{08052531-D50B-3899-B150-D05525F4F2B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0" y="6267922"/>
            <a:ext cx="4416552" cy="1"/>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3CC3C3D9-4313-1DEE-D4B0-984E406828EC}"/>
              </a:ext>
            </a:extLst>
          </p:cNvPr>
          <p:cNvSpPr>
            <a:spLocks noGrp="1"/>
          </p:cNvSpPr>
          <p:nvPr>
            <p:ph type="title"/>
          </p:nvPr>
        </p:nvSpPr>
        <p:spPr>
          <a:xfrm>
            <a:off x="5029200" y="914400"/>
            <a:ext cx="6501810" cy="1097280"/>
          </a:xfrm>
        </p:spPr>
        <p:txBody>
          <a:bodyPr vert="horz" lIns="91440" tIns="45720" rIns="91440" bIns="45720" rtlCol="0" anchor="t">
            <a:normAutofit/>
          </a:bodyPr>
          <a:lstStyle/>
          <a:p>
            <a:r>
              <a:rPr lang="en-US"/>
              <a:t>Use cases of Web Scraping</a:t>
            </a:r>
          </a:p>
        </p:txBody>
      </p:sp>
      <p:sp>
        <p:nvSpPr>
          <p:cNvPr id="4" name="Content Placeholder 3">
            <a:extLst>
              <a:ext uri="{FF2B5EF4-FFF2-40B4-BE49-F238E27FC236}">
                <a16:creationId xmlns:a16="http://schemas.microsoft.com/office/drawing/2014/main" id="{6568532F-94EC-5B7D-1FA7-9B31478D9D75}"/>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029200" y="2176036"/>
            <a:ext cx="6501810" cy="4121885"/>
          </a:xfrm>
        </p:spPr>
        <p:txBody>
          <a:bodyPr>
            <a:normAutofit/>
          </a:bodyPr>
          <a:lstStyle/>
          <a:p>
            <a:pPr marL="0" indent="0">
              <a:spcBef>
                <a:spcPts val="2500"/>
              </a:spcBef>
              <a:buNone/>
            </a:pPr>
            <a:r>
              <a:rPr lang="en-US" sz="1400" b="1"/>
              <a:t>Market Research</a:t>
            </a:r>
          </a:p>
          <a:p>
            <a:pPr marL="0" lvl="1" indent="0">
              <a:buNone/>
            </a:pPr>
            <a:r>
              <a:rPr lang="en-US" sz="1400"/>
              <a:t>Web scraping can be used for market research to gather data on pricing, product features, customer reviews, and other market trends.</a:t>
            </a:r>
          </a:p>
          <a:p>
            <a:pPr marL="0" indent="0">
              <a:spcBef>
                <a:spcPts val="2500"/>
              </a:spcBef>
              <a:buNone/>
            </a:pPr>
            <a:r>
              <a:rPr lang="en-US" sz="1400" b="1"/>
              <a:t>Competitive Analysis</a:t>
            </a:r>
          </a:p>
          <a:p>
            <a:pPr marL="0" lvl="1" indent="0">
              <a:buNone/>
            </a:pPr>
            <a:r>
              <a:rPr lang="en-US" sz="1400"/>
              <a:t>Web scraping can be used for competitive analysis to gather data on competitor pricing strategies, product features, marketing campaigns, and other key metrics.</a:t>
            </a:r>
          </a:p>
          <a:p>
            <a:pPr marL="0" indent="0">
              <a:spcBef>
                <a:spcPts val="2500"/>
              </a:spcBef>
              <a:buNone/>
            </a:pPr>
            <a:r>
              <a:rPr lang="en-US" sz="1400" b="1"/>
              <a:t>Content Aggregation</a:t>
            </a:r>
          </a:p>
          <a:p>
            <a:pPr marL="0" lvl="1" indent="0">
              <a:buNone/>
            </a:pPr>
            <a:r>
              <a:rPr lang="en-US" sz="1400"/>
              <a:t>Web scraping can be used for content aggregation to gather articles, news, and other content from various sources to create a comprehensive database for analysis and research.</a:t>
            </a:r>
            <a:endParaRPr lang="en-IN" sz="1400"/>
          </a:p>
        </p:txBody>
      </p:sp>
      <p:sp>
        <p:nvSpPr>
          <p:cNvPr id="3" name="Slide Number Placeholder 2">
            <a:extLst>
              <a:ext uri="{FF2B5EF4-FFF2-40B4-BE49-F238E27FC236}">
                <a16:creationId xmlns:a16="http://schemas.microsoft.com/office/drawing/2014/main" id="{C8BD239C-FBC4-1548-E6BB-8C34551F2E01}"/>
              </a:ext>
            </a:extLst>
          </p:cNvPr>
          <p:cNvSpPr>
            <a:spLocks noGrp="1"/>
          </p:cNvSpPr>
          <p:nvPr>
            <p:ph type="sldNum" sz="quarter" idx="12"/>
          </p:nvPr>
        </p:nvSpPr>
        <p:spPr/>
        <p:txBody>
          <a:bodyPr/>
          <a:lstStyle/>
          <a:p>
            <a:fld id="{70C12960-6E85-460F-B6E3-5B82CB31AF3D}" type="slidenum">
              <a:rPr lang="en-US" smtClean="0"/>
              <a:t>5</a:t>
            </a:fld>
            <a:endParaRPr lang="en-US"/>
          </a:p>
        </p:txBody>
      </p:sp>
    </p:spTree>
    <p:extLst>
      <p:ext uri="{BB962C8B-B14F-4D97-AF65-F5344CB8AC3E}">
        <p14:creationId xmlns:p14="http://schemas.microsoft.com/office/powerpoint/2010/main" val="213347856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9" name="Rectangle 8">
            <a:extLst>
              <a:ext uri="{FF2B5EF4-FFF2-40B4-BE49-F238E27FC236}">
                <a16:creationId xmlns:a16="http://schemas.microsoft.com/office/drawing/2014/main" id="{46B9231A-B34B-4A29-A6AC-532E1EE815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randview Display"/>
              <a:ea typeface="+mn-ea"/>
              <a:cs typeface="+mn-cs"/>
            </a:endParaRPr>
          </a:p>
        </p:txBody>
      </p:sp>
      <p:sp useBgFill="1">
        <p:nvSpPr>
          <p:cNvPr id="11" name="Rectangle 10">
            <a:extLst>
              <a:ext uri="{FF2B5EF4-FFF2-40B4-BE49-F238E27FC236}">
                <a16:creationId xmlns:a16="http://schemas.microsoft.com/office/drawing/2014/main" id="{19F9BF86-FE94-4517-B97D-026C7515E5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randview Display"/>
              <a:ea typeface="+mn-ea"/>
              <a:cs typeface="+mn-cs"/>
            </a:endParaRPr>
          </a:p>
        </p:txBody>
      </p:sp>
      <p:sp>
        <p:nvSpPr>
          <p:cNvPr id="2" name="Title 1">
            <a:extLst>
              <a:ext uri="{FF2B5EF4-FFF2-40B4-BE49-F238E27FC236}">
                <a16:creationId xmlns:a16="http://schemas.microsoft.com/office/drawing/2014/main" id="{155999D0-2439-B6E0-06A3-C6E879DDF96D}"/>
              </a:ext>
            </a:extLst>
          </p:cNvPr>
          <p:cNvSpPr>
            <a:spLocks noGrp="1"/>
          </p:cNvSpPr>
          <p:nvPr>
            <p:ph type="title"/>
          </p:nvPr>
        </p:nvSpPr>
        <p:spPr>
          <a:xfrm>
            <a:off x="559219" y="1115844"/>
            <a:ext cx="7680960" cy="4631911"/>
          </a:xfrm>
        </p:spPr>
        <p:txBody>
          <a:bodyPr vert="horz" lIns="91440" tIns="45720" rIns="91440" bIns="45720" rtlCol="0" anchor="b">
            <a:normAutofit/>
          </a:bodyPr>
          <a:lstStyle/>
          <a:p>
            <a:r>
              <a:rPr lang="en-US" sz="6500"/>
              <a:t>Web Scraping Techniques</a:t>
            </a:r>
          </a:p>
        </p:txBody>
      </p:sp>
      <p:cxnSp>
        <p:nvCxnSpPr>
          <p:cNvPr id="13" name="Straight Connector 12">
            <a:extLst>
              <a:ext uri="{FF2B5EF4-FFF2-40B4-BE49-F238E27FC236}">
                <a16:creationId xmlns:a16="http://schemas.microsoft.com/office/drawing/2014/main" id="{53C0BBAA-A5EC-5D5D-32E6-9F7EA604848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23131" y="6268313"/>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3" name="Slide Number Placeholder 2">
            <a:extLst>
              <a:ext uri="{FF2B5EF4-FFF2-40B4-BE49-F238E27FC236}">
                <a16:creationId xmlns:a16="http://schemas.microsoft.com/office/drawing/2014/main" id="{90BA8A2E-6993-B829-561C-AC52C0B72278}"/>
              </a:ext>
            </a:extLst>
          </p:cNvPr>
          <p:cNvSpPr>
            <a:spLocks noGrp="1"/>
          </p:cNvSpPr>
          <p:nvPr>
            <p:ph type="sldNum" sz="quarter" idx="12"/>
          </p:nvPr>
        </p:nvSpPr>
        <p:spPr/>
        <p:txBody>
          <a:bodyPr/>
          <a:lstStyle/>
          <a:p>
            <a:fld id="{70C12960-6E85-460F-B6E3-5B82CB31AF3D}" type="slidenum">
              <a:rPr lang="en-US" smtClean="0"/>
              <a:t>6</a:t>
            </a:fld>
            <a:endParaRPr lang="en-US"/>
          </a:p>
        </p:txBody>
      </p:sp>
    </p:spTree>
    <p:extLst>
      <p:ext uri="{BB962C8B-B14F-4D97-AF65-F5344CB8AC3E}">
        <p14:creationId xmlns:p14="http://schemas.microsoft.com/office/powerpoint/2010/main" val="75065789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digital technology concept">
            <a:extLst>
              <a:ext uri="{FF2B5EF4-FFF2-40B4-BE49-F238E27FC236}">
                <a16:creationId xmlns:a16="http://schemas.microsoft.com/office/drawing/2014/main" id="{21EBA641-087A-42C9-9C56-7E219676107F}"/>
              </a:ext>
            </a:extLst>
          </p:cNvPr>
          <p:cNvPicPr>
            <a:picLocks noGrp="1" noChangeAspect="1"/>
          </p:cNvPicPr>
          <p:nvPr>
            <p:ph sz="half" idx="1"/>
          </p:nvPr>
        </p:nvPicPr>
        <p:blipFill>
          <a:blip r:embed="rId3"/>
          <a:srcRect l="20470" r="2" b="2"/>
          <a:stretch/>
        </p:blipFill>
        <p:spPr>
          <a:xfrm>
            <a:off x="20" y="535709"/>
            <a:ext cx="8229580" cy="5820640"/>
          </a:xfrm>
          <a:prstGeom prst="rect">
            <a:avLst/>
          </a:prstGeom>
        </p:spPr>
      </p:pic>
      <p:cxnSp>
        <p:nvCxnSpPr>
          <p:cNvPr id="14" name="Straight Connector 13">
            <a:extLst>
              <a:ext uri="{FF2B5EF4-FFF2-40B4-BE49-F238E27FC236}">
                <a16:creationId xmlns:a16="http://schemas.microsoft.com/office/drawing/2014/main" id="{02C7985C-B0C3-CC50-E86A-B5EBA40E01D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 y="6359240"/>
            <a:ext cx="8229600"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BE91099E-1AAA-2E71-5927-C3D20589E740}"/>
              </a:ext>
            </a:extLst>
          </p:cNvPr>
          <p:cNvSpPr>
            <a:spLocks noGrp="1"/>
          </p:cNvSpPr>
          <p:nvPr>
            <p:ph type="title"/>
          </p:nvPr>
        </p:nvSpPr>
        <p:spPr>
          <a:xfrm>
            <a:off x="8719126" y="979051"/>
            <a:ext cx="2811879" cy="1807048"/>
          </a:xfrm>
        </p:spPr>
        <p:txBody>
          <a:bodyPr vert="horz" lIns="91440" tIns="45720" rIns="91440" bIns="45720" rtlCol="0" anchor="b">
            <a:normAutofit/>
          </a:bodyPr>
          <a:lstStyle/>
          <a:p>
            <a:r>
              <a:rPr lang="en-US" sz="3600"/>
              <a:t>Parsing HTML</a:t>
            </a:r>
          </a:p>
        </p:txBody>
      </p:sp>
      <p:sp>
        <p:nvSpPr>
          <p:cNvPr id="4" name="Content Placeholder 3">
            <a:extLst>
              <a:ext uri="{FF2B5EF4-FFF2-40B4-BE49-F238E27FC236}">
                <a16:creationId xmlns:a16="http://schemas.microsoft.com/office/drawing/2014/main" id="{780AE1A4-F460-F2A9-4ED1-4BF2D03C1AB1}"/>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8719128" y="2922624"/>
            <a:ext cx="2811880" cy="3409950"/>
          </a:xfrm>
        </p:spPr>
        <p:txBody>
          <a:bodyPr>
            <a:normAutofit/>
          </a:bodyPr>
          <a:lstStyle/>
          <a:p>
            <a:pPr marL="0" indent="0">
              <a:spcBef>
                <a:spcPts val="2500"/>
              </a:spcBef>
              <a:buNone/>
            </a:pPr>
            <a:endParaRPr lang="en-US" sz="1400" b="1"/>
          </a:p>
          <a:p>
            <a:pPr marL="0" lvl="1" indent="0">
              <a:buNone/>
            </a:pPr>
            <a:r>
              <a:rPr lang="en-US" sz="1400"/>
              <a:t>Parsing HTML involves analyzing the structure of web pages to extract relevant data. This is done by identifying the relevant HTML tags and attributes, and using tools and libraries to parse and extract the data.</a:t>
            </a:r>
            <a:endParaRPr lang="en-IN" sz="1400"/>
          </a:p>
        </p:txBody>
      </p:sp>
      <p:sp>
        <p:nvSpPr>
          <p:cNvPr id="3" name="Slide Number Placeholder 2">
            <a:extLst>
              <a:ext uri="{FF2B5EF4-FFF2-40B4-BE49-F238E27FC236}">
                <a16:creationId xmlns:a16="http://schemas.microsoft.com/office/drawing/2014/main" id="{B1665A87-5024-4355-D550-E7E01C48184A}"/>
              </a:ext>
            </a:extLst>
          </p:cNvPr>
          <p:cNvSpPr>
            <a:spLocks noGrp="1"/>
          </p:cNvSpPr>
          <p:nvPr>
            <p:ph type="sldNum" sz="quarter" idx="12"/>
          </p:nvPr>
        </p:nvSpPr>
        <p:spPr/>
        <p:txBody>
          <a:bodyPr/>
          <a:lstStyle/>
          <a:p>
            <a:fld id="{70C12960-6E85-460F-B6E3-5B82CB31AF3D}" type="slidenum">
              <a:rPr lang="en-US" smtClean="0"/>
              <a:t>7</a:t>
            </a:fld>
            <a:endParaRPr lang="en-US"/>
          </a:p>
        </p:txBody>
      </p:sp>
    </p:spTree>
    <p:extLst>
      <p:ext uri="{BB962C8B-B14F-4D97-AF65-F5344CB8AC3E}">
        <p14:creationId xmlns:p14="http://schemas.microsoft.com/office/powerpoint/2010/main" val="61382577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Person pointing on a map">
            <a:extLst>
              <a:ext uri="{FF2B5EF4-FFF2-40B4-BE49-F238E27FC236}">
                <a16:creationId xmlns:a16="http://schemas.microsoft.com/office/drawing/2014/main" id="{0E04BF32-FB57-407A-A3DC-78D0D2F5DF64}"/>
              </a:ext>
            </a:extLst>
          </p:cNvPr>
          <p:cNvPicPr>
            <a:picLocks noGrp="1" noChangeAspect="1"/>
          </p:cNvPicPr>
          <p:nvPr>
            <p:ph sz="half" idx="1"/>
          </p:nvPr>
        </p:nvPicPr>
        <p:blipFill>
          <a:blip r:embed="rId3"/>
          <a:srcRect l="16075" r="28859" b="2"/>
          <a:stretch/>
        </p:blipFill>
        <p:spPr>
          <a:xfrm>
            <a:off x="20" y="914399"/>
            <a:ext cx="4416532" cy="5353523"/>
          </a:xfrm>
          <a:prstGeom prst="rect">
            <a:avLst/>
          </a:prstGeom>
        </p:spPr>
      </p:pic>
      <p:cxnSp>
        <p:nvCxnSpPr>
          <p:cNvPr id="14" name="Straight Connector 13">
            <a:extLst>
              <a:ext uri="{FF2B5EF4-FFF2-40B4-BE49-F238E27FC236}">
                <a16:creationId xmlns:a16="http://schemas.microsoft.com/office/drawing/2014/main" id="{08052531-D50B-3899-B150-D05525F4F2B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0" y="6267922"/>
            <a:ext cx="4416552" cy="1"/>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73FD965C-583E-0CE8-136E-04B7FF1537E2}"/>
              </a:ext>
            </a:extLst>
          </p:cNvPr>
          <p:cNvSpPr>
            <a:spLocks noGrp="1"/>
          </p:cNvSpPr>
          <p:nvPr>
            <p:ph type="title"/>
          </p:nvPr>
        </p:nvSpPr>
        <p:spPr>
          <a:xfrm>
            <a:off x="5029200" y="914400"/>
            <a:ext cx="6501810" cy="1097280"/>
          </a:xfrm>
        </p:spPr>
        <p:txBody>
          <a:bodyPr vert="horz" lIns="91440" tIns="45720" rIns="91440" bIns="45720" rtlCol="0" anchor="t">
            <a:normAutofit/>
          </a:bodyPr>
          <a:lstStyle/>
          <a:p>
            <a:pPr>
              <a:lnSpc>
                <a:spcPct val="90000"/>
              </a:lnSpc>
            </a:pPr>
            <a:r>
              <a:rPr lang="en-US" sz="3400"/>
              <a:t>Navigating through DOM structures</a:t>
            </a:r>
          </a:p>
        </p:txBody>
      </p:sp>
      <p:sp>
        <p:nvSpPr>
          <p:cNvPr id="4" name="Content Placeholder 3">
            <a:extLst>
              <a:ext uri="{FF2B5EF4-FFF2-40B4-BE49-F238E27FC236}">
                <a16:creationId xmlns:a16="http://schemas.microsoft.com/office/drawing/2014/main" id="{BF5FCE3C-005E-2051-3581-1956DEE96932}"/>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029200" y="2176036"/>
            <a:ext cx="6501810" cy="4121885"/>
          </a:xfrm>
        </p:spPr>
        <p:txBody>
          <a:bodyPr>
            <a:normAutofit/>
          </a:bodyPr>
          <a:lstStyle/>
          <a:p>
            <a:pPr marL="0" indent="0">
              <a:lnSpc>
                <a:spcPct val="110000"/>
              </a:lnSpc>
              <a:spcBef>
                <a:spcPts val="2500"/>
              </a:spcBef>
              <a:buNone/>
            </a:pPr>
            <a:r>
              <a:rPr lang="en-US" sz="1400" b="1"/>
              <a:t>DOM Basics</a:t>
            </a:r>
          </a:p>
          <a:p>
            <a:pPr marL="0" lvl="1" indent="0">
              <a:lnSpc>
                <a:spcPct val="110000"/>
              </a:lnSpc>
              <a:buNone/>
            </a:pPr>
            <a:r>
              <a:rPr lang="en-US" sz="1400"/>
              <a:t>DOM (Document Object Model) is the hierarchical representation of a web page's HTML structure. It provides a way to manipulate the structure and content of a web page using JavaScript.</a:t>
            </a:r>
          </a:p>
          <a:p>
            <a:pPr marL="0" indent="0">
              <a:lnSpc>
                <a:spcPct val="110000"/>
              </a:lnSpc>
              <a:spcBef>
                <a:spcPts val="2500"/>
              </a:spcBef>
              <a:buNone/>
            </a:pPr>
            <a:r>
              <a:rPr lang="en-US" sz="1400" b="1"/>
              <a:t>Identifying Relevant Elements</a:t>
            </a:r>
          </a:p>
          <a:p>
            <a:pPr marL="0" lvl="1" indent="0">
              <a:lnSpc>
                <a:spcPct val="110000"/>
              </a:lnSpc>
              <a:buNone/>
            </a:pPr>
            <a:r>
              <a:rPr lang="en-US" sz="1400"/>
              <a:t>Navigating through DOM structures involves identifying the relevant elements using selectors like id, class and tag name. This is done using JavaScript methods like getElementById, getElementsByClassName, and getElementsByTagName.</a:t>
            </a:r>
          </a:p>
          <a:p>
            <a:pPr marL="0" indent="0">
              <a:lnSpc>
                <a:spcPct val="110000"/>
              </a:lnSpc>
              <a:spcBef>
                <a:spcPts val="2500"/>
              </a:spcBef>
              <a:buNone/>
            </a:pPr>
            <a:r>
              <a:rPr lang="en-US" sz="1400" b="1"/>
              <a:t>Extracting Desired Data</a:t>
            </a:r>
          </a:p>
          <a:p>
            <a:pPr marL="0" lvl="1" indent="0">
              <a:lnSpc>
                <a:spcPct val="110000"/>
              </a:lnSpc>
              <a:buNone/>
            </a:pPr>
            <a:r>
              <a:rPr lang="en-US" sz="1400"/>
              <a:t>Extracting desired data involves traversing the DOM structure using JavaScript methods like parentNode, previousSibling, nextSibling, and childNodes. It requires an understanding of the relationships between the elements.</a:t>
            </a:r>
            <a:endParaRPr lang="en-IN" sz="1400"/>
          </a:p>
        </p:txBody>
      </p:sp>
      <p:sp>
        <p:nvSpPr>
          <p:cNvPr id="3" name="Slide Number Placeholder 2">
            <a:extLst>
              <a:ext uri="{FF2B5EF4-FFF2-40B4-BE49-F238E27FC236}">
                <a16:creationId xmlns:a16="http://schemas.microsoft.com/office/drawing/2014/main" id="{270B45DE-D64F-9639-AB5C-9288FC03751E}"/>
              </a:ext>
            </a:extLst>
          </p:cNvPr>
          <p:cNvSpPr>
            <a:spLocks noGrp="1"/>
          </p:cNvSpPr>
          <p:nvPr>
            <p:ph type="sldNum" sz="quarter" idx="12"/>
          </p:nvPr>
        </p:nvSpPr>
        <p:spPr/>
        <p:txBody>
          <a:bodyPr/>
          <a:lstStyle/>
          <a:p>
            <a:fld id="{70C12960-6E85-460F-B6E3-5B82CB31AF3D}" type="slidenum">
              <a:rPr lang="en-US" smtClean="0"/>
              <a:t>8</a:t>
            </a:fld>
            <a:endParaRPr lang="en-US"/>
          </a:p>
        </p:txBody>
      </p:sp>
    </p:spTree>
    <p:extLst>
      <p:ext uri="{BB962C8B-B14F-4D97-AF65-F5344CB8AC3E}">
        <p14:creationId xmlns:p14="http://schemas.microsoft.com/office/powerpoint/2010/main" val="329501992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Layout of website design sketches on white paper">
            <a:extLst>
              <a:ext uri="{FF2B5EF4-FFF2-40B4-BE49-F238E27FC236}">
                <a16:creationId xmlns:a16="http://schemas.microsoft.com/office/drawing/2014/main" id="{F1FF053A-A250-4FD0-97EF-91B33D31453B}"/>
              </a:ext>
            </a:extLst>
          </p:cNvPr>
          <p:cNvPicPr>
            <a:picLocks noGrp="1" noChangeAspect="1"/>
          </p:cNvPicPr>
          <p:nvPr>
            <p:ph sz="half" idx="1"/>
          </p:nvPr>
        </p:nvPicPr>
        <p:blipFill>
          <a:blip r:embed="rId3"/>
          <a:srcRect l="590" r="25182" b="-1"/>
          <a:stretch/>
        </p:blipFill>
        <p:spPr>
          <a:xfrm>
            <a:off x="20" y="535709"/>
            <a:ext cx="8229580" cy="5820640"/>
          </a:xfrm>
          <a:prstGeom prst="rect">
            <a:avLst/>
          </a:prstGeom>
        </p:spPr>
      </p:pic>
      <p:cxnSp>
        <p:nvCxnSpPr>
          <p:cNvPr id="14" name="Straight Connector 13">
            <a:extLst>
              <a:ext uri="{FF2B5EF4-FFF2-40B4-BE49-F238E27FC236}">
                <a16:creationId xmlns:a16="http://schemas.microsoft.com/office/drawing/2014/main" id="{02C7985C-B0C3-CC50-E86A-B5EBA40E01D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 y="6359240"/>
            <a:ext cx="8229600"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82ABEC47-E27C-31A3-B997-93FA3F612221}"/>
              </a:ext>
            </a:extLst>
          </p:cNvPr>
          <p:cNvSpPr>
            <a:spLocks noGrp="1"/>
          </p:cNvSpPr>
          <p:nvPr>
            <p:ph type="title"/>
          </p:nvPr>
        </p:nvSpPr>
        <p:spPr>
          <a:xfrm>
            <a:off x="8719126" y="979051"/>
            <a:ext cx="2811879" cy="1807048"/>
          </a:xfrm>
        </p:spPr>
        <p:txBody>
          <a:bodyPr vert="horz" lIns="91440" tIns="45720" rIns="91440" bIns="45720" rtlCol="0" anchor="b">
            <a:normAutofit/>
          </a:bodyPr>
          <a:lstStyle/>
          <a:p>
            <a:r>
              <a:rPr lang="en-US" sz="3600"/>
              <a:t>Handling dynamic content</a:t>
            </a:r>
          </a:p>
        </p:txBody>
      </p:sp>
      <p:sp>
        <p:nvSpPr>
          <p:cNvPr id="4" name="Content Placeholder 3">
            <a:extLst>
              <a:ext uri="{FF2B5EF4-FFF2-40B4-BE49-F238E27FC236}">
                <a16:creationId xmlns:a16="http://schemas.microsoft.com/office/drawing/2014/main" id="{C3B948FE-CB41-DB4D-0703-6F6C475549FB}"/>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8719128" y="2922624"/>
            <a:ext cx="2811880" cy="3409950"/>
          </a:xfrm>
        </p:spPr>
        <p:txBody>
          <a:bodyPr>
            <a:normAutofit/>
          </a:bodyPr>
          <a:lstStyle/>
          <a:p>
            <a:pPr marL="0" indent="0">
              <a:spcBef>
                <a:spcPts val="2500"/>
              </a:spcBef>
              <a:buNone/>
            </a:pPr>
            <a:endParaRPr lang="en-US" sz="1400" b="1"/>
          </a:p>
          <a:p>
            <a:pPr marL="0" lvl="1" indent="0">
              <a:buNone/>
            </a:pPr>
            <a:r>
              <a:rPr lang="en-US" sz="1400"/>
              <a:t>Dynamic content on websites is content that is generated by JavaScript or other scripting languages. Handling dynamic content involves the use of tools like Selenium to interact with the website and extract the desired data.</a:t>
            </a:r>
            <a:endParaRPr lang="en-IN" sz="1400"/>
          </a:p>
        </p:txBody>
      </p:sp>
      <p:sp>
        <p:nvSpPr>
          <p:cNvPr id="3" name="Slide Number Placeholder 2">
            <a:extLst>
              <a:ext uri="{FF2B5EF4-FFF2-40B4-BE49-F238E27FC236}">
                <a16:creationId xmlns:a16="http://schemas.microsoft.com/office/drawing/2014/main" id="{9DE42F84-0758-00B5-D4AC-64BE2DE7CF40}"/>
              </a:ext>
            </a:extLst>
          </p:cNvPr>
          <p:cNvSpPr>
            <a:spLocks noGrp="1"/>
          </p:cNvSpPr>
          <p:nvPr>
            <p:ph type="sldNum" sz="quarter" idx="12"/>
          </p:nvPr>
        </p:nvSpPr>
        <p:spPr/>
        <p:txBody>
          <a:bodyPr/>
          <a:lstStyle/>
          <a:p>
            <a:fld id="{70C12960-6E85-460F-B6E3-5B82CB31AF3D}" type="slidenum">
              <a:rPr lang="en-US" smtClean="0"/>
              <a:t>9</a:t>
            </a:fld>
            <a:endParaRPr lang="en-US"/>
          </a:p>
        </p:txBody>
      </p:sp>
    </p:spTree>
    <p:extLst>
      <p:ext uri="{BB962C8B-B14F-4D97-AF65-F5344CB8AC3E}">
        <p14:creationId xmlns:p14="http://schemas.microsoft.com/office/powerpoint/2010/main" val="322809913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9" name="Rectangle 8">
            <a:extLst>
              <a:ext uri="{FF2B5EF4-FFF2-40B4-BE49-F238E27FC236}">
                <a16:creationId xmlns:a16="http://schemas.microsoft.com/office/drawing/2014/main" id="{46B9231A-B34B-4A29-A6AC-532E1EE815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randview Display"/>
              <a:ea typeface="+mn-ea"/>
              <a:cs typeface="+mn-cs"/>
            </a:endParaRPr>
          </a:p>
        </p:txBody>
      </p:sp>
      <p:sp useBgFill="1">
        <p:nvSpPr>
          <p:cNvPr id="11" name="Rectangle 10">
            <a:extLst>
              <a:ext uri="{FF2B5EF4-FFF2-40B4-BE49-F238E27FC236}">
                <a16:creationId xmlns:a16="http://schemas.microsoft.com/office/drawing/2014/main" id="{19F9BF86-FE94-4517-B97D-026C7515E5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randview Display"/>
              <a:ea typeface="+mn-ea"/>
              <a:cs typeface="+mn-cs"/>
            </a:endParaRPr>
          </a:p>
        </p:txBody>
      </p:sp>
      <p:sp>
        <p:nvSpPr>
          <p:cNvPr id="2" name="Title 1">
            <a:extLst>
              <a:ext uri="{FF2B5EF4-FFF2-40B4-BE49-F238E27FC236}">
                <a16:creationId xmlns:a16="http://schemas.microsoft.com/office/drawing/2014/main" id="{797B533A-CE11-B7DE-CA48-A7477E8C7DD5}"/>
              </a:ext>
            </a:extLst>
          </p:cNvPr>
          <p:cNvSpPr>
            <a:spLocks noGrp="1"/>
          </p:cNvSpPr>
          <p:nvPr>
            <p:ph type="title"/>
          </p:nvPr>
        </p:nvSpPr>
        <p:spPr>
          <a:xfrm>
            <a:off x="559219" y="1115844"/>
            <a:ext cx="7680960" cy="4631911"/>
          </a:xfrm>
        </p:spPr>
        <p:txBody>
          <a:bodyPr vert="horz" lIns="91440" tIns="45720" rIns="91440" bIns="45720" rtlCol="0" anchor="b">
            <a:normAutofit/>
          </a:bodyPr>
          <a:lstStyle/>
          <a:p>
            <a:r>
              <a:rPr lang="en-US" sz="6500"/>
              <a:t>Web Scraping Tools and Libraries</a:t>
            </a:r>
          </a:p>
        </p:txBody>
      </p:sp>
      <p:cxnSp>
        <p:nvCxnSpPr>
          <p:cNvPr id="13" name="Straight Connector 12">
            <a:extLst>
              <a:ext uri="{FF2B5EF4-FFF2-40B4-BE49-F238E27FC236}">
                <a16:creationId xmlns:a16="http://schemas.microsoft.com/office/drawing/2014/main" id="{53C0BBAA-A5EC-5D5D-32E6-9F7EA604848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23131" y="6268313"/>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3" name="Slide Number Placeholder 2">
            <a:extLst>
              <a:ext uri="{FF2B5EF4-FFF2-40B4-BE49-F238E27FC236}">
                <a16:creationId xmlns:a16="http://schemas.microsoft.com/office/drawing/2014/main" id="{5006401E-F94F-9661-693A-2BF212BAA732}"/>
              </a:ext>
            </a:extLst>
          </p:cNvPr>
          <p:cNvSpPr>
            <a:spLocks noGrp="1"/>
          </p:cNvSpPr>
          <p:nvPr>
            <p:ph type="sldNum" sz="quarter" idx="12"/>
          </p:nvPr>
        </p:nvSpPr>
        <p:spPr/>
        <p:txBody>
          <a:bodyPr/>
          <a:lstStyle/>
          <a:p>
            <a:fld id="{70C12960-6E85-460F-B6E3-5B82CB31AF3D}" type="slidenum">
              <a:rPr lang="en-US" smtClean="0"/>
              <a:t>10</a:t>
            </a:fld>
            <a:endParaRPr lang="en-US"/>
          </a:p>
        </p:txBody>
      </p:sp>
    </p:spTree>
    <p:extLst>
      <p:ext uri="{BB962C8B-B14F-4D97-AF65-F5344CB8AC3E}">
        <p14:creationId xmlns:p14="http://schemas.microsoft.com/office/powerpoint/2010/main" val="297660913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Businesswoman holding placard with coins in front of technology icons">
            <a:extLst>
              <a:ext uri="{FF2B5EF4-FFF2-40B4-BE49-F238E27FC236}">
                <a16:creationId xmlns:a16="http://schemas.microsoft.com/office/drawing/2014/main" id="{A5169BE0-526F-4CA1-8DEE-1169D2474291}"/>
              </a:ext>
            </a:extLst>
          </p:cNvPr>
          <p:cNvPicPr>
            <a:picLocks noGrp="1" noChangeAspect="1"/>
          </p:cNvPicPr>
          <p:nvPr>
            <p:ph sz="half" idx="1"/>
          </p:nvPr>
        </p:nvPicPr>
        <p:blipFill>
          <a:blip r:embed="rId3"/>
          <a:srcRect l="24066" r="20928"/>
          <a:stretch/>
        </p:blipFill>
        <p:spPr>
          <a:xfrm>
            <a:off x="7776429" y="914400"/>
            <a:ext cx="4414591" cy="5357106"/>
          </a:xfrm>
          <a:prstGeom prst="rect">
            <a:avLst/>
          </a:prstGeom>
        </p:spPr>
      </p:pic>
      <p:cxnSp>
        <p:nvCxnSpPr>
          <p:cNvPr id="14" name="Straight Connector 13">
            <a:extLst>
              <a:ext uri="{FF2B5EF4-FFF2-40B4-BE49-F238E27FC236}">
                <a16:creationId xmlns:a16="http://schemas.microsoft.com/office/drawing/2014/main" id="{92025DBA-8780-9CA0-2826-FF6E3BD1A0C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774468" y="6271515"/>
            <a:ext cx="4416552" cy="1"/>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64E1D5FE-B7A0-FB84-412C-5183222CEA24}"/>
              </a:ext>
            </a:extLst>
          </p:cNvPr>
          <p:cNvSpPr>
            <a:spLocks noGrp="1"/>
          </p:cNvSpPr>
          <p:nvPr>
            <p:ph type="title"/>
          </p:nvPr>
        </p:nvSpPr>
        <p:spPr>
          <a:xfrm>
            <a:off x="640080" y="914400"/>
            <a:ext cx="6291472" cy="1097280"/>
          </a:xfrm>
        </p:spPr>
        <p:txBody>
          <a:bodyPr vert="horz" lIns="91440" tIns="45720" rIns="91440" bIns="45720" rtlCol="0" anchor="t">
            <a:normAutofit/>
          </a:bodyPr>
          <a:lstStyle/>
          <a:p>
            <a:r>
              <a:rPr lang="en-US"/>
              <a:t>Python Libraries</a:t>
            </a:r>
          </a:p>
        </p:txBody>
      </p:sp>
      <p:sp>
        <p:nvSpPr>
          <p:cNvPr id="4" name="Content Placeholder 3">
            <a:extLst>
              <a:ext uri="{FF2B5EF4-FFF2-40B4-BE49-F238E27FC236}">
                <a16:creationId xmlns:a16="http://schemas.microsoft.com/office/drawing/2014/main" id="{EC1442D2-427F-BC3C-E6DB-3A866F24ABE1}"/>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40080" y="2176036"/>
            <a:ext cx="6291472" cy="4123944"/>
          </a:xfrm>
        </p:spPr>
        <p:txBody>
          <a:bodyPr>
            <a:normAutofit/>
          </a:bodyPr>
          <a:lstStyle/>
          <a:p>
            <a:pPr marL="0" indent="0">
              <a:spcBef>
                <a:spcPts val="2500"/>
              </a:spcBef>
              <a:buNone/>
            </a:pPr>
            <a:r>
              <a:rPr lang="en-US" sz="1400" b="1"/>
              <a:t>BeautifulSoup</a:t>
            </a:r>
          </a:p>
          <a:p>
            <a:pPr marL="0" lvl="1" indent="0">
              <a:buNone/>
            </a:pPr>
            <a:r>
              <a:rPr lang="en-US" sz="1400"/>
              <a:t>BeautifulSoup is a popular Python library for parsing HTML and XML documents. It provides a simple interface for navigating and searching parsed documents.</a:t>
            </a:r>
          </a:p>
          <a:p>
            <a:pPr marL="0" indent="0">
              <a:spcBef>
                <a:spcPts val="2500"/>
              </a:spcBef>
              <a:buNone/>
            </a:pPr>
            <a:r>
              <a:rPr lang="en-US" sz="1400" b="1"/>
              <a:t>Scrapy</a:t>
            </a:r>
          </a:p>
          <a:p>
            <a:pPr marL="0" lvl="1" indent="0">
              <a:buNone/>
            </a:pPr>
            <a:r>
              <a:rPr lang="en-US" sz="1400"/>
              <a:t>Scrapy is a Python framework for web scraping and crawling. It provides a powerful and flexible set of tools for extracting data from websites and other online sources.</a:t>
            </a:r>
          </a:p>
          <a:p>
            <a:pPr marL="0" indent="0">
              <a:spcBef>
                <a:spcPts val="2500"/>
              </a:spcBef>
              <a:buNone/>
            </a:pPr>
            <a:r>
              <a:rPr lang="en-US" sz="1400" b="1"/>
              <a:t>Selenium</a:t>
            </a:r>
          </a:p>
          <a:p>
            <a:pPr marL="0" lvl="1" indent="0">
              <a:buNone/>
            </a:pPr>
            <a:r>
              <a:rPr lang="en-US" sz="1400"/>
              <a:t>Selenium is a popular tool for automating web browsers. It provides a simple and flexible way to automate repetitive tasks, such as testing and web scraping.</a:t>
            </a:r>
            <a:endParaRPr lang="en-IN" sz="1400"/>
          </a:p>
        </p:txBody>
      </p:sp>
      <p:sp>
        <p:nvSpPr>
          <p:cNvPr id="3" name="Slide Number Placeholder 2">
            <a:extLst>
              <a:ext uri="{FF2B5EF4-FFF2-40B4-BE49-F238E27FC236}">
                <a16:creationId xmlns:a16="http://schemas.microsoft.com/office/drawing/2014/main" id="{C15E169B-8F90-F508-9334-2293820E9265}"/>
              </a:ext>
            </a:extLst>
          </p:cNvPr>
          <p:cNvSpPr>
            <a:spLocks noGrp="1"/>
          </p:cNvSpPr>
          <p:nvPr>
            <p:ph type="sldNum" sz="quarter" idx="12"/>
          </p:nvPr>
        </p:nvSpPr>
        <p:spPr/>
        <p:txBody>
          <a:bodyPr/>
          <a:lstStyle/>
          <a:p>
            <a:fld id="{70C12960-6E85-460F-B6E3-5B82CB31AF3D}" type="slidenum">
              <a:rPr lang="en-US" smtClean="0"/>
              <a:t>11</a:t>
            </a:fld>
            <a:endParaRPr lang="en-US"/>
          </a:p>
        </p:txBody>
      </p:sp>
    </p:spTree>
    <p:extLst>
      <p:ext uri="{BB962C8B-B14F-4D97-AF65-F5344CB8AC3E}">
        <p14:creationId xmlns:p14="http://schemas.microsoft.com/office/powerpoint/2010/main" val="247821660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Biomedical engineering robot in a lab">
            <a:extLst>
              <a:ext uri="{FF2B5EF4-FFF2-40B4-BE49-F238E27FC236}">
                <a16:creationId xmlns:a16="http://schemas.microsoft.com/office/drawing/2014/main" id="{1455A408-BC3B-4EB9-97D3-D6C140CEC1FE}"/>
              </a:ext>
            </a:extLst>
          </p:cNvPr>
          <p:cNvPicPr>
            <a:picLocks noGrp="1" noChangeAspect="1"/>
          </p:cNvPicPr>
          <p:nvPr>
            <p:ph sz="half" idx="1"/>
          </p:nvPr>
        </p:nvPicPr>
        <p:blipFill>
          <a:blip r:embed="rId3"/>
          <a:srcRect l="12375" r="32558" b="2"/>
          <a:stretch/>
        </p:blipFill>
        <p:spPr>
          <a:xfrm>
            <a:off x="20" y="914399"/>
            <a:ext cx="4416532" cy="5353523"/>
          </a:xfrm>
          <a:prstGeom prst="rect">
            <a:avLst/>
          </a:prstGeom>
        </p:spPr>
      </p:pic>
      <p:cxnSp>
        <p:nvCxnSpPr>
          <p:cNvPr id="14" name="Straight Connector 13">
            <a:extLst>
              <a:ext uri="{FF2B5EF4-FFF2-40B4-BE49-F238E27FC236}">
                <a16:creationId xmlns:a16="http://schemas.microsoft.com/office/drawing/2014/main" id="{08052531-D50B-3899-B150-D05525F4F2B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0" y="6267922"/>
            <a:ext cx="4416552" cy="1"/>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FE5A2DBD-9492-74D8-C5BA-0FF2891A5A35}"/>
              </a:ext>
            </a:extLst>
          </p:cNvPr>
          <p:cNvSpPr>
            <a:spLocks noGrp="1"/>
          </p:cNvSpPr>
          <p:nvPr>
            <p:ph type="title"/>
          </p:nvPr>
        </p:nvSpPr>
        <p:spPr>
          <a:xfrm>
            <a:off x="5029200" y="914400"/>
            <a:ext cx="6501810" cy="1097280"/>
          </a:xfrm>
        </p:spPr>
        <p:txBody>
          <a:bodyPr vert="horz" lIns="91440" tIns="45720" rIns="91440" bIns="45720" rtlCol="0" anchor="t">
            <a:normAutofit/>
          </a:bodyPr>
          <a:lstStyle/>
          <a:p>
            <a:pPr>
              <a:lnSpc>
                <a:spcPct val="90000"/>
              </a:lnSpc>
            </a:pPr>
            <a:r>
              <a:rPr lang="en-US" sz="3400"/>
              <a:t>Browser automation with Selenium</a:t>
            </a:r>
          </a:p>
        </p:txBody>
      </p:sp>
      <p:sp>
        <p:nvSpPr>
          <p:cNvPr id="4" name="Content Placeholder 3">
            <a:extLst>
              <a:ext uri="{FF2B5EF4-FFF2-40B4-BE49-F238E27FC236}">
                <a16:creationId xmlns:a16="http://schemas.microsoft.com/office/drawing/2014/main" id="{9A95C5B6-1A4B-6AEC-A18F-0B02A403A7D9}"/>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029200" y="2176036"/>
            <a:ext cx="6501810" cy="4121885"/>
          </a:xfrm>
        </p:spPr>
        <p:txBody>
          <a:bodyPr>
            <a:normAutofit/>
          </a:bodyPr>
          <a:lstStyle/>
          <a:p>
            <a:pPr marL="0" indent="0">
              <a:lnSpc>
                <a:spcPct val="110000"/>
              </a:lnSpc>
              <a:spcBef>
                <a:spcPts val="2500"/>
              </a:spcBef>
              <a:buNone/>
            </a:pPr>
            <a:r>
              <a:rPr lang="en-US" sz="1400" b="1"/>
              <a:t>Browser Automation</a:t>
            </a:r>
          </a:p>
          <a:p>
            <a:pPr marL="0" lvl="1" indent="0">
              <a:lnSpc>
                <a:spcPct val="110000"/>
              </a:lnSpc>
              <a:buNone/>
            </a:pPr>
            <a:r>
              <a:rPr lang="en-US" sz="1400"/>
              <a:t>Selenium is a powerful tool for automating web browsers and interacting with websites. This allows developers to automate tedious tasks like filling out forms and clicking buttons, making tests more efficient and reducing the risk of human error.</a:t>
            </a:r>
          </a:p>
          <a:p>
            <a:pPr marL="0" indent="0">
              <a:lnSpc>
                <a:spcPct val="110000"/>
              </a:lnSpc>
              <a:spcBef>
                <a:spcPts val="2500"/>
              </a:spcBef>
              <a:buNone/>
            </a:pPr>
            <a:r>
              <a:rPr lang="en-US" sz="1400" b="1"/>
              <a:t>Handling Dynamic Content</a:t>
            </a:r>
          </a:p>
          <a:p>
            <a:pPr marL="0" lvl="1" indent="0">
              <a:lnSpc>
                <a:spcPct val="110000"/>
              </a:lnSpc>
              <a:buNone/>
            </a:pPr>
            <a:r>
              <a:rPr lang="en-US" sz="1400"/>
              <a:t>Selenium is useful for handling dynamic content on web pages that change frequently. This allows developers to create robust scripts that can handle different situations on web pages.</a:t>
            </a:r>
          </a:p>
          <a:p>
            <a:pPr marL="0" indent="0">
              <a:lnSpc>
                <a:spcPct val="110000"/>
              </a:lnSpc>
              <a:spcBef>
                <a:spcPts val="2500"/>
              </a:spcBef>
              <a:buNone/>
            </a:pPr>
            <a:r>
              <a:rPr lang="en-US" sz="1400" b="1"/>
              <a:t>Web Testing</a:t>
            </a:r>
          </a:p>
          <a:p>
            <a:pPr marL="0" lvl="1" indent="0">
              <a:lnSpc>
                <a:spcPct val="110000"/>
              </a:lnSpc>
              <a:buNone/>
            </a:pPr>
            <a:r>
              <a:rPr lang="en-US" sz="1400"/>
              <a:t>Selenium is often used for testing web applications and websites. It can be integrated with testing frameworks like JUnit and TestNG, allowing developers to create comprehensive test suites that can be run automatically.</a:t>
            </a:r>
            <a:endParaRPr lang="en-IN" sz="1400"/>
          </a:p>
        </p:txBody>
      </p:sp>
      <p:sp>
        <p:nvSpPr>
          <p:cNvPr id="3" name="Slide Number Placeholder 2">
            <a:extLst>
              <a:ext uri="{FF2B5EF4-FFF2-40B4-BE49-F238E27FC236}">
                <a16:creationId xmlns:a16="http://schemas.microsoft.com/office/drawing/2014/main" id="{A33BCFB1-71B5-CE50-520E-66DC20225727}"/>
              </a:ext>
            </a:extLst>
          </p:cNvPr>
          <p:cNvSpPr>
            <a:spLocks noGrp="1"/>
          </p:cNvSpPr>
          <p:nvPr>
            <p:ph type="sldNum" sz="quarter" idx="12"/>
          </p:nvPr>
        </p:nvSpPr>
        <p:spPr/>
        <p:txBody>
          <a:bodyPr/>
          <a:lstStyle/>
          <a:p>
            <a:fld id="{70C12960-6E85-460F-B6E3-5B82CB31AF3D}" type="slidenum">
              <a:rPr lang="en-US" smtClean="0"/>
              <a:t>12</a:t>
            </a:fld>
            <a:endParaRPr lang="en-US"/>
          </a:p>
        </p:txBody>
      </p:sp>
    </p:spTree>
    <p:extLst>
      <p:ext uri="{BB962C8B-B14F-4D97-AF65-F5344CB8AC3E}">
        <p14:creationId xmlns:p14="http://schemas.microsoft.com/office/powerpoint/2010/main" val="361719217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Cloud computing concept isolated on white background">
            <a:extLst>
              <a:ext uri="{FF2B5EF4-FFF2-40B4-BE49-F238E27FC236}">
                <a16:creationId xmlns:a16="http://schemas.microsoft.com/office/drawing/2014/main" id="{182090CF-A76F-4C88-8E20-13A1F298BB18}"/>
              </a:ext>
            </a:extLst>
          </p:cNvPr>
          <p:cNvPicPr>
            <a:picLocks noGrp="1" noChangeAspect="1"/>
          </p:cNvPicPr>
          <p:nvPr>
            <p:ph sz="half" idx="1"/>
          </p:nvPr>
        </p:nvPicPr>
        <p:blipFill>
          <a:blip r:embed="rId3"/>
          <a:srcRect l="18053" r="20073"/>
          <a:stretch/>
        </p:blipFill>
        <p:spPr>
          <a:xfrm>
            <a:off x="20" y="914399"/>
            <a:ext cx="4416532" cy="5353523"/>
          </a:xfrm>
          <a:prstGeom prst="rect">
            <a:avLst/>
          </a:prstGeom>
        </p:spPr>
      </p:pic>
      <p:cxnSp>
        <p:nvCxnSpPr>
          <p:cNvPr id="14" name="Straight Connector 13">
            <a:extLst>
              <a:ext uri="{FF2B5EF4-FFF2-40B4-BE49-F238E27FC236}">
                <a16:creationId xmlns:a16="http://schemas.microsoft.com/office/drawing/2014/main" id="{08052531-D50B-3899-B150-D05525F4F2B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0" y="6267922"/>
            <a:ext cx="4416552" cy="1"/>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5A227583-BE06-94DA-E080-9DF94B372EB6}"/>
              </a:ext>
            </a:extLst>
          </p:cNvPr>
          <p:cNvSpPr>
            <a:spLocks noGrp="1"/>
          </p:cNvSpPr>
          <p:nvPr>
            <p:ph type="title"/>
          </p:nvPr>
        </p:nvSpPr>
        <p:spPr>
          <a:xfrm>
            <a:off x="5029200" y="914400"/>
            <a:ext cx="6501810" cy="1097280"/>
          </a:xfrm>
        </p:spPr>
        <p:txBody>
          <a:bodyPr vert="horz" lIns="91440" tIns="45720" rIns="91440" bIns="45720" rtlCol="0" anchor="t">
            <a:normAutofit/>
          </a:bodyPr>
          <a:lstStyle/>
          <a:p>
            <a:r>
              <a:rPr lang="en-US"/>
              <a:t>Cloud-based scraping tools</a:t>
            </a:r>
          </a:p>
        </p:txBody>
      </p:sp>
      <p:sp>
        <p:nvSpPr>
          <p:cNvPr id="4" name="Content Placeholder 3">
            <a:extLst>
              <a:ext uri="{FF2B5EF4-FFF2-40B4-BE49-F238E27FC236}">
                <a16:creationId xmlns:a16="http://schemas.microsoft.com/office/drawing/2014/main" id="{851CE49A-CD86-94F8-A581-652598EA1302}"/>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029200" y="2176036"/>
            <a:ext cx="6501810" cy="4121885"/>
          </a:xfrm>
        </p:spPr>
        <p:txBody>
          <a:bodyPr>
            <a:normAutofit/>
          </a:bodyPr>
          <a:lstStyle/>
          <a:p>
            <a:pPr marL="0" indent="0">
              <a:spcBef>
                <a:spcPts val="2500"/>
              </a:spcBef>
              <a:buNone/>
            </a:pPr>
            <a:r>
              <a:rPr lang="en-US" sz="1400" b="1"/>
              <a:t>User-friendly Interface</a:t>
            </a:r>
          </a:p>
          <a:p>
            <a:pPr marL="0" lvl="1" indent="0">
              <a:buNone/>
            </a:pPr>
            <a:r>
              <a:rPr lang="en-US" sz="1400"/>
              <a:t>Cloud-based scraping tools like ParseHub and Octoparse offer a user-friendly interface for web scraping that allows users to create scraping projects easily and efficiently.</a:t>
            </a:r>
          </a:p>
          <a:p>
            <a:pPr marL="0" indent="0">
              <a:spcBef>
                <a:spcPts val="2500"/>
              </a:spcBef>
              <a:buNone/>
            </a:pPr>
            <a:r>
              <a:rPr lang="en-US" sz="1400" b="1"/>
              <a:t>No Coding Required</a:t>
            </a:r>
          </a:p>
          <a:p>
            <a:pPr marL="0" lvl="1" indent="0">
              <a:buNone/>
            </a:pPr>
            <a:r>
              <a:rPr lang="en-US" sz="1400"/>
              <a:t>Cloud-based scraping tools like ParseHub and Octoparse allow users to create scraping projects without writing any code, making it easy for users with little or no coding experience to get started with web scraping.</a:t>
            </a:r>
          </a:p>
          <a:p>
            <a:pPr marL="0" indent="0">
              <a:spcBef>
                <a:spcPts val="2500"/>
              </a:spcBef>
              <a:buNone/>
            </a:pPr>
            <a:r>
              <a:rPr lang="en-US" sz="1400" b="1"/>
              <a:t>IP Rotation and CAPTCHA Handling</a:t>
            </a:r>
          </a:p>
          <a:p>
            <a:pPr marL="0" lvl="1" indent="0">
              <a:buNone/>
            </a:pPr>
            <a:r>
              <a:rPr lang="en-US" sz="1400"/>
              <a:t>Cloud-based scraping tools like ParseHub and Octoparse offer advanced features like IP rotation and CAPTCHA handling, making it easier for users to bypass website restrictions and scrape data efficiently.</a:t>
            </a:r>
            <a:endParaRPr lang="en-IN" sz="1400"/>
          </a:p>
        </p:txBody>
      </p:sp>
      <p:sp>
        <p:nvSpPr>
          <p:cNvPr id="3" name="Slide Number Placeholder 2">
            <a:extLst>
              <a:ext uri="{FF2B5EF4-FFF2-40B4-BE49-F238E27FC236}">
                <a16:creationId xmlns:a16="http://schemas.microsoft.com/office/drawing/2014/main" id="{96F0080E-D24E-350B-0758-1B5468EC07EB}"/>
              </a:ext>
            </a:extLst>
          </p:cNvPr>
          <p:cNvSpPr>
            <a:spLocks noGrp="1"/>
          </p:cNvSpPr>
          <p:nvPr>
            <p:ph type="sldNum" sz="quarter" idx="12"/>
          </p:nvPr>
        </p:nvSpPr>
        <p:spPr/>
        <p:txBody>
          <a:bodyPr/>
          <a:lstStyle/>
          <a:p>
            <a:fld id="{70C12960-6E85-460F-B6E3-5B82CB31AF3D}" type="slidenum">
              <a:rPr lang="en-US" smtClean="0"/>
              <a:t>13</a:t>
            </a:fld>
            <a:endParaRPr lang="en-US"/>
          </a:p>
        </p:txBody>
      </p:sp>
    </p:spTree>
    <p:extLst>
      <p:ext uri="{BB962C8B-B14F-4D97-AF65-F5344CB8AC3E}">
        <p14:creationId xmlns:p14="http://schemas.microsoft.com/office/powerpoint/2010/main" val="23915995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9" name="Rectangle 8">
            <a:extLst>
              <a:ext uri="{FF2B5EF4-FFF2-40B4-BE49-F238E27FC236}">
                <a16:creationId xmlns:a16="http://schemas.microsoft.com/office/drawing/2014/main" id="{46B9231A-B34B-4A29-A6AC-532E1EE815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randview Display"/>
              <a:ea typeface="+mn-ea"/>
              <a:cs typeface="+mn-cs"/>
            </a:endParaRPr>
          </a:p>
        </p:txBody>
      </p:sp>
      <p:sp useBgFill="1">
        <p:nvSpPr>
          <p:cNvPr id="11" name="Rectangle 10">
            <a:extLst>
              <a:ext uri="{FF2B5EF4-FFF2-40B4-BE49-F238E27FC236}">
                <a16:creationId xmlns:a16="http://schemas.microsoft.com/office/drawing/2014/main" id="{19F9BF86-FE94-4517-B97D-026C7515E5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randview Display"/>
              <a:ea typeface="+mn-ea"/>
              <a:cs typeface="+mn-cs"/>
            </a:endParaRPr>
          </a:p>
        </p:txBody>
      </p:sp>
      <p:sp>
        <p:nvSpPr>
          <p:cNvPr id="2" name="Title 1">
            <a:extLst>
              <a:ext uri="{FF2B5EF4-FFF2-40B4-BE49-F238E27FC236}">
                <a16:creationId xmlns:a16="http://schemas.microsoft.com/office/drawing/2014/main" id="{C0664EA1-5456-972C-463D-0D24A5ADF540}"/>
              </a:ext>
            </a:extLst>
          </p:cNvPr>
          <p:cNvSpPr>
            <a:spLocks noGrp="1"/>
          </p:cNvSpPr>
          <p:nvPr>
            <p:ph type="title"/>
          </p:nvPr>
        </p:nvSpPr>
        <p:spPr>
          <a:xfrm>
            <a:off x="559219" y="1115844"/>
            <a:ext cx="7680960" cy="4631911"/>
          </a:xfrm>
        </p:spPr>
        <p:txBody>
          <a:bodyPr vert="horz" lIns="91440" tIns="45720" rIns="91440" bIns="45720" rtlCol="0" anchor="b">
            <a:normAutofit/>
          </a:bodyPr>
          <a:lstStyle/>
          <a:p>
            <a:r>
              <a:rPr lang="en-US" sz="6500"/>
              <a:t>Ethics and Legal Considerations in Web Scraping</a:t>
            </a:r>
          </a:p>
        </p:txBody>
      </p:sp>
      <p:cxnSp>
        <p:nvCxnSpPr>
          <p:cNvPr id="13" name="Straight Connector 12">
            <a:extLst>
              <a:ext uri="{FF2B5EF4-FFF2-40B4-BE49-F238E27FC236}">
                <a16:creationId xmlns:a16="http://schemas.microsoft.com/office/drawing/2014/main" id="{53C0BBAA-A5EC-5D5D-32E6-9F7EA604848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23131" y="6268313"/>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3" name="Slide Number Placeholder 2">
            <a:extLst>
              <a:ext uri="{FF2B5EF4-FFF2-40B4-BE49-F238E27FC236}">
                <a16:creationId xmlns:a16="http://schemas.microsoft.com/office/drawing/2014/main" id="{72E661DA-D7DA-6EC7-D657-A97F68178AD7}"/>
              </a:ext>
            </a:extLst>
          </p:cNvPr>
          <p:cNvSpPr>
            <a:spLocks noGrp="1"/>
          </p:cNvSpPr>
          <p:nvPr>
            <p:ph type="sldNum" sz="quarter" idx="12"/>
          </p:nvPr>
        </p:nvSpPr>
        <p:spPr/>
        <p:txBody>
          <a:bodyPr/>
          <a:lstStyle/>
          <a:p>
            <a:fld id="{70C12960-6E85-460F-B6E3-5B82CB31AF3D}" type="slidenum">
              <a:rPr lang="en-US" smtClean="0"/>
              <a:t>14</a:t>
            </a:fld>
            <a:endParaRPr lang="en-US"/>
          </a:p>
        </p:txBody>
      </p:sp>
    </p:spTree>
    <p:extLst>
      <p:ext uri="{BB962C8B-B14F-4D97-AF65-F5344CB8AC3E}">
        <p14:creationId xmlns:p14="http://schemas.microsoft.com/office/powerpoint/2010/main" val="92077615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Customer service contact us call center">
            <a:extLst>
              <a:ext uri="{FF2B5EF4-FFF2-40B4-BE49-F238E27FC236}">
                <a16:creationId xmlns:a16="http://schemas.microsoft.com/office/drawing/2014/main" id="{71A23087-29A2-4F3D-BE78-60884A0BF2F8}"/>
              </a:ext>
            </a:extLst>
          </p:cNvPr>
          <p:cNvPicPr>
            <a:picLocks noGrp="1" noChangeAspect="1"/>
          </p:cNvPicPr>
          <p:nvPr>
            <p:ph sz="half" idx="1"/>
          </p:nvPr>
        </p:nvPicPr>
        <p:blipFill>
          <a:blip r:embed="rId3"/>
          <a:srcRect l="9872" r="28254"/>
          <a:stretch/>
        </p:blipFill>
        <p:spPr>
          <a:xfrm>
            <a:off x="20" y="914399"/>
            <a:ext cx="4416532" cy="5353523"/>
          </a:xfrm>
          <a:prstGeom prst="rect">
            <a:avLst/>
          </a:prstGeom>
        </p:spPr>
      </p:pic>
      <p:cxnSp>
        <p:nvCxnSpPr>
          <p:cNvPr id="14" name="Straight Connector 13">
            <a:extLst>
              <a:ext uri="{FF2B5EF4-FFF2-40B4-BE49-F238E27FC236}">
                <a16:creationId xmlns:a16="http://schemas.microsoft.com/office/drawing/2014/main" id="{08052531-D50B-3899-B150-D05525F4F2B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0" y="6267922"/>
            <a:ext cx="4416552" cy="1"/>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79C13C22-3A9B-DB5F-0B44-10C928D58AF0}"/>
              </a:ext>
            </a:extLst>
          </p:cNvPr>
          <p:cNvSpPr>
            <a:spLocks noGrp="1"/>
          </p:cNvSpPr>
          <p:nvPr>
            <p:ph type="title"/>
          </p:nvPr>
        </p:nvSpPr>
        <p:spPr>
          <a:xfrm>
            <a:off x="5029200" y="914400"/>
            <a:ext cx="6501810" cy="1097280"/>
          </a:xfrm>
        </p:spPr>
        <p:txBody>
          <a:bodyPr vert="horz" lIns="91440" tIns="45720" rIns="91440" bIns="45720" rtlCol="0" anchor="t">
            <a:normAutofit/>
          </a:bodyPr>
          <a:lstStyle/>
          <a:p>
            <a:pPr>
              <a:lnSpc>
                <a:spcPct val="90000"/>
              </a:lnSpc>
            </a:pPr>
            <a:r>
              <a:rPr lang="en-US" sz="3400"/>
              <a:t>Complying with Website Terms of Service</a:t>
            </a:r>
          </a:p>
        </p:txBody>
      </p:sp>
      <p:sp>
        <p:nvSpPr>
          <p:cNvPr id="4" name="Content Placeholder 3">
            <a:extLst>
              <a:ext uri="{FF2B5EF4-FFF2-40B4-BE49-F238E27FC236}">
                <a16:creationId xmlns:a16="http://schemas.microsoft.com/office/drawing/2014/main" id="{B1FB9616-B4C6-A428-C81F-82B5A8B759EF}"/>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029200" y="2176036"/>
            <a:ext cx="6501810" cy="4121885"/>
          </a:xfrm>
        </p:spPr>
        <p:txBody>
          <a:bodyPr>
            <a:normAutofit/>
          </a:bodyPr>
          <a:lstStyle/>
          <a:p>
            <a:pPr marL="0" indent="0">
              <a:spcBef>
                <a:spcPts val="2500"/>
              </a:spcBef>
              <a:buNone/>
            </a:pPr>
            <a:r>
              <a:rPr lang="en-US" sz="1400" b="1"/>
              <a:t>Website Terms of Service</a:t>
            </a:r>
          </a:p>
          <a:p>
            <a:pPr marL="0" lvl="1" indent="0">
              <a:buNone/>
            </a:pPr>
            <a:r>
              <a:rPr lang="en-US" sz="1400"/>
              <a:t>Website terms of service are legal agreements between a website and its users that outline the rules and guidelines for using the website. These terms may prohibit web scraping and it is important to comply with them to avoid legal repercussions.</a:t>
            </a:r>
          </a:p>
          <a:p>
            <a:pPr marL="0" indent="0">
              <a:spcBef>
                <a:spcPts val="2500"/>
              </a:spcBef>
              <a:buNone/>
            </a:pPr>
            <a:r>
              <a:rPr lang="en-US" sz="1400" b="1"/>
              <a:t>Complying with Terms of Service</a:t>
            </a:r>
          </a:p>
          <a:p>
            <a:pPr marL="0" lvl="1" indent="0">
              <a:buNone/>
            </a:pPr>
            <a:r>
              <a:rPr lang="en-US" sz="1400"/>
              <a:t>To comply with website terms of service, it is important to read and understand the terms before using the website. If web scraping is prohibited, it is important to avoid scraping the website to avoid legal repercussions.</a:t>
            </a:r>
            <a:endParaRPr lang="en-IN" sz="1400"/>
          </a:p>
        </p:txBody>
      </p:sp>
      <p:sp>
        <p:nvSpPr>
          <p:cNvPr id="3" name="Slide Number Placeholder 2">
            <a:extLst>
              <a:ext uri="{FF2B5EF4-FFF2-40B4-BE49-F238E27FC236}">
                <a16:creationId xmlns:a16="http://schemas.microsoft.com/office/drawing/2014/main" id="{DB6A2240-F0DB-1791-0BAF-D6A5CBA810DE}"/>
              </a:ext>
            </a:extLst>
          </p:cNvPr>
          <p:cNvSpPr>
            <a:spLocks noGrp="1"/>
          </p:cNvSpPr>
          <p:nvPr>
            <p:ph type="sldNum" sz="quarter" idx="12"/>
          </p:nvPr>
        </p:nvSpPr>
        <p:spPr/>
        <p:txBody>
          <a:bodyPr/>
          <a:lstStyle/>
          <a:p>
            <a:fld id="{70C12960-6E85-460F-B6E3-5B82CB31AF3D}" type="slidenum">
              <a:rPr lang="en-US" smtClean="0"/>
              <a:t>15</a:t>
            </a:fld>
            <a:endParaRPr lang="en-US"/>
          </a:p>
        </p:txBody>
      </p:sp>
    </p:spTree>
    <p:extLst>
      <p:ext uri="{BB962C8B-B14F-4D97-AF65-F5344CB8AC3E}">
        <p14:creationId xmlns:p14="http://schemas.microsoft.com/office/powerpoint/2010/main" val="374539617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Stick figure is using lap top on office desk. At this concept shoot, stick figure is being drawn by black pen as a business person on a white paper.">
            <a:extLst>
              <a:ext uri="{FF2B5EF4-FFF2-40B4-BE49-F238E27FC236}">
                <a16:creationId xmlns:a16="http://schemas.microsoft.com/office/drawing/2014/main" id="{3708CAA1-B7BE-4974-B60E-F7AB958E0BD7}"/>
              </a:ext>
            </a:extLst>
          </p:cNvPr>
          <p:cNvPicPr>
            <a:picLocks noGrp="1" noChangeAspect="1"/>
          </p:cNvPicPr>
          <p:nvPr>
            <p:ph sz="half" idx="1"/>
          </p:nvPr>
        </p:nvPicPr>
        <p:blipFill>
          <a:blip r:embed="rId3"/>
          <a:srcRect r="5624" b="-1"/>
          <a:stretch/>
        </p:blipFill>
        <p:spPr>
          <a:xfrm>
            <a:off x="20" y="535709"/>
            <a:ext cx="8229580" cy="5820640"/>
          </a:xfrm>
          <a:prstGeom prst="rect">
            <a:avLst/>
          </a:prstGeom>
        </p:spPr>
      </p:pic>
      <p:cxnSp>
        <p:nvCxnSpPr>
          <p:cNvPr id="14" name="Straight Connector 13">
            <a:extLst>
              <a:ext uri="{FF2B5EF4-FFF2-40B4-BE49-F238E27FC236}">
                <a16:creationId xmlns:a16="http://schemas.microsoft.com/office/drawing/2014/main" id="{02C7985C-B0C3-CC50-E86A-B5EBA40E01D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 y="6359240"/>
            <a:ext cx="8229600"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3BC4663E-4B93-A2CE-D0F4-4620CE939E4D}"/>
              </a:ext>
            </a:extLst>
          </p:cNvPr>
          <p:cNvSpPr>
            <a:spLocks noGrp="1"/>
          </p:cNvSpPr>
          <p:nvPr>
            <p:ph type="title"/>
          </p:nvPr>
        </p:nvSpPr>
        <p:spPr>
          <a:xfrm>
            <a:off x="8719126" y="979051"/>
            <a:ext cx="2811879" cy="1807048"/>
          </a:xfrm>
        </p:spPr>
        <p:txBody>
          <a:bodyPr vert="horz" lIns="91440" tIns="45720" rIns="91440" bIns="45720" rtlCol="0" anchor="b">
            <a:normAutofit/>
          </a:bodyPr>
          <a:lstStyle/>
          <a:p>
            <a:pPr>
              <a:lnSpc>
                <a:spcPct val="90000"/>
              </a:lnSpc>
            </a:pPr>
            <a:r>
              <a:rPr lang="en-US" sz="3100"/>
              <a:t>Handling rate limits and avoiding IP blocking</a:t>
            </a:r>
          </a:p>
        </p:txBody>
      </p:sp>
      <p:sp>
        <p:nvSpPr>
          <p:cNvPr id="4" name="Content Placeholder 3">
            <a:extLst>
              <a:ext uri="{FF2B5EF4-FFF2-40B4-BE49-F238E27FC236}">
                <a16:creationId xmlns:a16="http://schemas.microsoft.com/office/drawing/2014/main" id="{D0364CB8-6613-2059-0467-160F852E533B}"/>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8719128" y="2922624"/>
            <a:ext cx="2811880" cy="3409950"/>
          </a:xfrm>
        </p:spPr>
        <p:txBody>
          <a:bodyPr>
            <a:normAutofit/>
          </a:bodyPr>
          <a:lstStyle/>
          <a:p>
            <a:pPr marL="0" indent="0">
              <a:spcBef>
                <a:spcPts val="2500"/>
              </a:spcBef>
              <a:buNone/>
            </a:pPr>
            <a:endParaRPr lang="en-US" sz="1400" b="1"/>
          </a:p>
          <a:p>
            <a:pPr marL="0" lvl="1" indent="0">
              <a:buNone/>
            </a:pPr>
            <a:r>
              <a:rPr lang="en-US" sz="1400"/>
              <a:t>It is important to handle rate limits and anti-scraping mechanisms carefully to avoid being blocked from the website. One should follow the rules set by the website and avoid sending too many requests in a short period of time.</a:t>
            </a:r>
            <a:endParaRPr lang="en-IN" sz="1400"/>
          </a:p>
        </p:txBody>
      </p:sp>
      <p:sp>
        <p:nvSpPr>
          <p:cNvPr id="3" name="Slide Number Placeholder 2">
            <a:extLst>
              <a:ext uri="{FF2B5EF4-FFF2-40B4-BE49-F238E27FC236}">
                <a16:creationId xmlns:a16="http://schemas.microsoft.com/office/drawing/2014/main" id="{AD9CF377-CEB6-2A8B-D837-25AA2EB7C1ED}"/>
              </a:ext>
            </a:extLst>
          </p:cNvPr>
          <p:cNvSpPr>
            <a:spLocks noGrp="1"/>
          </p:cNvSpPr>
          <p:nvPr>
            <p:ph type="sldNum" sz="quarter" idx="12"/>
          </p:nvPr>
        </p:nvSpPr>
        <p:spPr/>
        <p:txBody>
          <a:bodyPr/>
          <a:lstStyle/>
          <a:p>
            <a:fld id="{70C12960-6E85-460F-B6E3-5B82CB31AF3D}" type="slidenum">
              <a:rPr lang="en-US" smtClean="0"/>
              <a:t>16</a:t>
            </a:fld>
            <a:endParaRPr lang="en-US"/>
          </a:p>
        </p:txBody>
      </p:sp>
    </p:spTree>
    <p:extLst>
      <p:ext uri="{BB962C8B-B14F-4D97-AF65-F5344CB8AC3E}">
        <p14:creationId xmlns:p14="http://schemas.microsoft.com/office/powerpoint/2010/main" val="84124613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arrow show solution for maze of problems">
            <a:extLst>
              <a:ext uri="{FF2B5EF4-FFF2-40B4-BE49-F238E27FC236}">
                <a16:creationId xmlns:a16="http://schemas.microsoft.com/office/drawing/2014/main" id="{9FB2E7B0-494F-4BBE-A3E0-4207E7FDE281}"/>
              </a:ext>
            </a:extLst>
          </p:cNvPr>
          <p:cNvPicPr>
            <a:picLocks noGrp="1" noChangeAspect="1"/>
          </p:cNvPicPr>
          <p:nvPr>
            <p:ph sz="half" idx="1"/>
          </p:nvPr>
        </p:nvPicPr>
        <p:blipFill>
          <a:blip r:embed="rId3"/>
          <a:srcRect t="12872" b="16400"/>
          <a:stretch/>
        </p:blipFill>
        <p:spPr>
          <a:xfrm>
            <a:off x="20" y="535709"/>
            <a:ext cx="8229580" cy="5820640"/>
          </a:xfrm>
          <a:prstGeom prst="rect">
            <a:avLst/>
          </a:prstGeom>
        </p:spPr>
      </p:pic>
      <p:cxnSp>
        <p:nvCxnSpPr>
          <p:cNvPr id="14" name="Straight Connector 13">
            <a:extLst>
              <a:ext uri="{FF2B5EF4-FFF2-40B4-BE49-F238E27FC236}">
                <a16:creationId xmlns:a16="http://schemas.microsoft.com/office/drawing/2014/main" id="{02C7985C-B0C3-CC50-E86A-B5EBA40E01D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 y="6359240"/>
            <a:ext cx="8229600"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E9444E3A-8684-5777-F8CA-1CCE9EE29419}"/>
              </a:ext>
            </a:extLst>
          </p:cNvPr>
          <p:cNvSpPr>
            <a:spLocks noGrp="1"/>
          </p:cNvSpPr>
          <p:nvPr>
            <p:ph type="title"/>
          </p:nvPr>
        </p:nvSpPr>
        <p:spPr>
          <a:xfrm>
            <a:off x="8719126" y="979051"/>
            <a:ext cx="2811879" cy="1807048"/>
          </a:xfrm>
        </p:spPr>
        <p:txBody>
          <a:bodyPr vert="horz" lIns="91440" tIns="45720" rIns="91440" bIns="45720" rtlCol="0" anchor="b">
            <a:normAutofit/>
          </a:bodyPr>
          <a:lstStyle/>
          <a:p>
            <a:pPr>
              <a:lnSpc>
                <a:spcPct val="90000"/>
              </a:lnSpc>
            </a:pPr>
            <a:r>
              <a:rPr lang="en-US" sz="2500"/>
              <a:t>Ethical data scraping and avoiding copyright infringement</a:t>
            </a:r>
          </a:p>
        </p:txBody>
      </p:sp>
      <p:sp>
        <p:nvSpPr>
          <p:cNvPr id="4" name="Content Placeholder 3">
            <a:extLst>
              <a:ext uri="{FF2B5EF4-FFF2-40B4-BE49-F238E27FC236}">
                <a16:creationId xmlns:a16="http://schemas.microsoft.com/office/drawing/2014/main" id="{F4386594-4729-CBBF-0FF7-A68DBCD2E4E0}"/>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8719128" y="2922624"/>
            <a:ext cx="2811880" cy="3409950"/>
          </a:xfrm>
        </p:spPr>
        <p:txBody>
          <a:bodyPr>
            <a:normAutofit/>
          </a:bodyPr>
          <a:lstStyle/>
          <a:p>
            <a:pPr marL="0" indent="0">
              <a:spcBef>
                <a:spcPts val="2500"/>
              </a:spcBef>
              <a:buNone/>
            </a:pPr>
            <a:endParaRPr lang="en-US" sz="1400" b="1"/>
          </a:p>
          <a:p>
            <a:pPr marL="0" lvl="1" indent="0">
              <a:buNone/>
            </a:pPr>
            <a:r>
              <a:rPr lang="en-US" sz="1400"/>
              <a:t>Web scraping can raise ethical concerns, especially when it comes to personal data and copyright infringement. It is important to scrape data ethically and avoid infringing on copyright.</a:t>
            </a:r>
            <a:endParaRPr lang="en-IN" sz="1400"/>
          </a:p>
        </p:txBody>
      </p:sp>
      <p:sp>
        <p:nvSpPr>
          <p:cNvPr id="3" name="Slide Number Placeholder 2">
            <a:extLst>
              <a:ext uri="{FF2B5EF4-FFF2-40B4-BE49-F238E27FC236}">
                <a16:creationId xmlns:a16="http://schemas.microsoft.com/office/drawing/2014/main" id="{26E34A19-FD4C-C55B-0E48-1C4F44F9144C}"/>
              </a:ext>
            </a:extLst>
          </p:cNvPr>
          <p:cNvSpPr>
            <a:spLocks noGrp="1"/>
          </p:cNvSpPr>
          <p:nvPr>
            <p:ph type="sldNum" sz="quarter" idx="12"/>
          </p:nvPr>
        </p:nvSpPr>
        <p:spPr/>
        <p:txBody>
          <a:bodyPr/>
          <a:lstStyle/>
          <a:p>
            <a:fld id="{70C12960-6E85-460F-B6E3-5B82CB31AF3D}" type="slidenum">
              <a:rPr lang="en-US" smtClean="0"/>
              <a:t>17</a:t>
            </a:fld>
            <a:endParaRPr lang="en-US"/>
          </a:p>
        </p:txBody>
      </p:sp>
    </p:spTree>
    <p:extLst>
      <p:ext uri="{BB962C8B-B14F-4D97-AF65-F5344CB8AC3E}">
        <p14:creationId xmlns:p14="http://schemas.microsoft.com/office/powerpoint/2010/main" val="86793106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9" name="Rectangle 8">
            <a:extLst>
              <a:ext uri="{FF2B5EF4-FFF2-40B4-BE49-F238E27FC236}">
                <a16:creationId xmlns:a16="http://schemas.microsoft.com/office/drawing/2014/main" id="{46B9231A-B34B-4A29-A6AC-532E1EE815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randview Display"/>
              <a:ea typeface="+mn-ea"/>
              <a:cs typeface="+mn-cs"/>
            </a:endParaRPr>
          </a:p>
        </p:txBody>
      </p:sp>
      <p:sp useBgFill="1">
        <p:nvSpPr>
          <p:cNvPr id="11" name="Rectangle 10">
            <a:extLst>
              <a:ext uri="{FF2B5EF4-FFF2-40B4-BE49-F238E27FC236}">
                <a16:creationId xmlns:a16="http://schemas.microsoft.com/office/drawing/2014/main" id="{19F9BF86-FE94-4517-B97D-026C7515E5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randview Display"/>
              <a:ea typeface="+mn-ea"/>
              <a:cs typeface="+mn-cs"/>
            </a:endParaRPr>
          </a:p>
        </p:txBody>
      </p:sp>
      <p:sp>
        <p:nvSpPr>
          <p:cNvPr id="2" name="Title 1">
            <a:extLst>
              <a:ext uri="{FF2B5EF4-FFF2-40B4-BE49-F238E27FC236}">
                <a16:creationId xmlns:a16="http://schemas.microsoft.com/office/drawing/2014/main" id="{99FFDB3A-28BA-6564-AFBF-D2A865647696}"/>
              </a:ext>
            </a:extLst>
          </p:cNvPr>
          <p:cNvSpPr>
            <a:spLocks noGrp="1"/>
          </p:cNvSpPr>
          <p:nvPr>
            <p:ph type="title"/>
          </p:nvPr>
        </p:nvSpPr>
        <p:spPr>
          <a:xfrm>
            <a:off x="559219" y="1115844"/>
            <a:ext cx="7680960" cy="4631911"/>
          </a:xfrm>
        </p:spPr>
        <p:txBody>
          <a:bodyPr vert="horz" lIns="91440" tIns="45720" rIns="91440" bIns="45720" rtlCol="0" anchor="b">
            <a:normAutofit/>
          </a:bodyPr>
          <a:lstStyle/>
          <a:p>
            <a:r>
              <a:rPr lang="en-US" sz="6500"/>
              <a:t>Dealing with Anti-Scraping Mechanisms</a:t>
            </a:r>
          </a:p>
        </p:txBody>
      </p:sp>
      <p:cxnSp>
        <p:nvCxnSpPr>
          <p:cNvPr id="13" name="Straight Connector 12">
            <a:extLst>
              <a:ext uri="{FF2B5EF4-FFF2-40B4-BE49-F238E27FC236}">
                <a16:creationId xmlns:a16="http://schemas.microsoft.com/office/drawing/2014/main" id="{53C0BBAA-A5EC-5D5D-32E6-9F7EA604848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23131" y="6268313"/>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3" name="Slide Number Placeholder 2">
            <a:extLst>
              <a:ext uri="{FF2B5EF4-FFF2-40B4-BE49-F238E27FC236}">
                <a16:creationId xmlns:a16="http://schemas.microsoft.com/office/drawing/2014/main" id="{732E6F8B-5748-E983-1436-F2A55F98CFF4}"/>
              </a:ext>
            </a:extLst>
          </p:cNvPr>
          <p:cNvSpPr>
            <a:spLocks noGrp="1"/>
          </p:cNvSpPr>
          <p:nvPr>
            <p:ph type="sldNum" sz="quarter" idx="12"/>
          </p:nvPr>
        </p:nvSpPr>
        <p:spPr/>
        <p:txBody>
          <a:bodyPr/>
          <a:lstStyle/>
          <a:p>
            <a:fld id="{70C12960-6E85-460F-B6E3-5B82CB31AF3D}" type="slidenum">
              <a:rPr lang="en-US" smtClean="0"/>
              <a:t>18</a:t>
            </a:fld>
            <a:endParaRPr lang="en-US"/>
          </a:p>
        </p:txBody>
      </p:sp>
    </p:spTree>
    <p:extLst>
      <p:ext uri="{BB962C8B-B14F-4D97-AF65-F5344CB8AC3E}">
        <p14:creationId xmlns:p14="http://schemas.microsoft.com/office/powerpoint/2010/main" val="201202353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id="{8FCE029E-5073-4498-8104-8427AA9873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randview Display"/>
              <a:ea typeface="+mn-ea"/>
              <a:cs typeface="+mn-cs"/>
            </a:endParaRPr>
          </a:p>
        </p:txBody>
      </p:sp>
      <p:pic>
        <p:nvPicPr>
          <p:cNvPr id="5" name="Content Placeholder 4" descr="Notebook with wrench. Similar photographs from my portfolio:">
            <a:extLst>
              <a:ext uri="{FF2B5EF4-FFF2-40B4-BE49-F238E27FC236}">
                <a16:creationId xmlns:a16="http://schemas.microsoft.com/office/drawing/2014/main" id="{D4532C6A-9CDB-4036-9E26-B90032B7A553}"/>
              </a:ext>
            </a:extLst>
          </p:cNvPr>
          <p:cNvPicPr>
            <a:picLocks noGrp="1" noChangeAspect="1"/>
          </p:cNvPicPr>
          <p:nvPr>
            <p:ph sz="half" idx="1"/>
          </p:nvPr>
        </p:nvPicPr>
        <p:blipFill>
          <a:blip r:embed="rId3"/>
          <a:srcRect t="23269" r="2" b="19493"/>
          <a:stretch/>
        </p:blipFill>
        <p:spPr>
          <a:xfrm>
            <a:off x="1" y="2613892"/>
            <a:ext cx="4946906" cy="3689359"/>
          </a:xfrm>
          <a:prstGeom prst="rect">
            <a:avLst/>
          </a:prstGeom>
        </p:spPr>
      </p:pic>
      <p:cxnSp>
        <p:nvCxnSpPr>
          <p:cNvPr id="14" name="Straight Connector 13">
            <a:extLst>
              <a:ext uri="{FF2B5EF4-FFF2-40B4-BE49-F238E27FC236}">
                <a16:creationId xmlns:a16="http://schemas.microsoft.com/office/drawing/2014/main" id="{BEFF515C-2521-4964-9DAC-2BFB8EC86AE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0" y="6274446"/>
            <a:ext cx="4946904" cy="1"/>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5A14AF39-B2B7-413C-C606-48084E8C36FD}"/>
              </a:ext>
            </a:extLst>
          </p:cNvPr>
          <p:cNvSpPr>
            <a:spLocks noGrp="1"/>
          </p:cNvSpPr>
          <p:nvPr>
            <p:ph type="title"/>
          </p:nvPr>
        </p:nvSpPr>
        <p:spPr>
          <a:xfrm>
            <a:off x="640080" y="914401"/>
            <a:ext cx="4306824" cy="1477817"/>
          </a:xfrm>
        </p:spPr>
        <p:txBody>
          <a:bodyPr vert="horz" lIns="91440" tIns="45720" rIns="91440" bIns="45720" rtlCol="0" anchor="t">
            <a:normAutofit/>
          </a:bodyPr>
          <a:lstStyle/>
          <a:p>
            <a:r>
              <a:rPr lang="en-US"/>
              <a:t>Managing CAPTCHA</a:t>
            </a:r>
          </a:p>
        </p:txBody>
      </p:sp>
      <p:sp>
        <p:nvSpPr>
          <p:cNvPr id="4" name="Content Placeholder 3">
            <a:extLst>
              <a:ext uri="{FF2B5EF4-FFF2-40B4-BE49-F238E27FC236}">
                <a16:creationId xmlns:a16="http://schemas.microsoft.com/office/drawing/2014/main" id="{1BCB1DBC-90E5-0845-CCED-1D616ABD0CD6}"/>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641848" y="1014984"/>
            <a:ext cx="5889161" cy="5288267"/>
          </a:xfrm>
        </p:spPr>
        <p:txBody>
          <a:bodyPr>
            <a:normAutofit/>
          </a:bodyPr>
          <a:lstStyle/>
          <a:p>
            <a:pPr marL="0" indent="0">
              <a:spcBef>
                <a:spcPts val="2500"/>
              </a:spcBef>
              <a:buNone/>
            </a:pPr>
            <a:r>
              <a:rPr lang="en-US" sz="1400" b="1"/>
              <a:t>CAPTCHA as an Anti-Scraping Mechanism</a:t>
            </a:r>
          </a:p>
          <a:p>
            <a:pPr marL="0" lvl="1" indent="0">
              <a:buNone/>
            </a:pPr>
            <a:r>
              <a:rPr lang="en-US" sz="1400"/>
              <a:t>CAPTCHA is a widely used anti-scraping mechanism that presents users with a challenge to prove they are human. This helps protect websites from malicious bots and ensures that only genuine users can access the site's resources.</a:t>
            </a:r>
          </a:p>
          <a:p>
            <a:pPr marL="0" indent="0">
              <a:spcBef>
                <a:spcPts val="2500"/>
              </a:spcBef>
              <a:buNone/>
            </a:pPr>
            <a:r>
              <a:rPr lang="en-US" sz="1400" b="1"/>
              <a:t>DeathByCaptcha</a:t>
            </a:r>
          </a:p>
          <a:p>
            <a:pPr marL="0" lvl="1" indent="0">
              <a:buNone/>
            </a:pPr>
            <a:r>
              <a:rPr lang="en-US" sz="1400"/>
              <a:t>DeathByCaptcha is a CAPTCHA management tool that automates the process of solving CAPTCHAs. It provides a reliable and cost-effective solution for managing CAPTCHAs on websites and allows users to focus on other tasks.</a:t>
            </a:r>
          </a:p>
          <a:p>
            <a:pPr marL="0" indent="0">
              <a:spcBef>
                <a:spcPts val="2500"/>
              </a:spcBef>
              <a:buNone/>
            </a:pPr>
            <a:r>
              <a:rPr lang="en-US" sz="1400" b="1"/>
              <a:t>AntiCaptcha</a:t>
            </a:r>
          </a:p>
          <a:p>
            <a:pPr marL="0" lvl="1" indent="0">
              <a:buNone/>
            </a:pPr>
            <a:r>
              <a:rPr lang="en-US" sz="1400"/>
              <a:t>AntiCaptcha is another CAPTCHA management tool that automates the process of solving CAPTCHAs. It is fast, reliable and supports a wide range of CAPTCHA types and APIs, making it suitable for various web applications.</a:t>
            </a:r>
            <a:endParaRPr lang="en-IN" sz="1400"/>
          </a:p>
        </p:txBody>
      </p:sp>
      <p:sp>
        <p:nvSpPr>
          <p:cNvPr id="3" name="Slide Number Placeholder 2">
            <a:extLst>
              <a:ext uri="{FF2B5EF4-FFF2-40B4-BE49-F238E27FC236}">
                <a16:creationId xmlns:a16="http://schemas.microsoft.com/office/drawing/2014/main" id="{6C3052CF-DC7D-CE11-FF90-47B52A5096E2}"/>
              </a:ext>
            </a:extLst>
          </p:cNvPr>
          <p:cNvSpPr>
            <a:spLocks noGrp="1"/>
          </p:cNvSpPr>
          <p:nvPr>
            <p:ph type="sldNum" sz="quarter" idx="12"/>
          </p:nvPr>
        </p:nvSpPr>
        <p:spPr/>
        <p:txBody>
          <a:bodyPr/>
          <a:lstStyle/>
          <a:p>
            <a:fld id="{70C12960-6E85-460F-B6E3-5B82CB31AF3D}" type="slidenum">
              <a:rPr lang="en-US" smtClean="0"/>
              <a:t>19</a:t>
            </a:fld>
            <a:endParaRPr lang="en-US"/>
          </a:p>
        </p:txBody>
      </p:sp>
    </p:spTree>
    <p:extLst>
      <p:ext uri="{BB962C8B-B14F-4D97-AF65-F5344CB8AC3E}">
        <p14:creationId xmlns:p14="http://schemas.microsoft.com/office/powerpoint/2010/main" val="16351503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Close up shot of connecting patterns">
            <a:extLst>
              <a:ext uri="{FF2B5EF4-FFF2-40B4-BE49-F238E27FC236}">
                <a16:creationId xmlns:a16="http://schemas.microsoft.com/office/drawing/2014/main" id="{795559CD-8B5D-429E-91F0-9C0834BA13A9}"/>
              </a:ext>
            </a:extLst>
          </p:cNvPr>
          <p:cNvPicPr>
            <a:picLocks noGrp="1" noChangeAspect="1"/>
          </p:cNvPicPr>
          <p:nvPr>
            <p:ph sz="half" idx="1"/>
          </p:nvPr>
        </p:nvPicPr>
        <p:blipFill>
          <a:blip r:embed="rId3"/>
          <a:srcRect l="26609" r="4874" b="-2"/>
          <a:stretch/>
        </p:blipFill>
        <p:spPr>
          <a:xfrm>
            <a:off x="5671128" y="914399"/>
            <a:ext cx="6520872" cy="5353521"/>
          </a:xfrm>
          <a:prstGeom prst="rect">
            <a:avLst/>
          </a:prstGeom>
        </p:spPr>
      </p:pic>
      <p:cxnSp>
        <p:nvCxnSpPr>
          <p:cNvPr id="14" name="Straight Connector 13">
            <a:extLst>
              <a:ext uri="{FF2B5EF4-FFF2-40B4-BE49-F238E27FC236}">
                <a16:creationId xmlns:a16="http://schemas.microsoft.com/office/drawing/2014/main" id="{92025DBA-8780-9CA0-2826-FF6E3BD1A0C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5672328" y="6267921"/>
            <a:ext cx="6519672" cy="2"/>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6A5B7DAB-C9A8-FF40-5382-FE2792A8010C}"/>
              </a:ext>
            </a:extLst>
          </p:cNvPr>
          <p:cNvSpPr>
            <a:spLocks noGrp="1"/>
          </p:cNvSpPr>
          <p:nvPr>
            <p:ph type="title"/>
          </p:nvPr>
        </p:nvSpPr>
        <p:spPr>
          <a:xfrm>
            <a:off x="640079" y="914400"/>
            <a:ext cx="4261104" cy="1097280"/>
          </a:xfrm>
        </p:spPr>
        <p:txBody>
          <a:bodyPr vert="horz" lIns="91440" tIns="45720" rIns="91440" bIns="45720" rtlCol="0" anchor="t">
            <a:normAutofit/>
          </a:bodyPr>
          <a:lstStyle/>
          <a:p>
            <a:pPr>
              <a:lnSpc>
                <a:spcPct val="90000"/>
              </a:lnSpc>
            </a:pPr>
            <a:r>
              <a:rPr lang="en-US" sz="3600"/>
              <a:t>IP rotation and user-agent spoofing</a:t>
            </a:r>
          </a:p>
        </p:txBody>
      </p:sp>
      <p:sp>
        <p:nvSpPr>
          <p:cNvPr id="4" name="Content Placeholder 3">
            <a:extLst>
              <a:ext uri="{FF2B5EF4-FFF2-40B4-BE49-F238E27FC236}">
                <a16:creationId xmlns:a16="http://schemas.microsoft.com/office/drawing/2014/main" id="{066F0F45-B1B7-5124-E447-7F0CED02C820}"/>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40079" y="2176036"/>
            <a:ext cx="4261104" cy="4121887"/>
          </a:xfrm>
        </p:spPr>
        <p:txBody>
          <a:bodyPr>
            <a:normAutofit/>
          </a:bodyPr>
          <a:lstStyle/>
          <a:p>
            <a:pPr marL="0" indent="0">
              <a:spcBef>
                <a:spcPts val="2500"/>
              </a:spcBef>
              <a:buNone/>
            </a:pPr>
            <a:r>
              <a:rPr lang="en-US" sz="1400" b="1"/>
              <a:t>IP Rotation</a:t>
            </a:r>
          </a:p>
          <a:p>
            <a:pPr marL="0" lvl="1" indent="0">
              <a:buNone/>
            </a:pPr>
            <a:r>
              <a:rPr lang="en-US" sz="1400"/>
              <a:t>IP rotation is a technique used to avoid anti-scraping mechanisms by continually changing the IP address used for scraping. This can be done using a proxy network, VPN or similar services.</a:t>
            </a:r>
          </a:p>
          <a:p>
            <a:pPr marL="0" indent="0">
              <a:spcBef>
                <a:spcPts val="2500"/>
              </a:spcBef>
              <a:buNone/>
            </a:pPr>
            <a:r>
              <a:rPr lang="en-US" sz="1400" b="1"/>
              <a:t>User-agent Spoofing</a:t>
            </a:r>
          </a:p>
          <a:p>
            <a:pPr marL="0" lvl="1" indent="0">
              <a:buNone/>
            </a:pPr>
            <a:r>
              <a:rPr lang="en-US" sz="1400"/>
              <a:t>User-agent spoofing is a technique used to avoid being detected as a scraper by changing the user-agent string. This can be done using browser plugins or scripting tools, or by changing the headers of HTTP requests.</a:t>
            </a:r>
            <a:endParaRPr lang="en-IN" sz="1400"/>
          </a:p>
        </p:txBody>
      </p:sp>
      <p:sp>
        <p:nvSpPr>
          <p:cNvPr id="3" name="Slide Number Placeholder 2">
            <a:extLst>
              <a:ext uri="{FF2B5EF4-FFF2-40B4-BE49-F238E27FC236}">
                <a16:creationId xmlns:a16="http://schemas.microsoft.com/office/drawing/2014/main" id="{7C6D8E46-5BCF-291B-359F-203EAE775F9B}"/>
              </a:ext>
            </a:extLst>
          </p:cNvPr>
          <p:cNvSpPr>
            <a:spLocks noGrp="1"/>
          </p:cNvSpPr>
          <p:nvPr>
            <p:ph type="sldNum" sz="quarter" idx="12"/>
          </p:nvPr>
        </p:nvSpPr>
        <p:spPr/>
        <p:txBody>
          <a:bodyPr/>
          <a:lstStyle/>
          <a:p>
            <a:fld id="{70C12960-6E85-460F-B6E3-5B82CB31AF3D}" type="slidenum">
              <a:rPr lang="en-US" smtClean="0"/>
              <a:t>20</a:t>
            </a:fld>
            <a:endParaRPr lang="en-US"/>
          </a:p>
        </p:txBody>
      </p:sp>
    </p:spTree>
    <p:extLst>
      <p:ext uri="{BB962C8B-B14F-4D97-AF65-F5344CB8AC3E}">
        <p14:creationId xmlns:p14="http://schemas.microsoft.com/office/powerpoint/2010/main" val="50077818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9" name="Rectangle 8">
            <a:extLst>
              <a:ext uri="{FF2B5EF4-FFF2-40B4-BE49-F238E27FC236}">
                <a16:creationId xmlns:a16="http://schemas.microsoft.com/office/drawing/2014/main" id="{46B9231A-B34B-4A29-A6AC-532E1EE815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randview Display"/>
              <a:ea typeface="+mn-ea"/>
              <a:cs typeface="+mn-cs"/>
            </a:endParaRPr>
          </a:p>
        </p:txBody>
      </p:sp>
      <p:sp useBgFill="1">
        <p:nvSpPr>
          <p:cNvPr id="11" name="Rectangle 10">
            <a:extLst>
              <a:ext uri="{FF2B5EF4-FFF2-40B4-BE49-F238E27FC236}">
                <a16:creationId xmlns:a16="http://schemas.microsoft.com/office/drawing/2014/main" id="{19F9BF86-FE94-4517-B97D-026C7515E5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randview Display"/>
              <a:ea typeface="+mn-ea"/>
              <a:cs typeface="+mn-cs"/>
            </a:endParaRPr>
          </a:p>
        </p:txBody>
      </p:sp>
      <p:sp>
        <p:nvSpPr>
          <p:cNvPr id="2" name="Title 1">
            <a:extLst>
              <a:ext uri="{FF2B5EF4-FFF2-40B4-BE49-F238E27FC236}">
                <a16:creationId xmlns:a16="http://schemas.microsoft.com/office/drawing/2014/main" id="{EEFB02AE-655B-B56A-09A2-EA3D72B04A1C}"/>
              </a:ext>
            </a:extLst>
          </p:cNvPr>
          <p:cNvSpPr>
            <a:spLocks noGrp="1"/>
          </p:cNvSpPr>
          <p:nvPr>
            <p:ph type="title"/>
          </p:nvPr>
        </p:nvSpPr>
        <p:spPr>
          <a:xfrm>
            <a:off x="559219" y="1115844"/>
            <a:ext cx="7680960" cy="4631911"/>
          </a:xfrm>
        </p:spPr>
        <p:txBody>
          <a:bodyPr vert="horz" lIns="91440" tIns="45720" rIns="91440" bIns="45720" rtlCol="0" anchor="b">
            <a:normAutofit/>
          </a:bodyPr>
          <a:lstStyle/>
          <a:p>
            <a:r>
              <a:rPr lang="en-US" sz="6500"/>
              <a:t>Saving and Exporting Scraped Data</a:t>
            </a:r>
          </a:p>
        </p:txBody>
      </p:sp>
      <p:cxnSp>
        <p:nvCxnSpPr>
          <p:cNvPr id="13" name="Straight Connector 12">
            <a:extLst>
              <a:ext uri="{FF2B5EF4-FFF2-40B4-BE49-F238E27FC236}">
                <a16:creationId xmlns:a16="http://schemas.microsoft.com/office/drawing/2014/main" id="{53C0BBAA-A5EC-5D5D-32E6-9F7EA604848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23131" y="6268313"/>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3" name="Slide Number Placeholder 2">
            <a:extLst>
              <a:ext uri="{FF2B5EF4-FFF2-40B4-BE49-F238E27FC236}">
                <a16:creationId xmlns:a16="http://schemas.microsoft.com/office/drawing/2014/main" id="{E2E1B40B-FA78-D9FF-7BE0-8E0C9909152B}"/>
              </a:ext>
            </a:extLst>
          </p:cNvPr>
          <p:cNvSpPr>
            <a:spLocks noGrp="1"/>
          </p:cNvSpPr>
          <p:nvPr>
            <p:ph type="sldNum" sz="quarter" idx="12"/>
          </p:nvPr>
        </p:nvSpPr>
        <p:spPr/>
        <p:txBody>
          <a:bodyPr/>
          <a:lstStyle/>
          <a:p>
            <a:fld id="{70C12960-6E85-460F-B6E3-5B82CB31AF3D}" type="slidenum">
              <a:rPr lang="en-US" smtClean="0"/>
              <a:t>21</a:t>
            </a:fld>
            <a:endParaRPr lang="en-US"/>
          </a:p>
        </p:txBody>
      </p:sp>
    </p:spTree>
    <p:extLst>
      <p:ext uri="{BB962C8B-B14F-4D97-AF65-F5344CB8AC3E}">
        <p14:creationId xmlns:p14="http://schemas.microsoft.com/office/powerpoint/2010/main" val="130236331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abstract programm binary code  and colored array cube Database">
            <a:extLst>
              <a:ext uri="{FF2B5EF4-FFF2-40B4-BE49-F238E27FC236}">
                <a16:creationId xmlns:a16="http://schemas.microsoft.com/office/drawing/2014/main" id="{7217C64A-CD4F-4ECF-B92A-697D1B0EB9B9}"/>
              </a:ext>
            </a:extLst>
          </p:cNvPr>
          <p:cNvPicPr>
            <a:picLocks noGrp="1" noChangeAspect="1"/>
          </p:cNvPicPr>
          <p:nvPr>
            <p:ph sz="half" idx="1"/>
          </p:nvPr>
        </p:nvPicPr>
        <p:blipFill>
          <a:blip r:embed="rId3"/>
          <a:srcRect l="13754"/>
          <a:stretch/>
        </p:blipFill>
        <p:spPr>
          <a:xfrm>
            <a:off x="20" y="535709"/>
            <a:ext cx="8229580" cy="5820640"/>
          </a:xfrm>
          <a:prstGeom prst="rect">
            <a:avLst/>
          </a:prstGeom>
        </p:spPr>
      </p:pic>
      <p:cxnSp>
        <p:nvCxnSpPr>
          <p:cNvPr id="14" name="Straight Connector 13">
            <a:extLst>
              <a:ext uri="{FF2B5EF4-FFF2-40B4-BE49-F238E27FC236}">
                <a16:creationId xmlns:a16="http://schemas.microsoft.com/office/drawing/2014/main" id="{02C7985C-B0C3-CC50-E86A-B5EBA40E01D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 y="6359240"/>
            <a:ext cx="8229600"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D27F726F-4ABD-EAE5-2204-CBFBF664AD9D}"/>
              </a:ext>
            </a:extLst>
          </p:cNvPr>
          <p:cNvSpPr>
            <a:spLocks noGrp="1"/>
          </p:cNvSpPr>
          <p:nvPr>
            <p:ph type="title"/>
          </p:nvPr>
        </p:nvSpPr>
        <p:spPr>
          <a:xfrm>
            <a:off x="8719126" y="979051"/>
            <a:ext cx="2811879" cy="1807048"/>
          </a:xfrm>
        </p:spPr>
        <p:txBody>
          <a:bodyPr vert="horz" lIns="91440" tIns="45720" rIns="91440" bIns="45720" rtlCol="0" anchor="b">
            <a:normAutofit/>
          </a:bodyPr>
          <a:lstStyle/>
          <a:p>
            <a:r>
              <a:rPr lang="en-US" sz="3600"/>
              <a:t>Storing Scraped Data</a:t>
            </a:r>
          </a:p>
        </p:txBody>
      </p:sp>
      <p:sp>
        <p:nvSpPr>
          <p:cNvPr id="4" name="Content Placeholder 3">
            <a:extLst>
              <a:ext uri="{FF2B5EF4-FFF2-40B4-BE49-F238E27FC236}">
                <a16:creationId xmlns:a16="http://schemas.microsoft.com/office/drawing/2014/main" id="{1A62DB8C-CDC9-F319-3C1B-8ED2A893C50E}"/>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8719128" y="2922624"/>
            <a:ext cx="2811880" cy="3409950"/>
          </a:xfrm>
        </p:spPr>
        <p:txBody>
          <a:bodyPr>
            <a:normAutofit/>
          </a:bodyPr>
          <a:lstStyle/>
          <a:p>
            <a:pPr marL="0" indent="0">
              <a:spcBef>
                <a:spcPts val="2500"/>
              </a:spcBef>
              <a:buNone/>
            </a:pPr>
            <a:endParaRPr lang="en-US" sz="1400" b="1"/>
          </a:p>
          <a:p>
            <a:pPr marL="0" lvl="1" indent="0">
              <a:buNone/>
            </a:pPr>
            <a:r>
              <a:rPr lang="en-US" sz="1400"/>
              <a:t>Scraped data can be stored in various formats such as CSV, JSON, or databases depending on the nature of the data and the intended use.</a:t>
            </a:r>
            <a:endParaRPr lang="en-IN" sz="1400"/>
          </a:p>
        </p:txBody>
      </p:sp>
      <p:sp>
        <p:nvSpPr>
          <p:cNvPr id="3" name="Slide Number Placeholder 2">
            <a:extLst>
              <a:ext uri="{FF2B5EF4-FFF2-40B4-BE49-F238E27FC236}">
                <a16:creationId xmlns:a16="http://schemas.microsoft.com/office/drawing/2014/main" id="{9D25F586-89FA-783B-A192-9ED2681C830F}"/>
              </a:ext>
            </a:extLst>
          </p:cNvPr>
          <p:cNvSpPr>
            <a:spLocks noGrp="1"/>
          </p:cNvSpPr>
          <p:nvPr>
            <p:ph type="sldNum" sz="quarter" idx="12"/>
          </p:nvPr>
        </p:nvSpPr>
        <p:spPr/>
        <p:txBody>
          <a:bodyPr/>
          <a:lstStyle/>
          <a:p>
            <a:fld id="{70C12960-6E85-460F-B6E3-5B82CB31AF3D}" type="slidenum">
              <a:rPr lang="en-US" smtClean="0"/>
              <a:t>22</a:t>
            </a:fld>
            <a:endParaRPr lang="en-US"/>
          </a:p>
        </p:txBody>
      </p:sp>
    </p:spTree>
    <p:extLst>
      <p:ext uri="{BB962C8B-B14F-4D97-AF65-F5344CB8AC3E}">
        <p14:creationId xmlns:p14="http://schemas.microsoft.com/office/powerpoint/2010/main" val="203926997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A screen with lots of sports results and the pen of a bettor.">
            <a:extLst>
              <a:ext uri="{FF2B5EF4-FFF2-40B4-BE49-F238E27FC236}">
                <a16:creationId xmlns:a16="http://schemas.microsoft.com/office/drawing/2014/main" id="{B93DE787-5A96-465C-83FB-FB00D6B94853}"/>
              </a:ext>
            </a:extLst>
          </p:cNvPr>
          <p:cNvPicPr>
            <a:picLocks noGrp="1" noChangeAspect="1"/>
          </p:cNvPicPr>
          <p:nvPr>
            <p:ph sz="half" idx="1"/>
          </p:nvPr>
        </p:nvPicPr>
        <p:blipFill>
          <a:blip r:embed="rId3"/>
          <a:srcRect l="323" r="2" b="2"/>
          <a:stretch/>
        </p:blipFill>
        <p:spPr>
          <a:xfrm>
            <a:off x="20" y="535709"/>
            <a:ext cx="8229580" cy="5820640"/>
          </a:xfrm>
          <a:prstGeom prst="rect">
            <a:avLst/>
          </a:prstGeom>
        </p:spPr>
      </p:pic>
      <p:cxnSp>
        <p:nvCxnSpPr>
          <p:cNvPr id="14" name="Straight Connector 13">
            <a:extLst>
              <a:ext uri="{FF2B5EF4-FFF2-40B4-BE49-F238E27FC236}">
                <a16:creationId xmlns:a16="http://schemas.microsoft.com/office/drawing/2014/main" id="{02C7985C-B0C3-CC50-E86A-B5EBA40E01D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 y="6359240"/>
            <a:ext cx="8229600"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2AF4EEAB-0A9C-7BA3-62A9-4AD558063BC6}"/>
              </a:ext>
            </a:extLst>
          </p:cNvPr>
          <p:cNvSpPr>
            <a:spLocks noGrp="1"/>
          </p:cNvSpPr>
          <p:nvPr>
            <p:ph type="title"/>
          </p:nvPr>
        </p:nvSpPr>
        <p:spPr>
          <a:xfrm>
            <a:off x="8719126" y="979051"/>
            <a:ext cx="2811879" cy="1807048"/>
          </a:xfrm>
        </p:spPr>
        <p:txBody>
          <a:bodyPr vert="horz" lIns="91440" tIns="45720" rIns="91440" bIns="45720" rtlCol="0" anchor="b">
            <a:normAutofit/>
          </a:bodyPr>
          <a:lstStyle/>
          <a:p>
            <a:pPr>
              <a:lnSpc>
                <a:spcPct val="90000"/>
              </a:lnSpc>
            </a:pPr>
            <a:r>
              <a:rPr lang="en-US" sz="3100"/>
              <a:t>Data cleaning and processing post-scraping</a:t>
            </a:r>
          </a:p>
        </p:txBody>
      </p:sp>
      <p:sp>
        <p:nvSpPr>
          <p:cNvPr id="4" name="Content Placeholder 3">
            <a:extLst>
              <a:ext uri="{FF2B5EF4-FFF2-40B4-BE49-F238E27FC236}">
                <a16:creationId xmlns:a16="http://schemas.microsoft.com/office/drawing/2014/main" id="{CE8B964F-F36A-4A8A-B27C-87FB16F04DD0}"/>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8719128" y="2922624"/>
            <a:ext cx="2811880" cy="3409950"/>
          </a:xfrm>
        </p:spPr>
        <p:txBody>
          <a:bodyPr>
            <a:normAutofit/>
          </a:bodyPr>
          <a:lstStyle/>
          <a:p>
            <a:pPr marL="0" indent="0">
              <a:spcBef>
                <a:spcPts val="2500"/>
              </a:spcBef>
              <a:buNone/>
            </a:pPr>
            <a:endParaRPr lang="en-US" sz="1400" b="1"/>
          </a:p>
          <a:p>
            <a:pPr marL="0" lvl="1" indent="0">
              <a:buNone/>
            </a:pPr>
            <a:r>
              <a:rPr lang="en-US" sz="1400"/>
              <a:t>Data cleaning and processing is an important step in data analysis. It involves removing duplicates, correcting errors, and formatting data for analysis. This ensures that the data is accurate and consistent, and can be used effectively for analysis.</a:t>
            </a:r>
            <a:endParaRPr lang="en-IN" sz="1400"/>
          </a:p>
        </p:txBody>
      </p:sp>
      <p:sp>
        <p:nvSpPr>
          <p:cNvPr id="3" name="Slide Number Placeholder 2">
            <a:extLst>
              <a:ext uri="{FF2B5EF4-FFF2-40B4-BE49-F238E27FC236}">
                <a16:creationId xmlns:a16="http://schemas.microsoft.com/office/drawing/2014/main" id="{6D12F99B-CAF3-A22A-5D55-6B2A60C80C1B}"/>
              </a:ext>
            </a:extLst>
          </p:cNvPr>
          <p:cNvSpPr>
            <a:spLocks noGrp="1"/>
          </p:cNvSpPr>
          <p:nvPr>
            <p:ph type="sldNum" sz="quarter" idx="12"/>
          </p:nvPr>
        </p:nvSpPr>
        <p:spPr/>
        <p:txBody>
          <a:bodyPr/>
          <a:lstStyle/>
          <a:p>
            <a:fld id="{70C12960-6E85-460F-B6E3-5B82CB31AF3D}" type="slidenum">
              <a:rPr lang="en-US" smtClean="0"/>
              <a:t>23</a:t>
            </a:fld>
            <a:endParaRPr lang="en-US"/>
          </a:p>
        </p:txBody>
      </p:sp>
    </p:spTree>
    <p:extLst>
      <p:ext uri="{BB962C8B-B14F-4D97-AF65-F5344CB8AC3E}">
        <p14:creationId xmlns:p14="http://schemas.microsoft.com/office/powerpoint/2010/main" val="225951267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9" name="Rectangle 8">
            <a:extLst>
              <a:ext uri="{FF2B5EF4-FFF2-40B4-BE49-F238E27FC236}">
                <a16:creationId xmlns:a16="http://schemas.microsoft.com/office/drawing/2014/main" id="{46B9231A-B34B-4A29-A6AC-532E1EE815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randview Display"/>
              <a:ea typeface="+mn-ea"/>
              <a:cs typeface="+mn-cs"/>
            </a:endParaRPr>
          </a:p>
        </p:txBody>
      </p:sp>
      <p:sp useBgFill="1">
        <p:nvSpPr>
          <p:cNvPr id="11" name="Rectangle 10">
            <a:extLst>
              <a:ext uri="{FF2B5EF4-FFF2-40B4-BE49-F238E27FC236}">
                <a16:creationId xmlns:a16="http://schemas.microsoft.com/office/drawing/2014/main" id="{19F9BF86-FE94-4517-B97D-026C7515E5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randview Display"/>
              <a:ea typeface="+mn-ea"/>
              <a:cs typeface="+mn-cs"/>
            </a:endParaRPr>
          </a:p>
        </p:txBody>
      </p:sp>
      <p:sp>
        <p:nvSpPr>
          <p:cNvPr id="2" name="Title 1">
            <a:extLst>
              <a:ext uri="{FF2B5EF4-FFF2-40B4-BE49-F238E27FC236}">
                <a16:creationId xmlns:a16="http://schemas.microsoft.com/office/drawing/2014/main" id="{313BE2B1-1692-512B-A73E-3214C12E6A91}"/>
              </a:ext>
            </a:extLst>
          </p:cNvPr>
          <p:cNvSpPr>
            <a:spLocks noGrp="1"/>
          </p:cNvSpPr>
          <p:nvPr>
            <p:ph type="title"/>
          </p:nvPr>
        </p:nvSpPr>
        <p:spPr>
          <a:xfrm>
            <a:off x="559219" y="1115844"/>
            <a:ext cx="7680960" cy="4631911"/>
          </a:xfrm>
        </p:spPr>
        <p:txBody>
          <a:bodyPr vert="horz" lIns="91440" tIns="45720" rIns="91440" bIns="45720" rtlCol="0" anchor="b">
            <a:normAutofit/>
          </a:bodyPr>
          <a:lstStyle/>
          <a:p>
            <a:r>
              <a:rPr lang="en-US" sz="6500"/>
              <a:t>Handling Large-Scale Scraping</a:t>
            </a:r>
          </a:p>
        </p:txBody>
      </p:sp>
      <p:cxnSp>
        <p:nvCxnSpPr>
          <p:cNvPr id="13" name="Straight Connector 12">
            <a:extLst>
              <a:ext uri="{FF2B5EF4-FFF2-40B4-BE49-F238E27FC236}">
                <a16:creationId xmlns:a16="http://schemas.microsoft.com/office/drawing/2014/main" id="{53C0BBAA-A5EC-5D5D-32E6-9F7EA604848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23131" y="6268313"/>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3" name="Slide Number Placeholder 2">
            <a:extLst>
              <a:ext uri="{FF2B5EF4-FFF2-40B4-BE49-F238E27FC236}">
                <a16:creationId xmlns:a16="http://schemas.microsoft.com/office/drawing/2014/main" id="{CACEE661-EB5F-B32A-7101-3C8DCB12A787}"/>
              </a:ext>
            </a:extLst>
          </p:cNvPr>
          <p:cNvSpPr>
            <a:spLocks noGrp="1"/>
          </p:cNvSpPr>
          <p:nvPr>
            <p:ph type="sldNum" sz="quarter" idx="12"/>
          </p:nvPr>
        </p:nvSpPr>
        <p:spPr/>
        <p:txBody>
          <a:bodyPr/>
          <a:lstStyle/>
          <a:p>
            <a:fld id="{70C12960-6E85-460F-B6E3-5B82CB31AF3D}" type="slidenum">
              <a:rPr lang="en-US" smtClean="0"/>
              <a:t>24</a:t>
            </a:fld>
            <a:endParaRPr lang="en-US"/>
          </a:p>
        </p:txBody>
      </p:sp>
    </p:spTree>
    <p:extLst>
      <p:ext uri="{BB962C8B-B14F-4D97-AF65-F5344CB8AC3E}">
        <p14:creationId xmlns:p14="http://schemas.microsoft.com/office/powerpoint/2010/main" val="157100013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Illuminated server room panel">
            <a:extLst>
              <a:ext uri="{FF2B5EF4-FFF2-40B4-BE49-F238E27FC236}">
                <a16:creationId xmlns:a16="http://schemas.microsoft.com/office/drawing/2014/main" id="{2E6803A6-322B-43C4-9120-D2B9FC09F998}"/>
              </a:ext>
            </a:extLst>
          </p:cNvPr>
          <p:cNvPicPr>
            <a:picLocks noGrp="1" noChangeAspect="1"/>
          </p:cNvPicPr>
          <p:nvPr>
            <p:ph sz="half" idx="1"/>
          </p:nvPr>
        </p:nvPicPr>
        <p:blipFill>
          <a:blip r:embed="rId3"/>
          <a:srcRect r="5624" b="-1"/>
          <a:stretch/>
        </p:blipFill>
        <p:spPr>
          <a:xfrm>
            <a:off x="20" y="535709"/>
            <a:ext cx="8229580" cy="5820640"/>
          </a:xfrm>
          <a:prstGeom prst="rect">
            <a:avLst/>
          </a:prstGeom>
        </p:spPr>
      </p:pic>
      <p:cxnSp>
        <p:nvCxnSpPr>
          <p:cNvPr id="14" name="Straight Connector 13">
            <a:extLst>
              <a:ext uri="{FF2B5EF4-FFF2-40B4-BE49-F238E27FC236}">
                <a16:creationId xmlns:a16="http://schemas.microsoft.com/office/drawing/2014/main" id="{02C7985C-B0C3-CC50-E86A-B5EBA40E01D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 y="6359240"/>
            <a:ext cx="8229600"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E0FBF95E-B32A-6700-B428-B8D0B9D25F6C}"/>
              </a:ext>
            </a:extLst>
          </p:cNvPr>
          <p:cNvSpPr>
            <a:spLocks noGrp="1"/>
          </p:cNvSpPr>
          <p:nvPr>
            <p:ph type="title"/>
          </p:nvPr>
        </p:nvSpPr>
        <p:spPr>
          <a:xfrm>
            <a:off x="8719126" y="979051"/>
            <a:ext cx="2811879" cy="1807048"/>
          </a:xfrm>
        </p:spPr>
        <p:txBody>
          <a:bodyPr vert="horz" lIns="91440" tIns="45720" rIns="91440" bIns="45720" rtlCol="0" anchor="b">
            <a:normAutofit/>
          </a:bodyPr>
          <a:lstStyle/>
          <a:p>
            <a:pPr>
              <a:lnSpc>
                <a:spcPct val="90000"/>
              </a:lnSpc>
            </a:pPr>
            <a:r>
              <a:rPr lang="en-US" sz="3100"/>
              <a:t>Distributed Scraping and Parallel Processing</a:t>
            </a:r>
          </a:p>
        </p:txBody>
      </p:sp>
      <p:sp>
        <p:nvSpPr>
          <p:cNvPr id="4" name="Content Placeholder 3">
            <a:extLst>
              <a:ext uri="{FF2B5EF4-FFF2-40B4-BE49-F238E27FC236}">
                <a16:creationId xmlns:a16="http://schemas.microsoft.com/office/drawing/2014/main" id="{4764D93F-F781-CE99-4556-858A27A1EC1B}"/>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8719128" y="2922624"/>
            <a:ext cx="2811880" cy="3409950"/>
          </a:xfrm>
        </p:spPr>
        <p:txBody>
          <a:bodyPr>
            <a:normAutofit/>
          </a:bodyPr>
          <a:lstStyle/>
          <a:p>
            <a:pPr marL="0" indent="0">
              <a:spcBef>
                <a:spcPts val="2500"/>
              </a:spcBef>
              <a:buNone/>
            </a:pPr>
            <a:endParaRPr lang="en-US" sz="1400" b="1"/>
          </a:p>
          <a:p>
            <a:pPr marL="0" lvl="1" indent="0">
              <a:buNone/>
            </a:pPr>
            <a:r>
              <a:rPr lang="en-US" sz="1400"/>
              <a:t>Distributed scraping and parallel processing can significantly increase the speed of large-scale scraping jobs. This involves using multiple machines to scrape data in parallel, which can lead to faster data retrieval and more efficient processing.</a:t>
            </a:r>
            <a:endParaRPr lang="en-IN" sz="1400"/>
          </a:p>
        </p:txBody>
      </p:sp>
      <p:sp>
        <p:nvSpPr>
          <p:cNvPr id="3" name="Slide Number Placeholder 2">
            <a:extLst>
              <a:ext uri="{FF2B5EF4-FFF2-40B4-BE49-F238E27FC236}">
                <a16:creationId xmlns:a16="http://schemas.microsoft.com/office/drawing/2014/main" id="{CC6F7533-7ADC-5E4B-0F4C-7EC4B596F3C5}"/>
              </a:ext>
            </a:extLst>
          </p:cNvPr>
          <p:cNvSpPr>
            <a:spLocks noGrp="1"/>
          </p:cNvSpPr>
          <p:nvPr>
            <p:ph type="sldNum" sz="quarter" idx="12"/>
          </p:nvPr>
        </p:nvSpPr>
        <p:spPr/>
        <p:txBody>
          <a:bodyPr/>
          <a:lstStyle/>
          <a:p>
            <a:fld id="{70C12960-6E85-460F-B6E3-5B82CB31AF3D}" type="slidenum">
              <a:rPr lang="en-US" smtClean="0"/>
              <a:t>25</a:t>
            </a:fld>
            <a:endParaRPr lang="en-US"/>
          </a:p>
        </p:txBody>
      </p:sp>
    </p:spTree>
    <p:extLst>
      <p:ext uri="{BB962C8B-B14F-4D97-AF65-F5344CB8AC3E}">
        <p14:creationId xmlns:p14="http://schemas.microsoft.com/office/powerpoint/2010/main" val="358542646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Cloud Computing with Smartphone, Laptop, Desktop Computer and Tablet">
            <a:extLst>
              <a:ext uri="{FF2B5EF4-FFF2-40B4-BE49-F238E27FC236}">
                <a16:creationId xmlns:a16="http://schemas.microsoft.com/office/drawing/2014/main" id="{A46F7522-0A75-4B2A-9C8C-9E8CD2DF2043}"/>
              </a:ext>
            </a:extLst>
          </p:cNvPr>
          <p:cNvPicPr>
            <a:picLocks noGrp="1" noChangeAspect="1"/>
          </p:cNvPicPr>
          <p:nvPr>
            <p:ph sz="half" idx="1"/>
          </p:nvPr>
        </p:nvPicPr>
        <p:blipFill>
          <a:blip r:embed="rId3"/>
          <a:srcRect l="4048" r="1576" b="-1"/>
          <a:stretch/>
        </p:blipFill>
        <p:spPr>
          <a:xfrm>
            <a:off x="20" y="535709"/>
            <a:ext cx="8229580" cy="5820640"/>
          </a:xfrm>
          <a:prstGeom prst="rect">
            <a:avLst/>
          </a:prstGeom>
        </p:spPr>
      </p:pic>
      <p:cxnSp>
        <p:nvCxnSpPr>
          <p:cNvPr id="14" name="Straight Connector 13">
            <a:extLst>
              <a:ext uri="{FF2B5EF4-FFF2-40B4-BE49-F238E27FC236}">
                <a16:creationId xmlns:a16="http://schemas.microsoft.com/office/drawing/2014/main" id="{02C7985C-B0C3-CC50-E86A-B5EBA40E01D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 y="6359240"/>
            <a:ext cx="8229600"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4C5AFA21-24A2-5D13-7D9A-D63A4CAA24DA}"/>
              </a:ext>
            </a:extLst>
          </p:cNvPr>
          <p:cNvSpPr>
            <a:spLocks noGrp="1"/>
          </p:cNvSpPr>
          <p:nvPr>
            <p:ph type="title"/>
          </p:nvPr>
        </p:nvSpPr>
        <p:spPr>
          <a:xfrm>
            <a:off x="8719126" y="979051"/>
            <a:ext cx="2811879" cy="1807048"/>
          </a:xfrm>
        </p:spPr>
        <p:txBody>
          <a:bodyPr vert="horz" lIns="91440" tIns="45720" rIns="91440" bIns="45720" rtlCol="0" anchor="b">
            <a:normAutofit/>
          </a:bodyPr>
          <a:lstStyle/>
          <a:p>
            <a:pPr>
              <a:lnSpc>
                <a:spcPct val="90000"/>
              </a:lnSpc>
            </a:pPr>
            <a:r>
              <a:rPr lang="en-US" sz="3100"/>
              <a:t>Use of Cloud Infrastructure for Large Scraping Jobs</a:t>
            </a:r>
          </a:p>
        </p:txBody>
      </p:sp>
      <p:sp>
        <p:nvSpPr>
          <p:cNvPr id="4" name="Content Placeholder 3">
            <a:extLst>
              <a:ext uri="{FF2B5EF4-FFF2-40B4-BE49-F238E27FC236}">
                <a16:creationId xmlns:a16="http://schemas.microsoft.com/office/drawing/2014/main" id="{B1733FF7-EB5B-B867-89B8-79302A54EFC7}"/>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8719128" y="2922624"/>
            <a:ext cx="2811880" cy="3409950"/>
          </a:xfrm>
        </p:spPr>
        <p:txBody>
          <a:bodyPr>
            <a:normAutofit/>
          </a:bodyPr>
          <a:lstStyle/>
          <a:p>
            <a:pPr marL="0" indent="0">
              <a:spcBef>
                <a:spcPts val="2500"/>
              </a:spcBef>
              <a:buNone/>
            </a:pPr>
            <a:endParaRPr lang="en-US" sz="1400" b="1"/>
          </a:p>
          <a:p>
            <a:pPr marL="0" lvl="1" indent="0">
              <a:buNone/>
            </a:pPr>
            <a:r>
              <a:rPr lang="en-US" sz="1400"/>
              <a:t>Cloud infrastructure provides on-demand computing resources that can be used to handle large-scale scraping jobs. This allows users to scale up their operations as needed and complete their scraping tasks efficiently.</a:t>
            </a:r>
            <a:endParaRPr lang="en-IN" sz="1400"/>
          </a:p>
        </p:txBody>
      </p:sp>
      <p:sp>
        <p:nvSpPr>
          <p:cNvPr id="3" name="Slide Number Placeholder 2">
            <a:extLst>
              <a:ext uri="{FF2B5EF4-FFF2-40B4-BE49-F238E27FC236}">
                <a16:creationId xmlns:a16="http://schemas.microsoft.com/office/drawing/2014/main" id="{048594CE-60EF-C416-D336-84C31F56D74F}"/>
              </a:ext>
            </a:extLst>
          </p:cNvPr>
          <p:cNvSpPr>
            <a:spLocks noGrp="1"/>
          </p:cNvSpPr>
          <p:nvPr>
            <p:ph type="sldNum" sz="quarter" idx="12"/>
          </p:nvPr>
        </p:nvSpPr>
        <p:spPr/>
        <p:txBody>
          <a:bodyPr/>
          <a:lstStyle/>
          <a:p>
            <a:fld id="{70C12960-6E85-460F-B6E3-5B82CB31AF3D}" type="slidenum">
              <a:rPr lang="en-US" smtClean="0"/>
              <a:t>26</a:t>
            </a:fld>
            <a:endParaRPr lang="en-US"/>
          </a:p>
        </p:txBody>
      </p:sp>
    </p:spTree>
    <p:extLst>
      <p:ext uri="{BB962C8B-B14F-4D97-AF65-F5344CB8AC3E}">
        <p14:creationId xmlns:p14="http://schemas.microsoft.com/office/powerpoint/2010/main" val="225105564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DE271AA-B13D-127B-31C2-070146FFF0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8F624EEF-1A0B-75D9-C06C-2AFD4DEBDD5A}"/>
              </a:ext>
            </a:extLst>
          </p:cNvPr>
          <p:cNvSpPr>
            <a:spLocks noGrp="1"/>
          </p:cNvSpPr>
          <p:nvPr>
            <p:ph type="title"/>
          </p:nvPr>
        </p:nvSpPr>
        <p:spPr>
          <a:xfrm>
            <a:off x="1225391" y="2235581"/>
            <a:ext cx="3863845" cy="1290399"/>
          </a:xfrm>
        </p:spPr>
        <p:txBody>
          <a:bodyPr anchor="t">
            <a:normAutofit/>
          </a:bodyPr>
          <a:lstStyle/>
          <a:p>
            <a:r>
              <a:rPr lang="en-IN" sz="5400"/>
              <a:t>Conclusion</a:t>
            </a:r>
          </a:p>
        </p:txBody>
      </p:sp>
      <p:sp>
        <p:nvSpPr>
          <p:cNvPr id="3" name="Content Placeholder 2">
            <a:extLst>
              <a:ext uri="{FF2B5EF4-FFF2-40B4-BE49-F238E27FC236}">
                <a16:creationId xmlns:a16="http://schemas.microsoft.com/office/drawing/2014/main" id="{3FABEB2D-701D-DF0F-2392-ECCC9EAF6B3B}"/>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09641" y="2306956"/>
            <a:ext cx="4864608" cy="2221992"/>
          </a:xfrm>
        </p:spPr>
        <p:txBody>
          <a:bodyPr>
            <a:normAutofit/>
          </a:bodyPr>
          <a:lstStyle/>
          <a:p>
            <a:pPr marL="0" indent="0">
              <a:spcBef>
                <a:spcPts val="2500"/>
              </a:spcBef>
              <a:buNone/>
            </a:pPr>
            <a:endParaRPr lang="en-US" sz="1400" b="1"/>
          </a:p>
          <a:p>
            <a:pPr marL="0" lvl="1" indent="0">
              <a:buNone/>
            </a:pPr>
            <a:r>
              <a:rPr lang="en-US" sz="1400"/>
              <a:t>By using web scraping techniques, tools and ethical practices, businesses can extract valuable data insights and make informed decisions based on that data to stay ahead of the competition.</a:t>
            </a:r>
            <a:endParaRPr lang="en-IN" sz="1400"/>
          </a:p>
        </p:txBody>
      </p:sp>
      <p:sp>
        <p:nvSpPr>
          <p:cNvPr id="4" name="Slide Number Placeholder 3">
            <a:extLst>
              <a:ext uri="{FF2B5EF4-FFF2-40B4-BE49-F238E27FC236}">
                <a16:creationId xmlns:a16="http://schemas.microsoft.com/office/drawing/2014/main" id="{B3756DF1-3263-AD26-91CA-E8B10D72E2DB}"/>
              </a:ext>
            </a:extLst>
          </p:cNvPr>
          <p:cNvSpPr>
            <a:spLocks noGrp="1"/>
          </p:cNvSpPr>
          <p:nvPr>
            <p:ph type="sldNum" sz="quarter" idx="12"/>
          </p:nvPr>
        </p:nvSpPr>
        <p:spPr/>
        <p:txBody>
          <a:bodyPr/>
          <a:lstStyle/>
          <a:p>
            <a:fld id="{70C12960-6E85-460F-B6E3-5B82CB31AF3D}" type="slidenum">
              <a:rPr lang="en-US" smtClean="0"/>
              <a:t>27</a:t>
            </a:fld>
            <a:endParaRPr lang="en-US"/>
          </a:p>
        </p:txBody>
      </p:sp>
    </p:spTree>
    <p:extLst>
      <p:ext uri="{BB962C8B-B14F-4D97-AF65-F5344CB8AC3E}">
        <p14:creationId xmlns:p14="http://schemas.microsoft.com/office/powerpoint/2010/main" val="184894220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anim calcmode="lin" valueType="num">
                                      <p:cBhvr>
                                        <p:cTn id="8" dur="250" fill="hold"/>
                                        <p:tgtEl>
                                          <p:spTgt spid="3"/>
                                        </p:tgtEl>
                                        <p:attrNameLst>
                                          <p:attrName>ppt_x</p:attrName>
                                        </p:attrNameLst>
                                      </p:cBhvr>
                                      <p:tavLst>
                                        <p:tav tm="0">
                                          <p:val>
                                            <p:strVal val="#ppt_x"/>
                                          </p:val>
                                        </p:tav>
                                        <p:tav tm="100000">
                                          <p:val>
                                            <p:strVal val="#ppt_x"/>
                                          </p:val>
                                        </p:tav>
                                      </p:tavLst>
                                    </p:anim>
                                    <p:anim calcmode="lin" valueType="num">
                                      <p:cBhvr>
                                        <p:cTn id="9"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theme/theme1.xml><?xml version="1.0" encoding="utf-8"?>
<a:theme xmlns:a="http://schemas.openxmlformats.org/drawingml/2006/main" name="DashVTI">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grandview display">
      <a:majorFont>
        <a:latin typeface="Grandview Display"/>
        <a:ea typeface=""/>
        <a:cs typeface=""/>
      </a:majorFont>
      <a:minorFont>
        <a:latin typeface="Grandview Display"/>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ashVTI" id="{0A75137F-CDEB-4E94-A788-9D255EBE1B91}" vid="{DE9A6A09-5855-45A3-8E99-4290ED24057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2416</Words>
  <Application>Microsoft Office PowerPoint</Application>
  <PresentationFormat>Widescreen</PresentationFormat>
  <Paragraphs>182</Paragraphs>
  <Slides>27</Slides>
  <Notes>27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27</vt:i4>
      </vt:variant>
    </vt:vector>
  </HeadingPairs>
  <TitlesOfParts>
    <vt:vector size="32" baseType="lpstr">
      <vt:lpstr>Aptos</vt:lpstr>
      <vt:lpstr>Arial</vt:lpstr>
      <vt:lpstr>Grandview Display</vt:lpstr>
      <vt:lpstr>Neue Haas Grotesk Text Pro</vt:lpstr>
      <vt:lpstr>DashVTI</vt:lpstr>
      <vt:lpstr>Mastering Web Scraping for Data Extraction</vt:lpstr>
      <vt:lpstr>Agenda Items</vt:lpstr>
      <vt:lpstr>Introduction to Web Scraping</vt:lpstr>
      <vt:lpstr>Definition and Purpose of Web Scraping</vt:lpstr>
      <vt:lpstr>Use cases of Web Scraping</vt:lpstr>
      <vt:lpstr>Web Scraping Techniques</vt:lpstr>
      <vt:lpstr>Parsing HTML</vt:lpstr>
      <vt:lpstr>Navigating through DOM structures</vt:lpstr>
      <vt:lpstr>Handling dynamic content</vt:lpstr>
      <vt:lpstr>Web Scraping Tools and Libraries</vt:lpstr>
      <vt:lpstr>Python Libraries</vt:lpstr>
      <vt:lpstr>Browser automation with Selenium</vt:lpstr>
      <vt:lpstr>Cloud-based scraping tools</vt:lpstr>
      <vt:lpstr>Ethics and Legal Considerations in Web Scraping</vt:lpstr>
      <vt:lpstr>Complying with Website Terms of Service</vt:lpstr>
      <vt:lpstr>Handling rate limits and avoiding IP blocking</vt:lpstr>
      <vt:lpstr>Ethical data scraping and avoiding copyright infringement</vt:lpstr>
      <vt:lpstr>Dealing with Anti-Scraping Mechanisms</vt:lpstr>
      <vt:lpstr>Managing CAPTCHA</vt:lpstr>
      <vt:lpstr>IP rotation and user-agent spoofing</vt:lpstr>
      <vt:lpstr>Saving and Exporting Scraped Data</vt:lpstr>
      <vt:lpstr>Storing Scraped Data</vt:lpstr>
      <vt:lpstr>Data cleaning and processing post-scraping</vt:lpstr>
      <vt:lpstr>Handling Large-Scale Scraping</vt:lpstr>
      <vt:lpstr>Distributed Scraping and Parallel Processing</vt:lpstr>
      <vt:lpstr>Use of Cloud Infrastructure for Large Scraping Jobs</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Arnab Chakraborty</dc:creator>
  <cp:lastModifiedBy>Arnab Chakraborty</cp:lastModifiedBy>
  <cp:revision>2</cp:revision>
  <dcterms:created xsi:type="dcterms:W3CDTF">2024-10-03T12:23:48Z</dcterms:created>
  <dcterms:modified xsi:type="dcterms:W3CDTF">2024-10-04T02:35:18Z</dcterms:modified>
</cp:coreProperties>
</file>