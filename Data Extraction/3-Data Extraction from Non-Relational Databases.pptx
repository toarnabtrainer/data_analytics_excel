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 id="2578" r:id="rId19"/>
    <p:sldId id="257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ata Extraction from Non-Relational Databases" id="{BC06A3C9-96FF-4150-9AA4-99ECDD5EB58A}">
          <p14:sldIdLst>
            <p14:sldId id="2561"/>
            <p14:sldId id="2562"/>
          </p14:sldIdLst>
        </p14:section>
        <p14:section name="Overview of Non-Relational Databases (NoSQL)" id="{6E8D5199-100A-4F8D-B9C4-155226E8018B}">
          <p14:sldIdLst>
            <p14:sldId id="2563"/>
            <p14:sldId id="2564"/>
            <p14:sldId id="2565"/>
          </p14:sldIdLst>
        </p14:section>
        <p14:section name="Key NoSQL Databases" id="{D87547F2-7952-4CB5-8D61-6DE626026F23}">
          <p14:sldIdLst>
            <p14:sldId id="2566"/>
            <p14:sldId id="2567"/>
          </p14:sldIdLst>
        </p14:section>
        <p14:section name="Querying Data from NoSQL Databases" id="{AFAF27E7-02C4-4B34-83A3-309A85B4FE02}">
          <p14:sldIdLst>
            <p14:sldId id="2568"/>
            <p14:sldId id="2569"/>
            <p14:sldId id="2570"/>
            <p14:sldId id="2571"/>
            <p14:sldId id="2572"/>
          </p14:sldIdLst>
        </p14:section>
        <p14:section name="Handling Non-Relational Data Extraction Challenges" id="{C482C856-E3A0-4F12-ADBF-BD5072004220}">
          <p14:sldIdLst>
            <p14:sldId id="2573"/>
            <p14:sldId id="2574"/>
            <p14:sldId id="2575"/>
          </p14:sldIdLst>
        </p14:section>
        <p14:section name="Tools for Data Extraction from NoSQL Databases" id="{9F4FE2DE-2921-4910-8223-76204646149E}">
          <p14:sldIdLst>
            <p14:sldId id="2576"/>
            <p14:sldId id="2577"/>
            <p14:sldId id="2578"/>
          </p14:sldIdLst>
        </p14:section>
        <p14:section name="Conclusion" id="{04ACECE1-D36C-490D-AC2B-5509A9C23847}">
          <p14:sldIdLst>
            <p14:sldId id="257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994" autoAdjust="0"/>
  </p:normalViewPr>
  <p:slideViewPr>
    <p:cSldViewPr snapToGrid="0">
      <p:cViewPr varScale="1">
        <p:scale>
          <a:sx n="89" d="100"/>
          <a:sy n="89" d="100"/>
        </p:scale>
        <p:origin x="346" y="610"/>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ABD4C0-A852-49C9-AC39-C3316EE476DA}" type="datetimeFigureOut">
              <a:rPr lang="en-IN" smtClean="0"/>
              <a:t>03-Oct-2024 Thu</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B64AA6-9D3C-429E-A8A1-5D689D2C5082}" type="slidenum">
              <a:rPr lang="en-IN" smtClean="0"/>
              <a:t>‹#›</a:t>
            </a:fld>
            <a:endParaRPr lang="en-IN"/>
          </a:p>
        </p:txBody>
      </p:sp>
    </p:spTree>
    <p:extLst>
      <p:ext uri="{BB962C8B-B14F-4D97-AF65-F5344CB8AC3E}">
        <p14:creationId xmlns:p14="http://schemas.microsoft.com/office/powerpoint/2010/main" val="1930479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In this presentation, we will explore how to extract data from non-relational or NoSQL databases. We will cover the key differences between relational and non-relational databases, the types of NoSQL databases, and key NoSQL databases. We will dive into querying data from NoSQL databases, handling non-relational data extraction challenges, and the tools for data extraction from NoSQL databases.</a:t>
            </a:r>
          </a:p>
        </p:txBody>
      </p:sp>
      <p:sp>
        <p:nvSpPr>
          <p:cNvPr id="4" name="Slide Number Placeholder 3"/>
          <p:cNvSpPr>
            <a:spLocks noGrp="1"/>
          </p:cNvSpPr>
          <p:nvPr>
            <p:ph type="sldNum" sz="quarter" idx="5"/>
          </p:nvPr>
        </p:nvSpPr>
        <p:spPr/>
        <p:txBody>
          <a:bodyPr/>
          <a:lstStyle/>
          <a:p>
            <a:fld id="{3593C128-689A-49B3-92CF-62EE5D11F5F1}" type="slidenum">
              <a:rPr lang="en-IN" smtClean="0"/>
              <a:t>1</a:t>
            </a:fld>
            <a:endParaRPr lang="en-IN"/>
          </a:p>
        </p:txBody>
      </p:sp>
    </p:spTree>
    <p:extLst>
      <p:ext uri="{BB962C8B-B14F-4D97-AF65-F5344CB8AC3E}">
        <p14:creationId xmlns:p14="http://schemas.microsoft.com/office/powerpoint/2010/main" val="31089091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In this presentation, we will start by discussing the basics of non-relational databases and their differences from traditional relational databases. We will then take a deeper dive into some of the most common NoSQL databases like MongoDB, Cassandra, and Couchbase. We will cover querying data from NoSQL databases and the challenges that come along with non-relational data extraction. Finally, we will discuss the various tools that aid us in extracting data from NoSQL databases.</a:t>
            </a:r>
          </a:p>
        </p:txBody>
      </p:sp>
      <p:sp>
        <p:nvSpPr>
          <p:cNvPr id="4" name="Slide Number Placeholder 3"/>
          <p:cNvSpPr>
            <a:spLocks noGrp="1"/>
          </p:cNvSpPr>
          <p:nvPr>
            <p:ph type="sldNum" sz="quarter" idx="5"/>
          </p:nvPr>
        </p:nvSpPr>
        <p:spPr/>
        <p:txBody>
          <a:bodyPr/>
          <a:lstStyle/>
          <a:p>
            <a:fld id="{3593C128-689A-49B3-92CF-62EE5D11F5F1}" type="slidenum">
              <a:rPr lang="en-IN" smtClean="0"/>
              <a:t>2</a:t>
            </a:fld>
            <a:endParaRPr lang="en-IN"/>
          </a:p>
        </p:txBody>
      </p:sp>
    </p:spTree>
    <p:extLst>
      <p:ext uri="{BB962C8B-B14F-4D97-AF65-F5344CB8AC3E}">
        <p14:creationId xmlns:p14="http://schemas.microsoft.com/office/powerpoint/2010/main" val="34189301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Non-relational databases or NoSQL databases, as they are commonly known, are a type of database management system that stores data in a non-tabular format. In this section, we will discuss the key differences between relational and non-relational databases and the types of NoSQL databases that exist today, including key-value stores, document stores, column-family stores, and graph databases.</a:t>
            </a:r>
          </a:p>
        </p:txBody>
      </p:sp>
      <p:sp>
        <p:nvSpPr>
          <p:cNvPr id="4" name="Slide Number Placeholder 3"/>
          <p:cNvSpPr>
            <a:spLocks noGrp="1"/>
          </p:cNvSpPr>
          <p:nvPr>
            <p:ph type="sldNum" sz="quarter" idx="5"/>
          </p:nvPr>
        </p:nvSpPr>
        <p:spPr/>
        <p:txBody>
          <a:bodyPr/>
          <a:lstStyle/>
          <a:p>
            <a:fld id="{3593C128-689A-49B3-92CF-62EE5D11F5F1}" type="slidenum">
              <a:rPr lang="en-IN" smtClean="0"/>
              <a:t>3</a:t>
            </a:fld>
            <a:endParaRPr lang="en-IN"/>
          </a:p>
        </p:txBody>
      </p:sp>
    </p:spTree>
    <p:extLst>
      <p:ext uri="{BB962C8B-B14F-4D97-AF65-F5344CB8AC3E}">
        <p14:creationId xmlns:p14="http://schemas.microsoft.com/office/powerpoint/2010/main" val="12417205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Relational databases store data in tables with predefined columns and rows, while non-relational databases store data in various formats such as key-value pairs, documents, and graphs. Non-relational databases are more flexible and can handle unstructured and semi-structured data better than relational databases.</a:t>
            </a:r>
          </a:p>
        </p:txBody>
      </p:sp>
      <p:sp>
        <p:nvSpPr>
          <p:cNvPr id="4" name="Slide Number Placeholder 3"/>
          <p:cNvSpPr>
            <a:spLocks noGrp="1"/>
          </p:cNvSpPr>
          <p:nvPr>
            <p:ph type="sldNum" sz="quarter" idx="5"/>
          </p:nvPr>
        </p:nvSpPr>
        <p:spPr/>
        <p:txBody>
          <a:bodyPr/>
          <a:lstStyle/>
          <a:p>
            <a:fld id="{3593C128-689A-49B3-92CF-62EE5D11F5F1}" type="slidenum">
              <a:rPr lang="en-IN" smtClean="0"/>
              <a:t>4</a:t>
            </a:fld>
            <a:endParaRPr lang="en-IN"/>
          </a:p>
        </p:txBody>
      </p:sp>
    </p:spTree>
    <p:extLst>
      <p:ext uri="{BB962C8B-B14F-4D97-AF65-F5344CB8AC3E}">
        <p14:creationId xmlns:p14="http://schemas.microsoft.com/office/powerpoint/2010/main" val="10416153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NoSQL databases can be classified into four categories: key-value stores, document stores, column-family stores, and graph databases. Each type of NoSQL database has its strengths and weaknesses, and organizations choose the type that best fits their needs.</a:t>
            </a:r>
          </a:p>
        </p:txBody>
      </p:sp>
      <p:sp>
        <p:nvSpPr>
          <p:cNvPr id="4" name="Slide Number Placeholder 3"/>
          <p:cNvSpPr>
            <a:spLocks noGrp="1"/>
          </p:cNvSpPr>
          <p:nvPr>
            <p:ph type="sldNum" sz="quarter" idx="5"/>
          </p:nvPr>
        </p:nvSpPr>
        <p:spPr/>
        <p:txBody>
          <a:bodyPr/>
          <a:lstStyle/>
          <a:p>
            <a:fld id="{3593C128-689A-49B3-92CF-62EE5D11F5F1}" type="slidenum">
              <a:rPr lang="en-IN" smtClean="0"/>
              <a:t>5</a:t>
            </a:fld>
            <a:endParaRPr lang="en-IN"/>
          </a:p>
        </p:txBody>
      </p:sp>
    </p:spTree>
    <p:extLst>
      <p:ext uri="{BB962C8B-B14F-4D97-AF65-F5344CB8AC3E}">
        <p14:creationId xmlns:p14="http://schemas.microsoft.com/office/powerpoint/2010/main" val="29674420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In this section, we will discuss some of the most commonly used NoSQL databases like MongoDB, Cassandra, Couchbase, and DynamoDB. We will also explore the use cases for NoSQL databases like scalability and flexibility.</a:t>
            </a:r>
          </a:p>
        </p:txBody>
      </p:sp>
      <p:sp>
        <p:nvSpPr>
          <p:cNvPr id="4" name="Slide Number Placeholder 3"/>
          <p:cNvSpPr>
            <a:spLocks noGrp="1"/>
          </p:cNvSpPr>
          <p:nvPr>
            <p:ph type="sldNum" sz="quarter" idx="5"/>
          </p:nvPr>
        </p:nvSpPr>
        <p:spPr/>
        <p:txBody>
          <a:bodyPr/>
          <a:lstStyle/>
          <a:p>
            <a:fld id="{3593C128-689A-49B3-92CF-62EE5D11F5F1}" type="slidenum">
              <a:rPr lang="en-IN" smtClean="0"/>
              <a:t>6</a:t>
            </a:fld>
            <a:endParaRPr lang="en-IN"/>
          </a:p>
        </p:txBody>
      </p:sp>
    </p:spTree>
    <p:extLst>
      <p:ext uri="{BB962C8B-B14F-4D97-AF65-F5344CB8AC3E}">
        <p14:creationId xmlns:p14="http://schemas.microsoft.com/office/powerpoint/2010/main" val="2031173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MongoDB is a document store database that is widely used for its flexibility and scalability. Cassandra is a column-family store database that can handle large amounts of data and has high availability. Couchbase is a key-value store database that is widely used for its high performance and ease of use. DynamoDB is a key-value store database that is highly scalable and provides low latency access to data.</a:t>
            </a:r>
          </a:p>
        </p:txBody>
      </p:sp>
      <p:sp>
        <p:nvSpPr>
          <p:cNvPr id="4" name="Slide Number Placeholder 3"/>
          <p:cNvSpPr>
            <a:spLocks noGrp="1"/>
          </p:cNvSpPr>
          <p:nvPr>
            <p:ph type="sldNum" sz="quarter" idx="5"/>
          </p:nvPr>
        </p:nvSpPr>
        <p:spPr/>
        <p:txBody>
          <a:bodyPr/>
          <a:lstStyle/>
          <a:p>
            <a:fld id="{3593C128-689A-49B3-92CF-62EE5D11F5F1}" type="slidenum">
              <a:rPr lang="en-IN" smtClean="0"/>
              <a:t>7</a:t>
            </a:fld>
            <a:endParaRPr lang="en-IN"/>
          </a:p>
        </p:txBody>
      </p:sp>
    </p:spTree>
    <p:extLst>
      <p:ext uri="{BB962C8B-B14F-4D97-AF65-F5344CB8AC3E}">
        <p14:creationId xmlns:p14="http://schemas.microsoft.com/office/powerpoint/2010/main" val="39805657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In this section, we will discuss how to query data from NoSQL databases. We will cover the query languages used for NoSQL databases like MongoDB's query language and Cassandra CQL. We will also explore how to extract data from document databases like MongoDB, key-value stores like Redis and DynamoDB, and column-family databases like Cassandra and HBase.</a:t>
            </a:r>
          </a:p>
        </p:txBody>
      </p:sp>
      <p:sp>
        <p:nvSpPr>
          <p:cNvPr id="4" name="Slide Number Placeholder 3"/>
          <p:cNvSpPr>
            <a:spLocks noGrp="1"/>
          </p:cNvSpPr>
          <p:nvPr>
            <p:ph type="sldNum" sz="quarter" idx="5"/>
          </p:nvPr>
        </p:nvSpPr>
        <p:spPr/>
        <p:txBody>
          <a:bodyPr/>
          <a:lstStyle/>
          <a:p>
            <a:fld id="{3593C128-689A-49B3-92CF-62EE5D11F5F1}" type="slidenum">
              <a:rPr lang="en-IN" smtClean="0"/>
              <a:t>8</a:t>
            </a:fld>
            <a:endParaRPr lang="en-IN"/>
          </a:p>
        </p:txBody>
      </p:sp>
    </p:spTree>
    <p:extLst>
      <p:ext uri="{BB962C8B-B14F-4D97-AF65-F5344CB8AC3E}">
        <p14:creationId xmlns:p14="http://schemas.microsoft.com/office/powerpoint/2010/main" val="22488502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Query languages for NoSQL databases like MongoDB's query language and Cassandra CQL are similar to SQL in that they allow us to retrieve and manipulate data from the database. However, these query languages have their syntax and data retrieval mechanisms that are suited for their respective databases.</a:t>
            </a:r>
          </a:p>
        </p:txBody>
      </p:sp>
      <p:sp>
        <p:nvSpPr>
          <p:cNvPr id="4" name="Slide Number Placeholder 3"/>
          <p:cNvSpPr>
            <a:spLocks noGrp="1"/>
          </p:cNvSpPr>
          <p:nvPr>
            <p:ph type="sldNum" sz="quarter" idx="5"/>
          </p:nvPr>
        </p:nvSpPr>
        <p:spPr/>
        <p:txBody>
          <a:bodyPr/>
          <a:lstStyle/>
          <a:p>
            <a:fld id="{3593C128-689A-49B3-92CF-62EE5D11F5F1}" type="slidenum">
              <a:rPr lang="en-IN" smtClean="0"/>
              <a:t>9</a:t>
            </a:fld>
            <a:endParaRPr lang="en-IN"/>
          </a:p>
        </p:txBody>
      </p:sp>
    </p:spTree>
    <p:extLst>
      <p:ext uri="{BB962C8B-B14F-4D97-AF65-F5344CB8AC3E}">
        <p14:creationId xmlns:p14="http://schemas.microsoft.com/office/powerpoint/2010/main" val="31905911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In MongoDB, data is stored in documents, which are similar to JSON objects. We can use various operators and methods to extract data from MongoDB databases.</a:t>
            </a:r>
          </a:p>
        </p:txBody>
      </p:sp>
      <p:sp>
        <p:nvSpPr>
          <p:cNvPr id="4" name="Slide Number Placeholder 3"/>
          <p:cNvSpPr>
            <a:spLocks noGrp="1"/>
          </p:cNvSpPr>
          <p:nvPr>
            <p:ph type="sldNum" sz="quarter" idx="5"/>
          </p:nvPr>
        </p:nvSpPr>
        <p:spPr/>
        <p:txBody>
          <a:bodyPr/>
          <a:lstStyle/>
          <a:p>
            <a:fld id="{3593C128-689A-49B3-92CF-62EE5D11F5F1}" type="slidenum">
              <a:rPr lang="en-IN" smtClean="0"/>
              <a:t>10</a:t>
            </a:fld>
            <a:endParaRPr lang="en-IN"/>
          </a:p>
        </p:txBody>
      </p:sp>
    </p:spTree>
    <p:extLst>
      <p:ext uri="{BB962C8B-B14F-4D97-AF65-F5344CB8AC3E}">
        <p14:creationId xmlns:p14="http://schemas.microsoft.com/office/powerpoint/2010/main" val="28918321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Key-value stores like Redis and DynamoDB are simple but powerful databases that can store large amounts of data in key-value pairs. We can use various APIs to extract data from these databases.</a:t>
            </a:r>
          </a:p>
        </p:txBody>
      </p:sp>
      <p:sp>
        <p:nvSpPr>
          <p:cNvPr id="4" name="Slide Number Placeholder 3"/>
          <p:cNvSpPr>
            <a:spLocks noGrp="1"/>
          </p:cNvSpPr>
          <p:nvPr>
            <p:ph type="sldNum" sz="quarter" idx="5"/>
          </p:nvPr>
        </p:nvSpPr>
        <p:spPr/>
        <p:txBody>
          <a:bodyPr/>
          <a:lstStyle/>
          <a:p>
            <a:fld id="{3593C128-689A-49B3-92CF-62EE5D11F5F1}" type="slidenum">
              <a:rPr lang="en-IN" smtClean="0"/>
              <a:t>11</a:t>
            </a:fld>
            <a:endParaRPr lang="en-IN"/>
          </a:p>
        </p:txBody>
      </p:sp>
    </p:spTree>
    <p:extLst>
      <p:ext uri="{BB962C8B-B14F-4D97-AF65-F5344CB8AC3E}">
        <p14:creationId xmlns:p14="http://schemas.microsoft.com/office/powerpoint/2010/main" val="39061688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Column-family stores like Cassandra and HBase can handle large amounts of data and have high availability. We can use CQL in Cassandra and APIs for HBase to extract data from these databases.</a:t>
            </a:r>
          </a:p>
        </p:txBody>
      </p:sp>
      <p:sp>
        <p:nvSpPr>
          <p:cNvPr id="4" name="Slide Number Placeholder 3"/>
          <p:cNvSpPr>
            <a:spLocks noGrp="1"/>
          </p:cNvSpPr>
          <p:nvPr>
            <p:ph type="sldNum" sz="quarter" idx="5"/>
          </p:nvPr>
        </p:nvSpPr>
        <p:spPr/>
        <p:txBody>
          <a:bodyPr/>
          <a:lstStyle/>
          <a:p>
            <a:fld id="{3593C128-689A-49B3-92CF-62EE5D11F5F1}" type="slidenum">
              <a:rPr lang="en-IN" smtClean="0"/>
              <a:t>12</a:t>
            </a:fld>
            <a:endParaRPr lang="en-IN"/>
          </a:p>
        </p:txBody>
      </p:sp>
    </p:spTree>
    <p:extLst>
      <p:ext uri="{BB962C8B-B14F-4D97-AF65-F5344CB8AC3E}">
        <p14:creationId xmlns:p14="http://schemas.microsoft.com/office/powerpoint/2010/main" val="15483535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In this section, we will discuss some of the challenges that come along with non-relational data extraction. We will cover indexing and performance tuning in NoSQL databases and working with unstructured and semi-structured data in NoSQL.</a:t>
            </a:r>
          </a:p>
        </p:txBody>
      </p:sp>
      <p:sp>
        <p:nvSpPr>
          <p:cNvPr id="4" name="Slide Number Placeholder 3"/>
          <p:cNvSpPr>
            <a:spLocks noGrp="1"/>
          </p:cNvSpPr>
          <p:nvPr>
            <p:ph type="sldNum" sz="quarter" idx="5"/>
          </p:nvPr>
        </p:nvSpPr>
        <p:spPr/>
        <p:txBody>
          <a:bodyPr/>
          <a:lstStyle/>
          <a:p>
            <a:fld id="{3593C128-689A-49B3-92CF-62EE5D11F5F1}" type="slidenum">
              <a:rPr lang="en-IN" smtClean="0"/>
              <a:t>13</a:t>
            </a:fld>
            <a:endParaRPr lang="en-IN"/>
          </a:p>
        </p:txBody>
      </p:sp>
    </p:spTree>
    <p:extLst>
      <p:ext uri="{BB962C8B-B14F-4D97-AF65-F5344CB8AC3E}">
        <p14:creationId xmlns:p14="http://schemas.microsoft.com/office/powerpoint/2010/main" val="8765818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Indexing and performance tuning are crucial for efficient retrieval of data from NoSQL databases. We can use various techniques to optimize the performance of NoSQL databases.</a:t>
            </a:r>
          </a:p>
        </p:txBody>
      </p:sp>
      <p:sp>
        <p:nvSpPr>
          <p:cNvPr id="4" name="Slide Number Placeholder 3"/>
          <p:cNvSpPr>
            <a:spLocks noGrp="1"/>
          </p:cNvSpPr>
          <p:nvPr>
            <p:ph type="sldNum" sz="quarter" idx="5"/>
          </p:nvPr>
        </p:nvSpPr>
        <p:spPr/>
        <p:txBody>
          <a:bodyPr/>
          <a:lstStyle/>
          <a:p>
            <a:fld id="{3593C128-689A-49B3-92CF-62EE5D11F5F1}" type="slidenum">
              <a:rPr lang="en-IN" smtClean="0"/>
              <a:t>14</a:t>
            </a:fld>
            <a:endParaRPr lang="en-IN"/>
          </a:p>
        </p:txBody>
      </p:sp>
    </p:spTree>
    <p:extLst>
      <p:ext uri="{BB962C8B-B14F-4D97-AF65-F5344CB8AC3E}">
        <p14:creationId xmlns:p14="http://schemas.microsoft.com/office/powerpoint/2010/main" val="38066238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NoSQL databases are better suited for handling unstructured and semi-structured data than relational databases. However, working with such data requires special skills and techniques that we will explore in this section.</a:t>
            </a:r>
          </a:p>
        </p:txBody>
      </p:sp>
      <p:sp>
        <p:nvSpPr>
          <p:cNvPr id="4" name="Slide Number Placeholder 3"/>
          <p:cNvSpPr>
            <a:spLocks noGrp="1"/>
          </p:cNvSpPr>
          <p:nvPr>
            <p:ph type="sldNum" sz="quarter" idx="5"/>
          </p:nvPr>
        </p:nvSpPr>
        <p:spPr/>
        <p:txBody>
          <a:bodyPr/>
          <a:lstStyle/>
          <a:p>
            <a:fld id="{3593C128-689A-49B3-92CF-62EE5D11F5F1}" type="slidenum">
              <a:rPr lang="en-IN" smtClean="0"/>
              <a:t>15</a:t>
            </a:fld>
            <a:endParaRPr lang="en-IN"/>
          </a:p>
        </p:txBody>
      </p:sp>
    </p:spTree>
    <p:extLst>
      <p:ext uri="{BB962C8B-B14F-4D97-AF65-F5344CB8AC3E}">
        <p14:creationId xmlns:p14="http://schemas.microsoft.com/office/powerpoint/2010/main" val="13194848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In this section, we will discuss some of the tools that aid us in extracting data from NoSQL databases. We will cover using APIs for MongoDB, Cassandra, and other databases. We will also explore integration tools like Apache NiFi and Talend for NoSQL databases.</a:t>
            </a:r>
          </a:p>
        </p:txBody>
      </p:sp>
      <p:sp>
        <p:nvSpPr>
          <p:cNvPr id="4" name="Slide Number Placeholder 3"/>
          <p:cNvSpPr>
            <a:spLocks noGrp="1"/>
          </p:cNvSpPr>
          <p:nvPr>
            <p:ph type="sldNum" sz="quarter" idx="5"/>
          </p:nvPr>
        </p:nvSpPr>
        <p:spPr/>
        <p:txBody>
          <a:bodyPr/>
          <a:lstStyle/>
          <a:p>
            <a:fld id="{3593C128-689A-49B3-92CF-62EE5D11F5F1}" type="slidenum">
              <a:rPr lang="en-IN" smtClean="0"/>
              <a:t>16</a:t>
            </a:fld>
            <a:endParaRPr lang="en-IN"/>
          </a:p>
        </p:txBody>
      </p:sp>
    </p:spTree>
    <p:extLst>
      <p:ext uri="{BB962C8B-B14F-4D97-AF65-F5344CB8AC3E}">
        <p14:creationId xmlns:p14="http://schemas.microsoft.com/office/powerpoint/2010/main" val="23465249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APIs for NoSQL databases like MongoDB and Cassandra make it easy to extract data from these databases. We can use APIs to retrieve data and manipulate it in various ways. </a:t>
            </a:r>
          </a:p>
        </p:txBody>
      </p:sp>
      <p:sp>
        <p:nvSpPr>
          <p:cNvPr id="4" name="Slide Number Placeholder 3"/>
          <p:cNvSpPr>
            <a:spLocks noGrp="1"/>
          </p:cNvSpPr>
          <p:nvPr>
            <p:ph type="sldNum" sz="quarter" idx="5"/>
          </p:nvPr>
        </p:nvSpPr>
        <p:spPr/>
        <p:txBody>
          <a:bodyPr/>
          <a:lstStyle/>
          <a:p>
            <a:fld id="{3593C128-689A-49B3-92CF-62EE5D11F5F1}" type="slidenum">
              <a:rPr lang="en-IN" smtClean="0"/>
              <a:t>17</a:t>
            </a:fld>
            <a:endParaRPr lang="en-IN"/>
          </a:p>
        </p:txBody>
      </p:sp>
    </p:spTree>
    <p:extLst>
      <p:ext uri="{BB962C8B-B14F-4D97-AF65-F5344CB8AC3E}">
        <p14:creationId xmlns:p14="http://schemas.microsoft.com/office/powerpoint/2010/main" val="41545139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Integration tools like Apache NiFi and Talend make it easy to extract data from NoSQL databases and integrate it with other tools and systems. These tools provide a wide range of features and functionalities that make data extraction and integration easier.</a:t>
            </a:r>
          </a:p>
        </p:txBody>
      </p:sp>
      <p:sp>
        <p:nvSpPr>
          <p:cNvPr id="4" name="Slide Number Placeholder 3"/>
          <p:cNvSpPr>
            <a:spLocks noGrp="1"/>
          </p:cNvSpPr>
          <p:nvPr>
            <p:ph type="sldNum" sz="quarter" idx="5"/>
          </p:nvPr>
        </p:nvSpPr>
        <p:spPr/>
        <p:txBody>
          <a:bodyPr/>
          <a:lstStyle/>
          <a:p>
            <a:fld id="{3593C128-689A-49B3-92CF-62EE5D11F5F1}" type="slidenum">
              <a:rPr lang="en-IN" smtClean="0"/>
              <a:t>18</a:t>
            </a:fld>
            <a:endParaRPr lang="en-IN"/>
          </a:p>
        </p:txBody>
      </p:sp>
    </p:spTree>
    <p:extLst>
      <p:ext uri="{BB962C8B-B14F-4D97-AF65-F5344CB8AC3E}">
        <p14:creationId xmlns:p14="http://schemas.microsoft.com/office/powerpoint/2010/main" val="18382791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Extracting data from non-relational or NoSQL databases can be challenging, but it is a critical task for organizations that want to harness the power of these databases. In this presentation, we covered the basics of NoSQL databases, key NoSQL databases, querying data from NoSQL databases, handling non-relational data extraction challenges, and the tools for data extraction from NoSQL databases.</a:t>
            </a:r>
          </a:p>
        </p:txBody>
      </p:sp>
      <p:sp>
        <p:nvSpPr>
          <p:cNvPr id="4" name="Slide Number Placeholder 3"/>
          <p:cNvSpPr>
            <a:spLocks noGrp="1"/>
          </p:cNvSpPr>
          <p:nvPr>
            <p:ph type="sldNum" sz="quarter" idx="5"/>
          </p:nvPr>
        </p:nvSpPr>
        <p:spPr/>
        <p:txBody>
          <a:bodyPr/>
          <a:lstStyle/>
          <a:p>
            <a:fld id="{3593C128-689A-49B3-92CF-62EE5D11F5F1}" type="slidenum">
              <a:rPr lang="en-IN" smtClean="0"/>
              <a:t>19</a:t>
            </a:fld>
            <a:endParaRPr lang="en-IN"/>
          </a:p>
        </p:txBody>
      </p:sp>
    </p:spTree>
    <p:extLst>
      <p:ext uri="{BB962C8B-B14F-4D97-AF65-F5344CB8AC3E}">
        <p14:creationId xmlns:p14="http://schemas.microsoft.com/office/powerpoint/2010/main" val="4087317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58E14-23EC-4C25-974C-48FA83988655}"/>
              </a:ext>
            </a:extLst>
          </p:cNvPr>
          <p:cNvSpPr>
            <a:spLocks noGrp="1"/>
          </p:cNvSpPr>
          <p:nvPr>
            <p:ph type="ctrTitle"/>
          </p:nvPr>
        </p:nvSpPr>
        <p:spPr>
          <a:xfrm>
            <a:off x="517870" y="978408"/>
            <a:ext cx="5021183" cy="507422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E9FEDD4-20A1-49F6-9E3E-0B26B426BB73}"/>
              </a:ext>
            </a:extLst>
          </p:cNvPr>
          <p:cNvSpPr>
            <a:spLocks noGrp="1"/>
          </p:cNvSpPr>
          <p:nvPr>
            <p:ph type="subTitle" idx="1"/>
          </p:nvPr>
        </p:nvSpPr>
        <p:spPr>
          <a:xfrm>
            <a:off x="6662167" y="3602038"/>
            <a:ext cx="5021183" cy="2244580"/>
          </a:xfrm>
        </p:spPr>
        <p:txBody>
          <a:bodyPr anchor="b">
            <a:normAutofit/>
          </a:bodyPr>
          <a:lstStyle>
            <a:lvl1pPr marL="0" indent="0" algn="l">
              <a:lnSpc>
                <a:spcPct val="100000"/>
              </a:lnSpc>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580A32F-E6F3-4C2E-B9E3-E47868E42511}"/>
              </a:ext>
            </a:extLst>
          </p:cNvPr>
          <p:cNvSpPr>
            <a:spLocks noGrp="1"/>
          </p:cNvSpPr>
          <p:nvPr>
            <p:ph type="dt" sz="half" idx="10"/>
          </p:nvPr>
        </p:nvSpPr>
        <p:spPr/>
        <p:txBody>
          <a:bodyPr/>
          <a:lstStyle/>
          <a:p>
            <a:fld id="{3391A759-BFF8-4B5B-9ECE-D93AC303B331}" type="datetime1">
              <a:rPr lang="en-US" smtClean="0"/>
              <a:t>10/3/2024</a:t>
            </a:fld>
            <a:endParaRPr lang="en-US"/>
          </a:p>
        </p:txBody>
      </p:sp>
      <p:sp>
        <p:nvSpPr>
          <p:cNvPr id="5" name="Footer Placeholder 4">
            <a:extLst>
              <a:ext uri="{FF2B5EF4-FFF2-40B4-BE49-F238E27FC236}">
                <a16:creationId xmlns:a16="http://schemas.microsoft.com/office/drawing/2014/main" id="{78806724-A87A-4231-BFD9-277482AF78C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730D1AF-36B8-4BB8-BD6A-71194F7BC31C}"/>
              </a:ext>
            </a:extLst>
          </p:cNvPr>
          <p:cNvSpPr>
            <a:spLocks noGrp="1"/>
          </p:cNvSpPr>
          <p:nvPr>
            <p:ph type="sldNum" sz="quarter" idx="12"/>
          </p:nvPr>
        </p:nvSpPr>
        <p:spPr/>
        <p:txBody>
          <a:bodyPr/>
          <a:lstStyle/>
          <a:p>
            <a:fld id="{DFDF98CC-160E-494C-8C3C-8CDC5FA257DE}" type="slidenum">
              <a:rPr lang="en-US" smtClean="0"/>
              <a:t>‹#›</a:t>
            </a:fld>
            <a:endParaRPr lang="en-US"/>
          </a:p>
        </p:txBody>
      </p:sp>
      <p:sp>
        <p:nvSpPr>
          <p:cNvPr id="8" name="Rectangle 7">
            <a:extLst>
              <a:ext uri="{FF2B5EF4-FFF2-40B4-BE49-F238E27FC236}">
                <a16:creationId xmlns:a16="http://schemas.microsoft.com/office/drawing/2014/main" id="{F3FF94B3-6D3E-44FE-BB02-A9027C0003C7}"/>
              </a:ext>
              <a:ext uri="{C183D7F6-B498-43B3-948B-1728B52AA6E4}">
                <adec:decorative xmlns:adec="http://schemas.microsoft.com/office/drawing/2017/decorative" val="1"/>
              </a:ext>
            </a:extLst>
          </p:cNvPr>
          <p:cNvSpPr/>
          <p:nvPr/>
        </p:nvSpPr>
        <p:spPr>
          <a:xfrm>
            <a:off x="6662168" y="6209925"/>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43614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63D8A-C68D-4CF9-9D15-3E09BCC09F6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524D94C-E537-4FF3-AAF8-A85F05C31A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824B1D4-6731-4993-8609-16C1D3327986}"/>
              </a:ext>
            </a:extLst>
          </p:cNvPr>
          <p:cNvSpPr>
            <a:spLocks noGrp="1"/>
          </p:cNvSpPr>
          <p:nvPr>
            <p:ph type="dt" sz="half" idx="10"/>
          </p:nvPr>
        </p:nvSpPr>
        <p:spPr/>
        <p:txBody>
          <a:bodyPr/>
          <a:lstStyle/>
          <a:p>
            <a:fld id="{EEBAB316-A2E6-49F2-825C-64AA951E4184}" type="datetime1">
              <a:rPr lang="en-US" smtClean="0"/>
              <a:t>10/3/2024</a:t>
            </a:fld>
            <a:endParaRPr lang="en-US"/>
          </a:p>
        </p:txBody>
      </p:sp>
      <p:sp>
        <p:nvSpPr>
          <p:cNvPr id="5" name="Footer Placeholder 4">
            <a:extLst>
              <a:ext uri="{FF2B5EF4-FFF2-40B4-BE49-F238E27FC236}">
                <a16:creationId xmlns:a16="http://schemas.microsoft.com/office/drawing/2014/main" id="{3DFB7BBD-CEEB-4256-84B2-6D907E11880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972A8B7-F430-4F4A-BB63-481F51E58800}"/>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28259235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BAC1C-A332-4BA5-8C9C-FE0396C81619}"/>
              </a:ext>
            </a:extLst>
          </p:cNvPr>
          <p:cNvSpPr>
            <a:spLocks noGrp="1"/>
          </p:cNvSpPr>
          <p:nvPr>
            <p:ph type="title"/>
          </p:nvPr>
        </p:nvSpPr>
        <p:spPr>
          <a:xfrm>
            <a:off x="517870" y="978408"/>
            <a:ext cx="5020056" cy="4870974"/>
          </a:xfrm>
        </p:spPr>
        <p:txBody>
          <a:bodyPr anchor="t">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0D8D137-710E-4125-B5E9-F63E7F1C9C9D}"/>
              </a:ext>
            </a:extLst>
          </p:cNvPr>
          <p:cNvSpPr>
            <a:spLocks noGrp="1"/>
          </p:cNvSpPr>
          <p:nvPr>
            <p:ph type="body" idx="1"/>
          </p:nvPr>
        </p:nvSpPr>
        <p:spPr>
          <a:xfrm>
            <a:off x="6662167" y="3566639"/>
            <a:ext cx="5021183" cy="2279979"/>
          </a:xfrm>
        </p:spPr>
        <p:txBody>
          <a:bodyPr anchor="b">
            <a:normAutofit/>
          </a:bodyPr>
          <a:lstStyle>
            <a:lvl1pPr marL="0" indent="0">
              <a:buNone/>
              <a:defRPr sz="2200" i="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5480C5-E9A6-425E-B050-03E444BE92C9}"/>
              </a:ext>
            </a:extLst>
          </p:cNvPr>
          <p:cNvSpPr>
            <a:spLocks noGrp="1"/>
          </p:cNvSpPr>
          <p:nvPr>
            <p:ph type="dt" sz="half" idx="10"/>
          </p:nvPr>
        </p:nvSpPr>
        <p:spPr/>
        <p:txBody>
          <a:bodyPr/>
          <a:lstStyle/>
          <a:p>
            <a:fld id="{5AE9748B-ADD6-4C5A-8C2A-A39721276E74}" type="datetime1">
              <a:rPr lang="en-US" smtClean="0"/>
              <a:t>10/3/2024</a:t>
            </a:fld>
            <a:endParaRPr lang="en-US"/>
          </a:p>
        </p:txBody>
      </p:sp>
      <p:sp>
        <p:nvSpPr>
          <p:cNvPr id="5" name="Footer Placeholder 4">
            <a:extLst>
              <a:ext uri="{FF2B5EF4-FFF2-40B4-BE49-F238E27FC236}">
                <a16:creationId xmlns:a16="http://schemas.microsoft.com/office/drawing/2014/main" id="{951B4831-6C0B-4E0B-A341-91E4C5D36B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F011EE6-252D-46DD-94DF-C42657EF2CD9}"/>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4288214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04B06-C54A-4B7B-B6D1-436428EAF8E2}"/>
              </a:ext>
            </a:extLst>
          </p:cNvPr>
          <p:cNvSpPr>
            <a:spLocks noGrp="1"/>
          </p:cNvSpPr>
          <p:nvPr>
            <p:ph type="title"/>
          </p:nvPr>
        </p:nvSpPr>
        <p:spPr>
          <a:xfrm>
            <a:off x="517870" y="978408"/>
            <a:ext cx="5021182" cy="520769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5723919-9A2F-4D97-8F31-6E35BD5975B0}"/>
              </a:ext>
            </a:extLst>
          </p:cNvPr>
          <p:cNvSpPr>
            <a:spLocks noGrp="1"/>
          </p:cNvSpPr>
          <p:nvPr>
            <p:ph sz="half" idx="1"/>
          </p:nvPr>
        </p:nvSpPr>
        <p:spPr>
          <a:xfrm>
            <a:off x="6063049" y="969264"/>
            <a:ext cx="5290751" cy="25551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F8DA345-F684-4BAA-A22C-E725B3A6037F}"/>
              </a:ext>
            </a:extLst>
          </p:cNvPr>
          <p:cNvSpPr>
            <a:spLocks noGrp="1"/>
          </p:cNvSpPr>
          <p:nvPr>
            <p:ph sz="half" idx="2"/>
          </p:nvPr>
        </p:nvSpPr>
        <p:spPr>
          <a:xfrm>
            <a:off x="6063049" y="3621849"/>
            <a:ext cx="5290751" cy="25551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6399C52-9753-45D8-9646-CF31BB01577C}"/>
              </a:ext>
            </a:extLst>
          </p:cNvPr>
          <p:cNvSpPr>
            <a:spLocks noGrp="1"/>
          </p:cNvSpPr>
          <p:nvPr>
            <p:ph type="dt" sz="half" idx="10"/>
          </p:nvPr>
        </p:nvSpPr>
        <p:spPr/>
        <p:txBody>
          <a:bodyPr/>
          <a:lstStyle/>
          <a:p>
            <a:fld id="{7241FB0F-3C5C-4949-B933-9C7E511ED094}" type="datetime1">
              <a:rPr lang="en-US" smtClean="0"/>
              <a:t>10/3/2024</a:t>
            </a:fld>
            <a:endParaRPr lang="en-US"/>
          </a:p>
        </p:txBody>
      </p:sp>
      <p:sp>
        <p:nvSpPr>
          <p:cNvPr id="6" name="Footer Placeholder 5">
            <a:extLst>
              <a:ext uri="{FF2B5EF4-FFF2-40B4-BE49-F238E27FC236}">
                <a16:creationId xmlns:a16="http://schemas.microsoft.com/office/drawing/2014/main" id="{C2F95E57-622C-4199-940E-F5462E1AC44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01B7592-00E8-41EF-B749-2A5EA8E460DA}"/>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3875679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2291277-967B-4176-B40B-9EC360626994}"/>
              </a:ext>
            </a:extLst>
          </p:cNvPr>
          <p:cNvSpPr/>
          <p:nvPr/>
        </p:nvSpPr>
        <p:spPr>
          <a:xfrm>
            <a:off x="517869"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cap="none" spc="0">
              <a:ln w="0"/>
              <a:solidFill>
                <a:schemeClr val="tx1"/>
              </a:solidFill>
              <a:effectLst>
                <a:outerShdw blurRad="38100" dist="19050" dir="2700000" algn="tl" rotWithShape="0">
                  <a:schemeClr val="dk1">
                    <a:alpha val="40000"/>
                  </a:schemeClr>
                </a:outerShdw>
              </a:effectLst>
            </a:endParaRPr>
          </a:p>
        </p:txBody>
      </p:sp>
      <p:sp>
        <p:nvSpPr>
          <p:cNvPr id="2" name="Title 1">
            <a:extLst>
              <a:ext uri="{FF2B5EF4-FFF2-40B4-BE49-F238E27FC236}">
                <a16:creationId xmlns:a16="http://schemas.microsoft.com/office/drawing/2014/main" id="{FCB11C00-F7CB-4484-807A-D12745CD3CC8}"/>
              </a:ext>
            </a:extLst>
          </p:cNvPr>
          <p:cNvSpPr>
            <a:spLocks noGrp="1"/>
          </p:cNvSpPr>
          <p:nvPr>
            <p:ph type="title"/>
          </p:nvPr>
        </p:nvSpPr>
        <p:spPr>
          <a:xfrm>
            <a:off x="517869" y="978119"/>
            <a:ext cx="11165481" cy="1073056"/>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FAAA6E-E243-48B3-9585-3C1420B3E19F}"/>
              </a:ext>
            </a:extLst>
          </p:cNvPr>
          <p:cNvSpPr>
            <a:spLocks noGrp="1"/>
          </p:cNvSpPr>
          <p:nvPr>
            <p:ph type="body" idx="1"/>
          </p:nvPr>
        </p:nvSpPr>
        <p:spPr>
          <a:xfrm>
            <a:off x="517870" y="2178908"/>
            <a:ext cx="5020056" cy="65490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ED01B8-0F2E-41A4-B21C-334393F6A677}"/>
              </a:ext>
            </a:extLst>
          </p:cNvPr>
          <p:cNvSpPr>
            <a:spLocks noGrp="1"/>
          </p:cNvSpPr>
          <p:nvPr>
            <p:ph sz="half" idx="2"/>
          </p:nvPr>
        </p:nvSpPr>
        <p:spPr>
          <a:xfrm>
            <a:off x="517870" y="2876085"/>
            <a:ext cx="5020056" cy="33228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A89B23F-3E60-415A-9CE7-0928B5CFB2B3}"/>
              </a:ext>
            </a:extLst>
          </p:cNvPr>
          <p:cNvSpPr>
            <a:spLocks noGrp="1"/>
          </p:cNvSpPr>
          <p:nvPr>
            <p:ph type="body" sz="quarter" idx="3"/>
          </p:nvPr>
        </p:nvSpPr>
        <p:spPr>
          <a:xfrm>
            <a:off x="6662168" y="2178908"/>
            <a:ext cx="5021182" cy="65490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223446-0CDC-402B-8D71-D9D29F6DFFCC}"/>
              </a:ext>
            </a:extLst>
          </p:cNvPr>
          <p:cNvSpPr>
            <a:spLocks noGrp="1"/>
          </p:cNvSpPr>
          <p:nvPr>
            <p:ph sz="quarter" idx="4"/>
          </p:nvPr>
        </p:nvSpPr>
        <p:spPr>
          <a:xfrm>
            <a:off x="6662168" y="2876085"/>
            <a:ext cx="5021182" cy="33228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002B77D3-C6EC-4FFD-9E10-24E1AC542019}"/>
              </a:ext>
            </a:extLst>
          </p:cNvPr>
          <p:cNvSpPr>
            <a:spLocks noGrp="1"/>
          </p:cNvSpPr>
          <p:nvPr>
            <p:ph type="dt" sz="half" idx="10"/>
          </p:nvPr>
        </p:nvSpPr>
        <p:spPr>
          <a:xfrm>
            <a:off x="517870" y="6420414"/>
            <a:ext cx="2743200" cy="365125"/>
          </a:xfrm>
        </p:spPr>
        <p:txBody>
          <a:bodyPr/>
          <a:lstStyle/>
          <a:p>
            <a:fld id="{C2F01D58-E949-4BCB-829A-BBF80E38D59C}" type="datetime1">
              <a:rPr lang="en-US" smtClean="0"/>
              <a:t>10/3/2024</a:t>
            </a:fld>
            <a:endParaRPr lang="en-US"/>
          </a:p>
        </p:txBody>
      </p:sp>
      <p:sp>
        <p:nvSpPr>
          <p:cNvPr id="8" name="Footer Placeholder 7">
            <a:extLst>
              <a:ext uri="{FF2B5EF4-FFF2-40B4-BE49-F238E27FC236}">
                <a16:creationId xmlns:a16="http://schemas.microsoft.com/office/drawing/2014/main" id="{209DF31B-BD07-4DC2-95C2-B77E51AAEFF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54CE5A-3A0A-4AAB-81D2-F1C20636E54C}"/>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29745840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216B8-52AB-412B-BBE7-B6BE698FA29B}"/>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0BF779C3-9D19-467E-A5D2-0920834DA13C}"/>
              </a:ext>
            </a:extLst>
          </p:cNvPr>
          <p:cNvSpPr>
            <a:spLocks noGrp="1"/>
          </p:cNvSpPr>
          <p:nvPr>
            <p:ph type="dt" sz="half" idx="10"/>
          </p:nvPr>
        </p:nvSpPr>
        <p:spPr/>
        <p:txBody>
          <a:bodyPr/>
          <a:lstStyle/>
          <a:p>
            <a:fld id="{FF10A846-0DA4-4D92-9BF1-DE8C52C1F4DF}" type="datetime1">
              <a:rPr lang="en-US" smtClean="0"/>
              <a:t>10/3/2024</a:t>
            </a:fld>
            <a:endParaRPr lang="en-US"/>
          </a:p>
        </p:txBody>
      </p:sp>
      <p:sp>
        <p:nvSpPr>
          <p:cNvPr id="4" name="Footer Placeholder 3">
            <a:extLst>
              <a:ext uri="{FF2B5EF4-FFF2-40B4-BE49-F238E27FC236}">
                <a16:creationId xmlns:a16="http://schemas.microsoft.com/office/drawing/2014/main" id="{8E272BB4-C8D8-4F74-9677-5AC979932A75}"/>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96B49B8-779F-4492-ABD9-96F0D042AC41}"/>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2016800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B976BF-9339-48D6-881A-280D15492E05}"/>
              </a:ext>
            </a:extLst>
          </p:cNvPr>
          <p:cNvSpPr>
            <a:spLocks noGrp="1"/>
          </p:cNvSpPr>
          <p:nvPr>
            <p:ph type="dt" sz="half" idx="10"/>
          </p:nvPr>
        </p:nvSpPr>
        <p:spPr/>
        <p:txBody>
          <a:bodyPr/>
          <a:lstStyle/>
          <a:p>
            <a:fld id="{E9412331-4A9C-472F-A7FA-968157338839}" type="datetime1">
              <a:rPr lang="en-US" smtClean="0"/>
              <a:t>10/3/2024</a:t>
            </a:fld>
            <a:endParaRPr lang="en-US"/>
          </a:p>
        </p:txBody>
      </p:sp>
      <p:sp>
        <p:nvSpPr>
          <p:cNvPr id="3" name="Footer Placeholder 2">
            <a:extLst>
              <a:ext uri="{FF2B5EF4-FFF2-40B4-BE49-F238E27FC236}">
                <a16:creationId xmlns:a16="http://schemas.microsoft.com/office/drawing/2014/main" id="{45277605-C9C8-432E-9662-D7D410B151D5}"/>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522432B6-4A12-46EF-98A7-B5D50BD516F0}"/>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3804035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191C-AF68-4230-A7B2-F8F07B486EDC}"/>
              </a:ext>
            </a:extLst>
          </p:cNvPr>
          <p:cNvSpPr>
            <a:spLocks noGrp="1"/>
          </p:cNvSpPr>
          <p:nvPr>
            <p:ph type="title"/>
          </p:nvPr>
        </p:nvSpPr>
        <p:spPr>
          <a:xfrm>
            <a:off x="517870" y="978408"/>
            <a:ext cx="5020948" cy="2270641"/>
          </a:xfrm>
        </p:spPr>
        <p:txBody>
          <a:bodyPr anchor="t">
            <a:noAutofit/>
          </a:bodyPr>
          <a:lstStyle>
            <a:lvl1pPr>
              <a:defRPr sz="4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58F9F11-5FCF-4D7E-BA51-38CB84277DC9}"/>
              </a:ext>
            </a:extLst>
          </p:cNvPr>
          <p:cNvSpPr>
            <a:spLocks noGrp="1"/>
          </p:cNvSpPr>
          <p:nvPr>
            <p:ph idx="1"/>
          </p:nvPr>
        </p:nvSpPr>
        <p:spPr>
          <a:xfrm>
            <a:off x="6653182" y="987423"/>
            <a:ext cx="5020948" cy="487362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373B519B-06C0-41BC-95FB-FB1FE436375E}"/>
              </a:ext>
            </a:extLst>
          </p:cNvPr>
          <p:cNvSpPr>
            <a:spLocks noGrp="1"/>
          </p:cNvSpPr>
          <p:nvPr>
            <p:ph type="body" sz="half" idx="2"/>
          </p:nvPr>
        </p:nvSpPr>
        <p:spPr>
          <a:xfrm>
            <a:off x="517870" y="3361038"/>
            <a:ext cx="5020948" cy="2507949"/>
          </a:xfrm>
        </p:spPr>
        <p:txBody>
          <a:bodyPr>
            <a:normAutofit/>
          </a:bodyPr>
          <a:lstStyle>
            <a:lvl1pPr marL="0" indent="0">
              <a:buNone/>
              <a:defRPr sz="2400" b="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B8B70C-015C-4832-AFF6-D033E022746B}"/>
              </a:ext>
            </a:extLst>
          </p:cNvPr>
          <p:cNvSpPr>
            <a:spLocks noGrp="1"/>
          </p:cNvSpPr>
          <p:nvPr>
            <p:ph type="dt" sz="half" idx="10"/>
          </p:nvPr>
        </p:nvSpPr>
        <p:spPr/>
        <p:txBody>
          <a:bodyPr/>
          <a:lstStyle/>
          <a:p>
            <a:fld id="{A2197F3D-ED52-43FD-A26D-318B71534485}" type="datetime1">
              <a:rPr lang="en-US" smtClean="0"/>
              <a:t>10/3/2024</a:t>
            </a:fld>
            <a:endParaRPr lang="en-US"/>
          </a:p>
        </p:txBody>
      </p:sp>
      <p:sp>
        <p:nvSpPr>
          <p:cNvPr id="6" name="Footer Placeholder 5">
            <a:extLst>
              <a:ext uri="{FF2B5EF4-FFF2-40B4-BE49-F238E27FC236}">
                <a16:creationId xmlns:a16="http://schemas.microsoft.com/office/drawing/2014/main" id="{BEF1A6FB-8C14-46D1-90A5-0FF11DE7863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782C585-6FA1-4E94-9C1C-A1DEDE551086}"/>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5069756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98B43-D1CE-43F4-A367-EF1FE9688913}"/>
              </a:ext>
            </a:extLst>
          </p:cNvPr>
          <p:cNvSpPr>
            <a:spLocks noGrp="1"/>
          </p:cNvSpPr>
          <p:nvPr>
            <p:ph type="title"/>
          </p:nvPr>
        </p:nvSpPr>
        <p:spPr>
          <a:xfrm>
            <a:off x="517870" y="978408"/>
            <a:ext cx="5020948" cy="2270641"/>
          </a:xfrm>
        </p:spPr>
        <p:txBody>
          <a:bodyPr anchor="t">
            <a:noAutofit/>
          </a:bodyPr>
          <a:lstStyle>
            <a:lvl1pPr>
              <a:defRPr sz="4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E2B73978-8CDF-4C0E-ABA1-7291A0347362}"/>
              </a:ext>
            </a:extLst>
          </p:cNvPr>
          <p:cNvSpPr>
            <a:spLocks noGrp="1"/>
          </p:cNvSpPr>
          <p:nvPr>
            <p:ph type="pic" idx="1"/>
          </p:nvPr>
        </p:nvSpPr>
        <p:spPr>
          <a:xfrm>
            <a:off x="6662168" y="987425"/>
            <a:ext cx="5027005"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45BECC62-ED45-451E-BEC5-A03C6A554D26}"/>
              </a:ext>
            </a:extLst>
          </p:cNvPr>
          <p:cNvSpPr>
            <a:spLocks noGrp="1"/>
          </p:cNvSpPr>
          <p:nvPr>
            <p:ph type="body" sz="half" idx="2"/>
          </p:nvPr>
        </p:nvSpPr>
        <p:spPr>
          <a:xfrm>
            <a:off x="517870" y="3340442"/>
            <a:ext cx="5020948" cy="2528545"/>
          </a:xfrm>
        </p:spPr>
        <p:txBody>
          <a:bodyPr>
            <a:normAutofit/>
          </a:bodyPr>
          <a:lstStyle>
            <a:lvl1pPr marL="0" indent="0">
              <a:buNone/>
              <a:defRPr sz="2200" b="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1A7A86-B983-4315-9312-936B4FCF75FE}"/>
              </a:ext>
            </a:extLst>
          </p:cNvPr>
          <p:cNvSpPr>
            <a:spLocks noGrp="1"/>
          </p:cNvSpPr>
          <p:nvPr>
            <p:ph type="dt" sz="half" idx="10"/>
          </p:nvPr>
        </p:nvSpPr>
        <p:spPr/>
        <p:txBody>
          <a:bodyPr/>
          <a:lstStyle/>
          <a:p>
            <a:fld id="{3D291FA4-6264-4BB8-B3B5-77711EED2D82}" type="datetime1">
              <a:rPr lang="en-US" smtClean="0"/>
              <a:t>10/3/2024</a:t>
            </a:fld>
            <a:endParaRPr lang="en-US"/>
          </a:p>
        </p:txBody>
      </p:sp>
      <p:sp>
        <p:nvSpPr>
          <p:cNvPr id="6" name="Footer Placeholder 5">
            <a:extLst>
              <a:ext uri="{FF2B5EF4-FFF2-40B4-BE49-F238E27FC236}">
                <a16:creationId xmlns:a16="http://schemas.microsoft.com/office/drawing/2014/main" id="{1E2E88C0-25A5-46F9-AB35-EAD50E6B913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A0F9EA8-45AD-478E-8606-9328245BC8A6}"/>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465955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F6B8E-1D8E-4105-9BBB-D53AD24B738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03825530-6629-4FEA-9670-EB21A2F5BA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664C7A-A73F-46F5-BC33-696671DAEEE7}"/>
              </a:ext>
            </a:extLst>
          </p:cNvPr>
          <p:cNvSpPr>
            <a:spLocks noGrp="1"/>
          </p:cNvSpPr>
          <p:nvPr>
            <p:ph type="dt" sz="half" idx="10"/>
          </p:nvPr>
        </p:nvSpPr>
        <p:spPr/>
        <p:txBody>
          <a:bodyPr/>
          <a:lstStyle/>
          <a:p>
            <a:fld id="{6DFDF398-5DA3-4937-BE3F-7CA1B9158252}" type="datetime1">
              <a:rPr lang="en-US" smtClean="0"/>
              <a:t>10/3/2024</a:t>
            </a:fld>
            <a:endParaRPr lang="en-US"/>
          </a:p>
        </p:txBody>
      </p:sp>
      <p:sp>
        <p:nvSpPr>
          <p:cNvPr id="5" name="Footer Placeholder 4">
            <a:extLst>
              <a:ext uri="{FF2B5EF4-FFF2-40B4-BE49-F238E27FC236}">
                <a16:creationId xmlns:a16="http://schemas.microsoft.com/office/drawing/2014/main" id="{512B3CC0-B649-4509-A4B6-DF9D20EFACE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2CECCCA-3F2A-46F3-BF45-7C862FF1D752}"/>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3076547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50133B-2446-4168-AA17-6538910668FD}"/>
              </a:ext>
            </a:extLst>
          </p:cNvPr>
          <p:cNvSpPr>
            <a:spLocks noGrp="1"/>
          </p:cNvSpPr>
          <p:nvPr>
            <p:ph type="title" orient="vert"/>
          </p:nvPr>
        </p:nvSpPr>
        <p:spPr>
          <a:xfrm>
            <a:off x="6662168" y="996791"/>
            <a:ext cx="5011962" cy="495692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C006A9AD-2756-4C51-A958-6756301EB938}"/>
              </a:ext>
            </a:extLst>
          </p:cNvPr>
          <p:cNvSpPr>
            <a:spLocks noGrp="1"/>
          </p:cNvSpPr>
          <p:nvPr>
            <p:ph type="body" orient="vert" idx="1"/>
          </p:nvPr>
        </p:nvSpPr>
        <p:spPr>
          <a:xfrm>
            <a:off x="517870" y="996791"/>
            <a:ext cx="5021183" cy="495692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E42995D-CCEA-43AF-973B-8B6B56A567E8}"/>
              </a:ext>
            </a:extLst>
          </p:cNvPr>
          <p:cNvSpPr>
            <a:spLocks noGrp="1"/>
          </p:cNvSpPr>
          <p:nvPr>
            <p:ph type="dt" sz="half" idx="10"/>
          </p:nvPr>
        </p:nvSpPr>
        <p:spPr/>
        <p:txBody>
          <a:bodyPr/>
          <a:lstStyle/>
          <a:p>
            <a:fld id="{8F191ED9-F929-4A92-90F9-3C9C84ABBE83}" type="datetime1">
              <a:rPr lang="en-US" smtClean="0"/>
              <a:t>10/3/2024</a:t>
            </a:fld>
            <a:endParaRPr lang="en-US"/>
          </a:p>
        </p:txBody>
      </p:sp>
      <p:sp>
        <p:nvSpPr>
          <p:cNvPr id="5" name="Footer Placeholder 4">
            <a:extLst>
              <a:ext uri="{FF2B5EF4-FFF2-40B4-BE49-F238E27FC236}">
                <a16:creationId xmlns:a16="http://schemas.microsoft.com/office/drawing/2014/main" id="{2A4029CF-BA62-4CCD-956E-FFA0B37B8A3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CE0B3D-96AB-41B3-ABDD-5B0DE863DAFC}"/>
              </a:ext>
            </a:extLst>
          </p:cNvPr>
          <p:cNvSpPr>
            <a:spLocks noGrp="1"/>
          </p:cNvSpPr>
          <p:nvPr>
            <p:ph type="sldNum" sz="quarter" idx="12"/>
          </p:nvPr>
        </p:nvSpPr>
        <p:spPr/>
        <p:txBody>
          <a:bodyPr/>
          <a:lstStyle/>
          <a:p>
            <a:fld id="{DFDF98CC-160E-494C-8C3C-8CDC5FA257DE}" type="slidenum">
              <a:rPr lang="en-US" smtClean="0"/>
              <a:t>‹#›</a:t>
            </a:fld>
            <a:endParaRPr lang="en-US"/>
          </a:p>
        </p:txBody>
      </p:sp>
      <p:sp>
        <p:nvSpPr>
          <p:cNvPr id="12" name="Rectangle 11">
            <a:extLst>
              <a:ext uri="{FF2B5EF4-FFF2-40B4-BE49-F238E27FC236}">
                <a16:creationId xmlns:a16="http://schemas.microsoft.com/office/drawing/2014/main" id="{4618136A-0796-46EB-89BB-4C73C0258FE9}"/>
              </a:ext>
              <a:ext uri="{C183D7F6-B498-43B3-948B-1728B52AA6E4}">
                <adec:decorative xmlns:adec="http://schemas.microsoft.com/office/drawing/2017/decorative" val="1"/>
              </a:ext>
            </a:extLst>
          </p:cNvPr>
          <p:cNvSpPr/>
          <p:nvPr/>
        </p:nvSpPr>
        <p:spPr>
          <a:xfrm>
            <a:off x="6662168" y="6209925"/>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00776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61AD20-E240-4E6F-AF91-689F7AEEE33A}"/>
              </a:ext>
            </a:extLst>
          </p:cNvPr>
          <p:cNvSpPr>
            <a:spLocks noGrp="1"/>
          </p:cNvSpPr>
          <p:nvPr>
            <p:ph type="title"/>
          </p:nvPr>
        </p:nvSpPr>
        <p:spPr>
          <a:xfrm>
            <a:off x="517870" y="978408"/>
            <a:ext cx="5021182" cy="4870457"/>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2E78801-35D1-4C19-BC2B-EAC7EE917E73}"/>
              </a:ext>
            </a:extLst>
          </p:cNvPr>
          <p:cNvSpPr>
            <a:spLocks noGrp="1"/>
          </p:cNvSpPr>
          <p:nvPr>
            <p:ph type="body" idx="1"/>
          </p:nvPr>
        </p:nvSpPr>
        <p:spPr>
          <a:xfrm>
            <a:off x="6662168" y="969264"/>
            <a:ext cx="5021182" cy="48704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1282A45-C5B9-4575-8E28-A35767B4D71C}"/>
              </a:ext>
            </a:extLst>
          </p:cNvPr>
          <p:cNvSpPr>
            <a:spLocks noGrp="1"/>
          </p:cNvSpPr>
          <p:nvPr>
            <p:ph type="dt" sz="half" idx="2"/>
          </p:nvPr>
        </p:nvSpPr>
        <p:spPr>
          <a:xfrm>
            <a:off x="517870" y="6420414"/>
            <a:ext cx="2743200" cy="365125"/>
          </a:xfrm>
          <a:prstGeom prst="rect">
            <a:avLst/>
          </a:prstGeom>
        </p:spPr>
        <p:txBody>
          <a:bodyPr vert="horz" lIns="91440" tIns="45720" rIns="91440" bIns="45720" rtlCol="0" anchor="ctr"/>
          <a:lstStyle>
            <a:lvl1pPr algn="l">
              <a:defRPr sz="900">
                <a:solidFill>
                  <a:schemeClr val="tx1"/>
                </a:solidFill>
              </a:defRPr>
            </a:lvl1pPr>
          </a:lstStyle>
          <a:p>
            <a:fld id="{E7F6A1D9-D323-4F4E-8655-25E2D32CE742}" type="datetime1">
              <a:rPr lang="en-US" smtClean="0"/>
              <a:t>10/3/2024</a:t>
            </a:fld>
            <a:endParaRPr lang="en-US"/>
          </a:p>
        </p:txBody>
      </p:sp>
      <p:sp>
        <p:nvSpPr>
          <p:cNvPr id="5" name="Footer Placeholder 4">
            <a:extLst>
              <a:ext uri="{FF2B5EF4-FFF2-40B4-BE49-F238E27FC236}">
                <a16:creationId xmlns:a16="http://schemas.microsoft.com/office/drawing/2014/main" id="{2E9D0933-AA03-4018-8E37-004CFB9F61D6}"/>
              </a:ext>
            </a:extLst>
          </p:cNvPr>
          <p:cNvSpPr>
            <a:spLocks noGrp="1"/>
          </p:cNvSpPr>
          <p:nvPr>
            <p:ph type="ftr" sz="quarter" idx="3"/>
          </p:nvPr>
        </p:nvSpPr>
        <p:spPr>
          <a:xfrm>
            <a:off x="517870" y="97713"/>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F282A-DF4A-4A2D-9672-8F0F770A3F1A}"/>
              </a:ext>
            </a:extLst>
          </p:cNvPr>
          <p:cNvSpPr>
            <a:spLocks noGrp="1"/>
          </p:cNvSpPr>
          <p:nvPr>
            <p:ph type="sldNum" sz="quarter" idx="4"/>
          </p:nvPr>
        </p:nvSpPr>
        <p:spPr>
          <a:xfrm>
            <a:off x="11454317" y="6420414"/>
            <a:ext cx="637909" cy="365125"/>
          </a:xfrm>
          <a:prstGeom prst="rect">
            <a:avLst/>
          </a:prstGeom>
        </p:spPr>
        <p:txBody>
          <a:bodyPr vert="horz" lIns="91440" tIns="45720" rIns="91440" bIns="45720" rtlCol="0" anchor="ctr"/>
          <a:lstStyle>
            <a:lvl1pPr algn="r">
              <a:defRPr sz="900">
                <a:solidFill>
                  <a:schemeClr val="tx1"/>
                </a:solidFill>
              </a:defRPr>
            </a:lvl1pPr>
          </a:lstStyle>
          <a:p>
            <a:fld id="{DFDF98CC-160E-494C-8C3C-8CDC5FA257DE}" type="slidenum">
              <a:rPr lang="en-US" smtClean="0"/>
              <a:pPr/>
              <a:t>‹#›</a:t>
            </a:fld>
            <a:endParaRPr lang="en-US" dirty="0"/>
          </a:p>
        </p:txBody>
      </p:sp>
      <p:sp>
        <p:nvSpPr>
          <p:cNvPr id="14" name="Rectangle 13">
            <a:extLst>
              <a:ext uri="{FF2B5EF4-FFF2-40B4-BE49-F238E27FC236}">
                <a16:creationId xmlns:a16="http://schemas.microsoft.com/office/drawing/2014/main" id="{ADE57300-C7FF-4578-99A0-42B0295B123C}"/>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B8F8250-7A81-4A19-87AD-FFB2CE4E39A5}"/>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99F38FC-2DEA-2647-C409-EF75720C1017}"/>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362936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100000"/>
        </a:lnSpc>
        <a:spcBef>
          <a:spcPct val="0"/>
        </a:spcBef>
        <a:buNone/>
        <a:defRPr sz="5400" b="1"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Font typeface="Arial" panose="020B0604020202020204" pitchFamily="34" charset="0"/>
        <a:buNone/>
        <a:defRPr sz="2000" kern="1200">
          <a:solidFill>
            <a:schemeClr val="tx1"/>
          </a:solidFill>
          <a:latin typeface="+mn-lt"/>
          <a:ea typeface="+mn-ea"/>
          <a:cs typeface="+mn-cs"/>
        </a:defRPr>
      </a:lvl1pPr>
      <a:lvl2pPr marL="274320" indent="-27432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274320" indent="0" algn="l" defTabSz="914400" rtl="0" eaLnBrk="1" latinLnBrk="0" hangingPunct="1">
        <a:lnSpc>
          <a:spcPct val="110000"/>
        </a:lnSpc>
        <a:spcBef>
          <a:spcPts val="500"/>
        </a:spcBef>
        <a:buFont typeface="Arial" panose="020B0604020202020204" pitchFamily="34" charset="0"/>
        <a:buNone/>
        <a:defRPr sz="1800" kern="1200">
          <a:solidFill>
            <a:schemeClr val="tx1"/>
          </a:solidFill>
          <a:latin typeface="+mn-lt"/>
          <a:ea typeface="+mn-ea"/>
          <a:cs typeface="+mn-cs"/>
        </a:defRPr>
      </a:lvl3pPr>
      <a:lvl4pPr marL="548640" indent="-27432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548640" indent="0" algn="l"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cxnSp>
        <p:nvCxnSpPr>
          <p:cNvPr id="11" name="Straight Connector 10">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descr="Lines of code">
            <a:extLst>
              <a:ext uri="{FF2B5EF4-FFF2-40B4-BE49-F238E27FC236}">
                <a16:creationId xmlns:a16="http://schemas.microsoft.com/office/drawing/2014/main" id="{257FEC6B-0B67-49E9-8C46-5C8A28B5E228}"/>
              </a:ext>
            </a:extLst>
          </p:cNvPr>
          <p:cNvPicPr>
            <a:picLocks noChangeAspect="1"/>
          </p:cNvPicPr>
          <p:nvPr/>
        </p:nvPicPr>
        <p:blipFill>
          <a:blip r:embed="rId3"/>
          <a:srcRect l="10303" t="8177" b="914"/>
          <a:stretch/>
        </p:blipFill>
        <p:spPr>
          <a:xfrm>
            <a:off x="20" y="10"/>
            <a:ext cx="12191979" cy="6857990"/>
          </a:xfrm>
          <a:prstGeom prst="rect">
            <a:avLst/>
          </a:prstGeom>
        </p:spPr>
      </p:pic>
      <p:sp>
        <p:nvSpPr>
          <p:cNvPr id="13" name="Rectangle 12">
            <a:extLst>
              <a:ext uri="{FF2B5EF4-FFF2-40B4-BE49-F238E27FC236}">
                <a16:creationId xmlns:a16="http://schemas.microsoft.com/office/drawing/2014/main" id="{AAB476BF-4EE2-5243-CABB-6CC72C39BF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507179" y="173181"/>
            <a:ext cx="6858002" cy="6511640"/>
          </a:xfrm>
          <a:prstGeom prst="rect">
            <a:avLst/>
          </a:prstGeom>
          <a:gradFill>
            <a:gsLst>
              <a:gs pos="0">
                <a:schemeClr val="bg1">
                  <a:alpha val="0"/>
                </a:schemeClr>
              </a:gs>
              <a:gs pos="46000">
                <a:schemeClr val="bg1">
                  <a:alpha val="30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735B65FB-6E99-A64F-BB0A-25D53C91F544}"/>
              </a:ext>
            </a:extLst>
          </p:cNvPr>
          <p:cNvSpPr>
            <a:spLocks noGrp="1"/>
          </p:cNvSpPr>
          <p:nvPr>
            <p:ph type="ctrTitle"/>
          </p:nvPr>
        </p:nvSpPr>
        <p:spPr>
          <a:xfrm>
            <a:off x="7306780" y="978409"/>
            <a:ext cx="4496529" cy="3678268"/>
          </a:xfrm>
        </p:spPr>
        <p:txBody>
          <a:bodyPr anchor="t">
            <a:normAutofit/>
          </a:bodyPr>
          <a:lstStyle/>
          <a:p>
            <a:pPr>
              <a:lnSpc>
                <a:spcPct val="90000"/>
              </a:lnSpc>
            </a:pPr>
            <a:r>
              <a:rPr lang="en-IN" sz="5100" dirty="0"/>
              <a:t>Data Extraction from Non-Relational Databases</a:t>
            </a:r>
          </a:p>
        </p:txBody>
      </p:sp>
      <p:sp>
        <p:nvSpPr>
          <p:cNvPr id="3" name="Subtitle 2">
            <a:extLst>
              <a:ext uri="{FF2B5EF4-FFF2-40B4-BE49-F238E27FC236}">
                <a16:creationId xmlns:a16="http://schemas.microsoft.com/office/drawing/2014/main" id="{86876BBE-CBA1-C12B-E7CA-C8C6DC293F6A}"/>
              </a:ext>
            </a:extLst>
          </p:cNvPr>
          <p:cNvSpPr>
            <a:spLocks noGrp="1"/>
          </p:cNvSpPr>
          <p:nvPr>
            <p:ph type="subTitle" idx="1"/>
          </p:nvPr>
        </p:nvSpPr>
        <p:spPr>
          <a:xfrm>
            <a:off x="7303288" y="4729138"/>
            <a:ext cx="4488812" cy="1150453"/>
          </a:xfrm>
        </p:spPr>
        <p:txBody>
          <a:bodyPr anchor="b">
            <a:normAutofit/>
          </a:bodyPr>
          <a:lstStyle/>
          <a:p>
            <a:r>
              <a:rPr lang="en-IN"/>
              <a:t>Querying non-tabular databases: key differences and tools</a:t>
            </a:r>
          </a:p>
        </p:txBody>
      </p:sp>
      <p:sp>
        <p:nvSpPr>
          <p:cNvPr id="15" name="Rectangle 14">
            <a:extLst>
              <a:ext uri="{FF2B5EF4-FFF2-40B4-BE49-F238E27FC236}">
                <a16:creationId xmlns:a16="http://schemas.microsoft.com/office/drawing/2014/main" id="{20D28EA4-6F96-F7C6-1D07-5BA5C27387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06781" y="508090"/>
            <a:ext cx="449275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7" name="Rectangle 16">
            <a:extLst>
              <a:ext uri="{FF2B5EF4-FFF2-40B4-BE49-F238E27FC236}">
                <a16:creationId xmlns:a16="http://schemas.microsoft.com/office/drawing/2014/main" id="{FDFF93C5-0576-D227-80A7-4CFBA8791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10119" y="6209925"/>
            <a:ext cx="4492754"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214385715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0EC38958-9A69-239A-BA79-2AEC73345F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pic>
        <p:nvPicPr>
          <p:cNvPr id="5" name="Content Placeholder 4" descr="Female drawing flow chart">
            <a:extLst>
              <a:ext uri="{FF2B5EF4-FFF2-40B4-BE49-F238E27FC236}">
                <a16:creationId xmlns:a16="http://schemas.microsoft.com/office/drawing/2014/main" id="{FA61F767-1C7C-405F-8DC8-255F959F16F4}"/>
              </a:ext>
            </a:extLst>
          </p:cNvPr>
          <p:cNvPicPr>
            <a:picLocks noGrp="1" noChangeAspect="1"/>
          </p:cNvPicPr>
          <p:nvPr>
            <p:ph sz="half" idx="1"/>
          </p:nvPr>
        </p:nvPicPr>
        <p:blipFill>
          <a:blip r:embed="rId3"/>
          <a:srcRect l="15859" r="20223" b="1"/>
          <a:stretch/>
        </p:blipFill>
        <p:spPr>
          <a:xfrm>
            <a:off x="517868" y="508090"/>
            <a:ext cx="5705856" cy="5846990"/>
          </a:xfrm>
          <a:prstGeom prst="rect">
            <a:avLst/>
          </a:prstGeom>
        </p:spPr>
      </p:pic>
      <p:sp>
        <p:nvSpPr>
          <p:cNvPr id="2" name="Title 1">
            <a:extLst>
              <a:ext uri="{FF2B5EF4-FFF2-40B4-BE49-F238E27FC236}">
                <a16:creationId xmlns:a16="http://schemas.microsoft.com/office/drawing/2014/main" id="{34BD342E-37C8-0909-C840-506E7664D8F0}"/>
              </a:ext>
            </a:extLst>
          </p:cNvPr>
          <p:cNvSpPr>
            <a:spLocks noGrp="1"/>
          </p:cNvSpPr>
          <p:nvPr>
            <p:ph type="title"/>
          </p:nvPr>
        </p:nvSpPr>
        <p:spPr>
          <a:xfrm>
            <a:off x="7001547" y="976160"/>
            <a:ext cx="4822899" cy="1463040"/>
          </a:xfrm>
        </p:spPr>
        <p:txBody>
          <a:bodyPr vert="horz" lIns="91440" tIns="45720" rIns="91440" bIns="45720" rtlCol="0" anchor="t">
            <a:normAutofit/>
          </a:bodyPr>
          <a:lstStyle/>
          <a:p>
            <a:r>
              <a:rPr lang="en-US" sz="4400"/>
              <a:t>Agenda Items</a:t>
            </a:r>
          </a:p>
        </p:txBody>
      </p:sp>
      <p:sp>
        <p:nvSpPr>
          <p:cNvPr id="4" name="Content Placeholder 3">
            <a:extLst>
              <a:ext uri="{FF2B5EF4-FFF2-40B4-BE49-F238E27FC236}">
                <a16:creationId xmlns:a16="http://schemas.microsoft.com/office/drawing/2014/main" id="{F89CCCF6-A3F1-178B-FFFC-58873886147E}"/>
              </a:ext>
            </a:extLst>
          </p:cNvPr>
          <p:cNvSpPr>
            <a:spLocks noGrp="1"/>
          </p:cNvSpPr>
          <p:nvPr>
            <p:ph sz="half" idx="2"/>
          </p:nvPr>
        </p:nvSpPr>
        <p:spPr>
          <a:xfrm>
            <a:off x="7001548" y="2578608"/>
            <a:ext cx="4672584" cy="3767328"/>
          </a:xfrm>
        </p:spPr>
        <p:txBody>
          <a:bodyPr vert="horz" lIns="91440" tIns="45720" rIns="91440" bIns="45720" rtlCol="0">
            <a:normAutofit/>
          </a:bodyPr>
          <a:lstStyle/>
          <a:p>
            <a:r>
              <a:rPr lang="en-US" sz="1800"/>
              <a:t>Overview of Non-Relational Databases (NoSQL)</a:t>
            </a:r>
          </a:p>
          <a:p>
            <a:r>
              <a:rPr lang="en-US" sz="1800"/>
              <a:t>Key NoSQL Databases</a:t>
            </a:r>
          </a:p>
          <a:p>
            <a:r>
              <a:rPr lang="en-US" sz="1800"/>
              <a:t>Querying Data from NoSQL Databases</a:t>
            </a:r>
          </a:p>
          <a:p>
            <a:r>
              <a:rPr lang="en-US" sz="1800"/>
              <a:t>Handling Non-Relational Data Extraction Challenges</a:t>
            </a:r>
          </a:p>
          <a:p>
            <a:r>
              <a:rPr lang="en-US" sz="1800"/>
              <a:t>Tools for Data Extraction from NoSQL Databases</a:t>
            </a:r>
          </a:p>
        </p:txBody>
      </p:sp>
      <p:sp>
        <p:nvSpPr>
          <p:cNvPr id="18" name="Freeform: Shape 17">
            <a:extLst>
              <a:ext uri="{FF2B5EF4-FFF2-40B4-BE49-F238E27FC236}">
                <a16:creationId xmlns:a16="http://schemas.microsoft.com/office/drawing/2014/main" id="{6EC109E5-0396-8968-4F42-DFEC28036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6407" y="508090"/>
            <a:ext cx="4660733" cy="149279"/>
          </a:xfrm>
          <a:custGeom>
            <a:avLst/>
            <a:gdLst>
              <a:gd name="connsiteX0" fmla="*/ 0 w 6090847"/>
              <a:gd name="connsiteY0" fmla="*/ 0 h 149279"/>
              <a:gd name="connsiteX1" fmla="*/ 6090847 w 6090847"/>
              <a:gd name="connsiteY1" fmla="*/ 0 h 149279"/>
              <a:gd name="connsiteX2" fmla="*/ 6090847 w 6090847"/>
              <a:gd name="connsiteY2" fmla="*/ 149279 h 149279"/>
              <a:gd name="connsiteX3" fmla="*/ 0 w 609084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090847" h="149279">
                <a:moveTo>
                  <a:pt x="0" y="0"/>
                </a:moveTo>
                <a:lnTo>
                  <a:pt x="6090847" y="0"/>
                </a:lnTo>
                <a:lnTo>
                  <a:pt x="609084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18125888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6E9A97B-1917-9176-B980-E15E8CBDB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3FF94B3-6D3E-44FE-BB02-A9027C0003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209925"/>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C7EFAAB5-34A3-C2FC-70BA-7720CC8AD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BE853542-3A58-DB63-F1CD-F8E2762D9E5B}"/>
              </a:ext>
            </a:extLst>
          </p:cNvPr>
          <p:cNvSpPr>
            <a:spLocks noGrp="1"/>
          </p:cNvSpPr>
          <p:nvPr>
            <p:ph type="title"/>
          </p:nvPr>
        </p:nvSpPr>
        <p:spPr>
          <a:xfrm>
            <a:off x="521208" y="1211766"/>
            <a:ext cx="7237052" cy="4727988"/>
          </a:xfrm>
        </p:spPr>
        <p:txBody>
          <a:bodyPr vert="horz" lIns="91440" tIns="45720" rIns="91440" bIns="45720" rtlCol="0" anchor="b">
            <a:normAutofit/>
          </a:bodyPr>
          <a:lstStyle/>
          <a:p>
            <a:r>
              <a:rPr lang="en-US" sz="7400"/>
              <a:t>Overview of Non-Relational Databases (NoSQL)</a:t>
            </a:r>
          </a:p>
        </p:txBody>
      </p:sp>
      <p:sp>
        <p:nvSpPr>
          <p:cNvPr id="19" name="Freeform: Shape 18">
            <a:extLst>
              <a:ext uri="{FF2B5EF4-FFF2-40B4-BE49-F238E27FC236}">
                <a16:creationId xmlns:a16="http://schemas.microsoft.com/office/drawing/2014/main" id="{A8A44BC8-2508-4575-75F6-0ED3F11E7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6208776"/>
            <a:ext cx="7269480"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4050704836"/>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34C0330F-1D4F-4552-B799-615DD237B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pic>
        <p:nvPicPr>
          <p:cNvPr id="5" name="Content Placeholder 4" descr="Red Communication bubbles with copy space are connected each other with black arrows. This image shows the social media, and online communication between people.">
            <a:extLst>
              <a:ext uri="{FF2B5EF4-FFF2-40B4-BE49-F238E27FC236}">
                <a16:creationId xmlns:a16="http://schemas.microsoft.com/office/drawing/2014/main" id="{1E9B5EA9-1DEE-4D12-B0FE-1E61D13F07D9}"/>
              </a:ext>
            </a:extLst>
          </p:cNvPr>
          <p:cNvPicPr>
            <a:picLocks noGrp="1" noChangeAspect="1"/>
          </p:cNvPicPr>
          <p:nvPr>
            <p:ph sz="half" idx="1"/>
          </p:nvPr>
        </p:nvPicPr>
        <p:blipFill>
          <a:blip r:embed="rId3"/>
          <a:srcRect l="10520" r="24297" b="1"/>
          <a:stretch/>
        </p:blipFill>
        <p:spPr>
          <a:xfrm>
            <a:off x="5958018" y="508090"/>
            <a:ext cx="5709726" cy="5846989"/>
          </a:xfrm>
          <a:prstGeom prst="rect">
            <a:avLst/>
          </a:prstGeom>
        </p:spPr>
      </p:pic>
      <p:sp>
        <p:nvSpPr>
          <p:cNvPr id="2" name="Title 1">
            <a:extLst>
              <a:ext uri="{FF2B5EF4-FFF2-40B4-BE49-F238E27FC236}">
                <a16:creationId xmlns:a16="http://schemas.microsoft.com/office/drawing/2014/main" id="{D7B4E105-DB5F-FAE3-8332-C5D8BE49064F}"/>
              </a:ext>
            </a:extLst>
          </p:cNvPr>
          <p:cNvSpPr>
            <a:spLocks noGrp="1"/>
          </p:cNvSpPr>
          <p:nvPr>
            <p:ph type="title"/>
          </p:nvPr>
        </p:nvSpPr>
        <p:spPr>
          <a:xfrm>
            <a:off x="517871" y="976160"/>
            <a:ext cx="4798200" cy="1463040"/>
          </a:xfrm>
        </p:spPr>
        <p:txBody>
          <a:bodyPr vert="horz" lIns="91440" tIns="45720" rIns="91440" bIns="45720" rtlCol="0" anchor="t">
            <a:normAutofit/>
          </a:bodyPr>
          <a:lstStyle/>
          <a:p>
            <a:pPr>
              <a:lnSpc>
                <a:spcPct val="90000"/>
              </a:lnSpc>
            </a:pPr>
            <a:r>
              <a:rPr lang="en-US" sz="3100"/>
              <a:t>Key differences between relational and non-relational databases</a:t>
            </a:r>
          </a:p>
        </p:txBody>
      </p:sp>
      <p:sp>
        <p:nvSpPr>
          <p:cNvPr id="4" name="Content Placeholder 3">
            <a:extLst>
              <a:ext uri="{FF2B5EF4-FFF2-40B4-BE49-F238E27FC236}">
                <a16:creationId xmlns:a16="http://schemas.microsoft.com/office/drawing/2014/main" id="{55988D65-BF0F-1097-6BE4-7E18DC6417B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7871" y="2578608"/>
            <a:ext cx="4672966" cy="3767328"/>
          </a:xfrm>
        </p:spPr>
        <p:txBody>
          <a:bodyPr>
            <a:normAutofit/>
          </a:bodyPr>
          <a:lstStyle/>
          <a:p>
            <a:pPr marL="0" indent="0">
              <a:spcBef>
                <a:spcPts val="2500"/>
              </a:spcBef>
              <a:buNone/>
            </a:pPr>
            <a:r>
              <a:rPr lang="en-US" sz="1400" b="1"/>
              <a:t>Data Structure</a:t>
            </a:r>
          </a:p>
          <a:p>
            <a:pPr marL="0" lvl="1" indent="0">
              <a:buNone/>
            </a:pPr>
            <a:r>
              <a:rPr lang="en-US" sz="1400"/>
              <a:t>Relational databases store data in tables with predefined columns and rows, while non-relational databases store data in various formats such as key-value pairs, documents and graphs.</a:t>
            </a:r>
          </a:p>
          <a:p>
            <a:pPr marL="0" indent="0">
              <a:spcBef>
                <a:spcPts val="2500"/>
              </a:spcBef>
              <a:buNone/>
            </a:pPr>
            <a:r>
              <a:rPr lang="en-US" sz="1400" b="1"/>
              <a:t>Data Flexibility</a:t>
            </a:r>
          </a:p>
          <a:p>
            <a:pPr marL="0" lvl="1" indent="0">
              <a:buNone/>
            </a:pPr>
            <a:r>
              <a:rPr lang="en-US" sz="1400"/>
              <a:t>Non-relational databases are more flexible and can handle unstructured and semi-structured data better than relational databases.</a:t>
            </a:r>
            <a:endParaRPr lang="en-IN" sz="1400"/>
          </a:p>
        </p:txBody>
      </p:sp>
      <p:sp>
        <p:nvSpPr>
          <p:cNvPr id="18" name="Rectangle 17">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467296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35755598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34C0330F-1D4F-4552-B799-615DD237B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pic>
        <p:nvPicPr>
          <p:cNvPr id="5" name="Content Placeholder 4" descr="abstract programm binary code  and colored array cube Database">
            <a:extLst>
              <a:ext uri="{FF2B5EF4-FFF2-40B4-BE49-F238E27FC236}">
                <a16:creationId xmlns:a16="http://schemas.microsoft.com/office/drawing/2014/main" id="{109EFD59-E28E-422C-B2C9-B3A8FE80B9B0}"/>
              </a:ext>
            </a:extLst>
          </p:cNvPr>
          <p:cNvPicPr>
            <a:picLocks noGrp="1" noChangeAspect="1"/>
          </p:cNvPicPr>
          <p:nvPr>
            <p:ph sz="half" idx="1"/>
          </p:nvPr>
        </p:nvPicPr>
        <p:blipFill>
          <a:blip r:embed="rId3"/>
          <a:srcRect l="40432"/>
          <a:stretch/>
        </p:blipFill>
        <p:spPr>
          <a:xfrm>
            <a:off x="5958018" y="508090"/>
            <a:ext cx="5709726" cy="5846989"/>
          </a:xfrm>
          <a:prstGeom prst="rect">
            <a:avLst/>
          </a:prstGeom>
        </p:spPr>
      </p:pic>
      <p:sp>
        <p:nvSpPr>
          <p:cNvPr id="2" name="Title 1">
            <a:extLst>
              <a:ext uri="{FF2B5EF4-FFF2-40B4-BE49-F238E27FC236}">
                <a16:creationId xmlns:a16="http://schemas.microsoft.com/office/drawing/2014/main" id="{68CD0D37-2068-0369-02A6-A43F7E8BDA8E}"/>
              </a:ext>
            </a:extLst>
          </p:cNvPr>
          <p:cNvSpPr>
            <a:spLocks noGrp="1"/>
          </p:cNvSpPr>
          <p:nvPr>
            <p:ph type="title"/>
          </p:nvPr>
        </p:nvSpPr>
        <p:spPr>
          <a:xfrm>
            <a:off x="517871" y="976160"/>
            <a:ext cx="4798200" cy="1463040"/>
          </a:xfrm>
        </p:spPr>
        <p:txBody>
          <a:bodyPr vert="horz" lIns="91440" tIns="45720" rIns="91440" bIns="45720" rtlCol="0" anchor="t">
            <a:normAutofit/>
          </a:bodyPr>
          <a:lstStyle/>
          <a:p>
            <a:r>
              <a:rPr lang="en-US" sz="4400"/>
              <a:t>Types of NoSQL databases</a:t>
            </a:r>
          </a:p>
        </p:txBody>
      </p:sp>
      <p:sp>
        <p:nvSpPr>
          <p:cNvPr id="4" name="Content Placeholder 3">
            <a:extLst>
              <a:ext uri="{FF2B5EF4-FFF2-40B4-BE49-F238E27FC236}">
                <a16:creationId xmlns:a16="http://schemas.microsoft.com/office/drawing/2014/main" id="{2E4FF59A-E9F0-8815-D698-D6CC7A68D13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7871" y="2578608"/>
            <a:ext cx="4672966" cy="3767328"/>
          </a:xfrm>
        </p:spPr>
        <p:txBody>
          <a:bodyPr>
            <a:normAutofit/>
          </a:bodyPr>
          <a:lstStyle/>
          <a:p>
            <a:pPr marL="0" indent="0">
              <a:spcBef>
                <a:spcPts val="2500"/>
              </a:spcBef>
              <a:buNone/>
            </a:pPr>
            <a:r>
              <a:rPr lang="en-US" sz="1400" b="1"/>
              <a:t>Key-Value Stores</a:t>
            </a:r>
          </a:p>
          <a:p>
            <a:pPr marL="0" lvl="1" indent="0">
              <a:buNone/>
            </a:pPr>
            <a:r>
              <a:rPr lang="en-US" sz="1400"/>
              <a:t>Key-value stores are NoSQL databases that store data as key-value pairs and provide fast read and write performance. They are good for handling large amounts of data with a simple data model.</a:t>
            </a:r>
          </a:p>
          <a:p>
            <a:pPr marL="0" indent="0">
              <a:spcBef>
                <a:spcPts val="2500"/>
              </a:spcBef>
              <a:buNone/>
            </a:pPr>
            <a:r>
              <a:rPr lang="en-US" sz="1400" b="1"/>
              <a:t>Document Stores</a:t>
            </a:r>
          </a:p>
          <a:p>
            <a:pPr marL="0" lvl="1" indent="0">
              <a:buNone/>
            </a:pPr>
            <a:r>
              <a:rPr lang="en-US" sz="1400"/>
              <a:t>Document stores are NoSQL databases that store data in flexible, semi-structured documents such as JSON or XML. They are good for handling unstructured data and can scale horizontally.</a:t>
            </a:r>
            <a:endParaRPr lang="en-IN" sz="1400"/>
          </a:p>
        </p:txBody>
      </p:sp>
      <p:sp>
        <p:nvSpPr>
          <p:cNvPr id="18" name="Rectangle 17">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467296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39188658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6E9A97B-1917-9176-B980-E15E8CBDB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3FF94B3-6D3E-44FE-BB02-A9027C0003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209925"/>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C7EFAAB5-34A3-C2FC-70BA-7720CC8AD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B56B1E36-5270-D679-63DE-1ADFD36D0295}"/>
              </a:ext>
            </a:extLst>
          </p:cNvPr>
          <p:cNvSpPr>
            <a:spLocks noGrp="1"/>
          </p:cNvSpPr>
          <p:nvPr>
            <p:ph type="title"/>
          </p:nvPr>
        </p:nvSpPr>
        <p:spPr>
          <a:xfrm>
            <a:off x="521208" y="1211766"/>
            <a:ext cx="7237052" cy="4727988"/>
          </a:xfrm>
        </p:spPr>
        <p:txBody>
          <a:bodyPr vert="horz" lIns="91440" tIns="45720" rIns="91440" bIns="45720" rtlCol="0" anchor="b">
            <a:normAutofit/>
          </a:bodyPr>
          <a:lstStyle/>
          <a:p>
            <a:r>
              <a:rPr lang="en-US" sz="7400"/>
              <a:t>Key NoSQL Databases</a:t>
            </a:r>
          </a:p>
        </p:txBody>
      </p:sp>
      <p:sp>
        <p:nvSpPr>
          <p:cNvPr id="19" name="Freeform: Shape 18">
            <a:extLst>
              <a:ext uri="{FF2B5EF4-FFF2-40B4-BE49-F238E27FC236}">
                <a16:creationId xmlns:a16="http://schemas.microsoft.com/office/drawing/2014/main" id="{A8A44BC8-2508-4575-75F6-0ED3F11E7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6208776"/>
            <a:ext cx="7269480"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1159406834"/>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Content Placeholder 4" descr="Illuminated server room panel">
            <a:extLst>
              <a:ext uri="{FF2B5EF4-FFF2-40B4-BE49-F238E27FC236}">
                <a16:creationId xmlns:a16="http://schemas.microsoft.com/office/drawing/2014/main" id="{4047D0FA-2A04-49F4-B0A6-D3AEE8111B25}"/>
              </a:ext>
            </a:extLst>
          </p:cNvPr>
          <p:cNvPicPr>
            <a:picLocks noGrp="1" noChangeAspect="1"/>
          </p:cNvPicPr>
          <p:nvPr>
            <p:ph sz="half" idx="1"/>
          </p:nvPr>
        </p:nvPicPr>
        <p:blipFill>
          <a:blip r:embed="rId3"/>
          <a:srcRect l="5001" r="12234" b="3"/>
          <a:stretch/>
        </p:blipFill>
        <p:spPr>
          <a:xfrm>
            <a:off x="517867" y="2577661"/>
            <a:ext cx="4672584" cy="3768343"/>
          </a:xfrm>
          <a:prstGeom prst="rect">
            <a:avLst/>
          </a:prstGeom>
        </p:spPr>
      </p:pic>
      <p:sp>
        <p:nvSpPr>
          <p:cNvPr id="2" name="Title 1">
            <a:extLst>
              <a:ext uri="{FF2B5EF4-FFF2-40B4-BE49-F238E27FC236}">
                <a16:creationId xmlns:a16="http://schemas.microsoft.com/office/drawing/2014/main" id="{AB30B126-4B4F-38B4-4E26-E56CFF9F9688}"/>
              </a:ext>
            </a:extLst>
          </p:cNvPr>
          <p:cNvSpPr>
            <a:spLocks noGrp="1"/>
          </p:cNvSpPr>
          <p:nvPr>
            <p:ph type="title"/>
          </p:nvPr>
        </p:nvSpPr>
        <p:spPr>
          <a:xfrm>
            <a:off x="517867" y="976160"/>
            <a:ext cx="4809314" cy="1447163"/>
          </a:xfrm>
        </p:spPr>
        <p:txBody>
          <a:bodyPr vert="horz" lIns="91440" tIns="45720" rIns="91440" bIns="45720" rtlCol="0" anchor="t">
            <a:normAutofit/>
          </a:bodyPr>
          <a:lstStyle/>
          <a:p>
            <a:pPr>
              <a:lnSpc>
                <a:spcPct val="90000"/>
              </a:lnSpc>
            </a:pPr>
            <a:r>
              <a:rPr lang="en-US" sz="3100"/>
              <a:t>MongoDB, Cassandra, Couchbase, DynamoDB</a:t>
            </a:r>
          </a:p>
        </p:txBody>
      </p:sp>
      <p:sp>
        <p:nvSpPr>
          <p:cNvPr id="4" name="Content Placeholder 3">
            <a:extLst>
              <a:ext uri="{FF2B5EF4-FFF2-40B4-BE49-F238E27FC236}">
                <a16:creationId xmlns:a16="http://schemas.microsoft.com/office/drawing/2014/main" id="{792BD102-E6B5-2555-84A4-1AD014D8262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42000" y="1033272"/>
            <a:ext cx="5832133" cy="5312732"/>
          </a:xfrm>
        </p:spPr>
        <p:txBody>
          <a:bodyPr>
            <a:normAutofit/>
          </a:bodyPr>
          <a:lstStyle/>
          <a:p>
            <a:pPr marL="0" indent="0">
              <a:spcBef>
                <a:spcPts val="2500"/>
              </a:spcBef>
              <a:buNone/>
            </a:pPr>
            <a:r>
              <a:rPr lang="en-US" sz="1400" b="1"/>
              <a:t>MongoDB</a:t>
            </a:r>
          </a:p>
          <a:p>
            <a:pPr marL="0" lvl="1" indent="0">
              <a:buNone/>
            </a:pPr>
            <a:r>
              <a:rPr lang="en-US" sz="1400"/>
              <a:t>MongoDB is a popular document store database that provides a flexible and scalable solution for managing complex data structures.</a:t>
            </a:r>
          </a:p>
          <a:p>
            <a:pPr marL="0" indent="0">
              <a:spcBef>
                <a:spcPts val="2500"/>
              </a:spcBef>
              <a:buNone/>
            </a:pPr>
            <a:r>
              <a:rPr lang="en-US" sz="1400" b="1"/>
              <a:t>Cassandra</a:t>
            </a:r>
          </a:p>
          <a:p>
            <a:pPr marL="0" lvl="1" indent="0">
              <a:buNone/>
            </a:pPr>
            <a:r>
              <a:rPr lang="en-US" sz="1400"/>
              <a:t>Cassandra is a column-family store database that can handle large amounts of data and has high availability, making it an ideal solution for big data applications.</a:t>
            </a:r>
          </a:p>
          <a:p>
            <a:pPr marL="0" indent="0">
              <a:spcBef>
                <a:spcPts val="2500"/>
              </a:spcBef>
              <a:buNone/>
            </a:pPr>
            <a:r>
              <a:rPr lang="en-US" sz="1400" b="1"/>
              <a:t>Couchbase</a:t>
            </a:r>
          </a:p>
          <a:p>
            <a:pPr marL="0" lvl="1" indent="0">
              <a:buNone/>
            </a:pPr>
            <a:r>
              <a:rPr lang="en-US" sz="1400"/>
              <a:t>Couchbase is a highly performant key-value store database that is easy to use and widely adopted for its scalability and low latency access to data.</a:t>
            </a:r>
          </a:p>
          <a:p>
            <a:pPr marL="0" indent="0">
              <a:spcBef>
                <a:spcPts val="2500"/>
              </a:spcBef>
              <a:buNone/>
            </a:pPr>
            <a:r>
              <a:rPr lang="en-US" sz="1400" b="1"/>
              <a:t>DynamoDB</a:t>
            </a:r>
          </a:p>
          <a:p>
            <a:pPr marL="0" lvl="1" indent="0">
              <a:buNone/>
            </a:pPr>
            <a:r>
              <a:rPr lang="en-US" sz="1400"/>
              <a:t>DynamoDB is a highly scalable key-value store database that is designed for low latency access to data, making it an ideal choice for real-time applications.</a:t>
            </a:r>
            <a:endParaRPr lang="en-IN" sz="1400"/>
          </a:p>
        </p:txBody>
      </p:sp>
      <p:sp>
        <p:nvSpPr>
          <p:cNvPr id="18" name="Rectangle 17">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467258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9945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6E9A97B-1917-9176-B980-E15E8CBDB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3FF94B3-6D3E-44FE-BB02-A9027C0003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209925"/>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C7EFAAB5-34A3-C2FC-70BA-7720CC8AD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52B5B58C-A3B7-686A-9180-3FE9947DE657}"/>
              </a:ext>
            </a:extLst>
          </p:cNvPr>
          <p:cNvSpPr>
            <a:spLocks noGrp="1"/>
          </p:cNvSpPr>
          <p:nvPr>
            <p:ph type="title"/>
          </p:nvPr>
        </p:nvSpPr>
        <p:spPr>
          <a:xfrm>
            <a:off x="521208" y="1211766"/>
            <a:ext cx="7237052" cy="4727988"/>
          </a:xfrm>
        </p:spPr>
        <p:txBody>
          <a:bodyPr vert="horz" lIns="91440" tIns="45720" rIns="91440" bIns="45720" rtlCol="0" anchor="b">
            <a:normAutofit/>
          </a:bodyPr>
          <a:lstStyle/>
          <a:p>
            <a:r>
              <a:rPr lang="en-US" sz="7400"/>
              <a:t>Querying Data from NoSQL Databases</a:t>
            </a:r>
          </a:p>
        </p:txBody>
      </p:sp>
      <p:sp>
        <p:nvSpPr>
          <p:cNvPr id="19" name="Freeform: Shape 18">
            <a:extLst>
              <a:ext uri="{FF2B5EF4-FFF2-40B4-BE49-F238E27FC236}">
                <a16:creationId xmlns:a16="http://schemas.microsoft.com/office/drawing/2014/main" id="{A8A44BC8-2508-4575-75F6-0ED3F11E7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6208776"/>
            <a:ext cx="7269480"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3313551132"/>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4C32CD27-7027-AB2B-38F1-71C08EB840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Content Placeholder 4" descr="3D Server with speech bubble - Data base concept">
            <a:extLst>
              <a:ext uri="{FF2B5EF4-FFF2-40B4-BE49-F238E27FC236}">
                <a16:creationId xmlns:a16="http://schemas.microsoft.com/office/drawing/2014/main" id="{5B57F925-3F7D-484A-A6EA-50D9992FAFAD}"/>
              </a:ext>
            </a:extLst>
          </p:cNvPr>
          <p:cNvPicPr>
            <a:picLocks noGrp="1" noChangeAspect="1"/>
          </p:cNvPicPr>
          <p:nvPr>
            <p:ph sz="half" idx="1"/>
          </p:nvPr>
        </p:nvPicPr>
        <p:blipFill>
          <a:blip r:embed="rId3"/>
          <a:srcRect l="38606" r="12397" b="-1"/>
          <a:stretch/>
        </p:blipFill>
        <p:spPr>
          <a:xfrm>
            <a:off x="517869" y="508091"/>
            <a:ext cx="4221911" cy="5837918"/>
          </a:xfrm>
          <a:prstGeom prst="rect">
            <a:avLst/>
          </a:prstGeom>
        </p:spPr>
      </p:pic>
      <p:sp>
        <p:nvSpPr>
          <p:cNvPr id="2" name="Title 1">
            <a:extLst>
              <a:ext uri="{FF2B5EF4-FFF2-40B4-BE49-F238E27FC236}">
                <a16:creationId xmlns:a16="http://schemas.microsoft.com/office/drawing/2014/main" id="{A0A34834-7C64-B714-99E4-D5F8CA78D2B1}"/>
              </a:ext>
            </a:extLst>
          </p:cNvPr>
          <p:cNvSpPr>
            <a:spLocks noGrp="1"/>
          </p:cNvSpPr>
          <p:nvPr>
            <p:ph type="title"/>
          </p:nvPr>
        </p:nvSpPr>
        <p:spPr>
          <a:xfrm>
            <a:off x="5438762" y="976160"/>
            <a:ext cx="6232310" cy="1463040"/>
          </a:xfrm>
        </p:spPr>
        <p:txBody>
          <a:bodyPr vert="horz" lIns="91440" tIns="45720" rIns="91440" bIns="45720" rtlCol="0" anchor="t">
            <a:normAutofit/>
          </a:bodyPr>
          <a:lstStyle/>
          <a:p>
            <a:pPr>
              <a:lnSpc>
                <a:spcPct val="90000"/>
              </a:lnSpc>
            </a:pPr>
            <a:r>
              <a:rPr lang="en-US" sz="3100"/>
              <a:t>Using Query Languages for NoSQL: MongoDB’s Query Language, Cassandra CQL</a:t>
            </a:r>
          </a:p>
        </p:txBody>
      </p:sp>
      <p:sp>
        <p:nvSpPr>
          <p:cNvPr id="4" name="Content Placeholder 3">
            <a:extLst>
              <a:ext uri="{FF2B5EF4-FFF2-40B4-BE49-F238E27FC236}">
                <a16:creationId xmlns:a16="http://schemas.microsoft.com/office/drawing/2014/main" id="{8B2E9661-91FF-4101-972F-ED90A810822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438775" y="2577871"/>
            <a:ext cx="6232310" cy="3768137"/>
          </a:xfrm>
        </p:spPr>
        <p:txBody>
          <a:bodyPr>
            <a:normAutofit/>
          </a:bodyPr>
          <a:lstStyle/>
          <a:p>
            <a:pPr marL="0" indent="0">
              <a:spcBef>
                <a:spcPts val="2500"/>
              </a:spcBef>
              <a:buNone/>
            </a:pPr>
            <a:r>
              <a:rPr lang="en-IN" sz="1400" b="1"/>
              <a:t>Query Languages for NoSQL</a:t>
            </a:r>
          </a:p>
          <a:p>
            <a:pPr marL="0" lvl="1" indent="0">
              <a:buNone/>
            </a:pPr>
            <a:r>
              <a:rPr lang="en-IN" sz="1400"/>
              <a:t>Query languages for NoSQL databases like MongoDB's query language and Cassandra CQL allow us to retrieve and manipulate data from the database. However, their syntax and data retrieval mechanisms are different from SQL.</a:t>
            </a:r>
          </a:p>
          <a:p>
            <a:pPr marL="0" indent="0">
              <a:spcBef>
                <a:spcPts val="2500"/>
              </a:spcBef>
              <a:buNone/>
            </a:pPr>
            <a:r>
              <a:rPr lang="en-IN" sz="1400" b="1"/>
              <a:t>MongoDB’s Query Language</a:t>
            </a:r>
          </a:p>
          <a:p>
            <a:pPr marL="0" lvl="1" indent="0">
              <a:buNone/>
            </a:pPr>
            <a:r>
              <a:rPr lang="en-IN" sz="1400"/>
              <a:t>MongoDB's query language is a flexible and powerful query language that allows us to perform complex queries on a MongoDB database. It uses a JSON-like syntax and supports many data types and operators.</a:t>
            </a:r>
          </a:p>
          <a:p>
            <a:pPr marL="0" indent="0">
              <a:spcBef>
                <a:spcPts val="2500"/>
              </a:spcBef>
              <a:buNone/>
            </a:pPr>
            <a:r>
              <a:rPr lang="en-IN" sz="1400" b="1"/>
              <a:t>Cassandra CQL</a:t>
            </a:r>
          </a:p>
          <a:p>
            <a:pPr marL="0" lvl="1" indent="0">
              <a:buNone/>
            </a:pPr>
            <a:r>
              <a:rPr lang="en-IN" sz="1400"/>
              <a:t>Cassandra CQL is a query language that allows us to perform data retrieval and manipulation operations on a Cassandra database. It uses a SQL-like syntax and supports various data types and operators.</a:t>
            </a:r>
          </a:p>
        </p:txBody>
      </p:sp>
      <p:sp>
        <p:nvSpPr>
          <p:cNvPr id="18" name="Freeform: Shape 17">
            <a:extLst>
              <a:ext uri="{FF2B5EF4-FFF2-40B4-BE49-F238E27FC236}">
                <a16:creationId xmlns:a16="http://schemas.microsoft.com/office/drawing/2014/main" id="{C6DD38CD-CFFE-4ABA-3DC8-01ED90559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84611" y="508090"/>
            <a:ext cx="6186474" cy="149279"/>
          </a:xfrm>
          <a:custGeom>
            <a:avLst/>
            <a:gdLst>
              <a:gd name="connsiteX0" fmla="*/ 0 w 6090847"/>
              <a:gd name="connsiteY0" fmla="*/ 0 h 149279"/>
              <a:gd name="connsiteX1" fmla="*/ 6090847 w 6090847"/>
              <a:gd name="connsiteY1" fmla="*/ 0 h 149279"/>
              <a:gd name="connsiteX2" fmla="*/ 6090847 w 6090847"/>
              <a:gd name="connsiteY2" fmla="*/ 149279 h 149279"/>
              <a:gd name="connsiteX3" fmla="*/ 0 w 609084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090847" h="149279">
                <a:moveTo>
                  <a:pt x="0" y="0"/>
                </a:moveTo>
                <a:lnTo>
                  <a:pt x="6090847" y="0"/>
                </a:lnTo>
                <a:lnTo>
                  <a:pt x="609084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5783370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5" name="Content Placeholder 4" descr="Magnifying glass showing decling performance">
            <a:extLst>
              <a:ext uri="{FF2B5EF4-FFF2-40B4-BE49-F238E27FC236}">
                <a16:creationId xmlns:a16="http://schemas.microsoft.com/office/drawing/2014/main" id="{4D9BEF20-0915-4973-B4AD-42B16A9B31D9}"/>
              </a:ext>
            </a:extLst>
          </p:cNvPr>
          <p:cNvPicPr>
            <a:picLocks noGrp="1" noChangeAspect="1"/>
          </p:cNvPicPr>
          <p:nvPr>
            <p:ph sz="half" idx="1"/>
          </p:nvPr>
        </p:nvPicPr>
        <p:blipFill>
          <a:blip r:embed="rId3"/>
          <a:srcRect t="4395" r="1" b="18306"/>
          <a:stretch/>
        </p:blipFill>
        <p:spPr>
          <a:xfrm>
            <a:off x="517864" y="1863633"/>
            <a:ext cx="8687096" cy="4482371"/>
          </a:xfrm>
          <a:prstGeom prst="rect">
            <a:avLst/>
          </a:prstGeom>
        </p:spPr>
      </p:pic>
      <p:sp>
        <p:nvSpPr>
          <p:cNvPr id="2" name="Title 1">
            <a:extLst>
              <a:ext uri="{FF2B5EF4-FFF2-40B4-BE49-F238E27FC236}">
                <a16:creationId xmlns:a16="http://schemas.microsoft.com/office/drawing/2014/main" id="{62481E57-88DA-091C-7733-DE42268576DA}"/>
              </a:ext>
            </a:extLst>
          </p:cNvPr>
          <p:cNvSpPr>
            <a:spLocks noGrp="1"/>
          </p:cNvSpPr>
          <p:nvPr>
            <p:ph type="title"/>
          </p:nvPr>
        </p:nvSpPr>
        <p:spPr>
          <a:xfrm>
            <a:off x="517865" y="976160"/>
            <a:ext cx="8686800" cy="813063"/>
          </a:xfrm>
        </p:spPr>
        <p:txBody>
          <a:bodyPr vert="horz" lIns="91440" tIns="45720" rIns="91440" bIns="45720" rtlCol="0" anchor="t">
            <a:normAutofit/>
          </a:bodyPr>
          <a:lstStyle/>
          <a:p>
            <a:pPr>
              <a:lnSpc>
                <a:spcPct val="90000"/>
              </a:lnSpc>
            </a:pPr>
            <a:r>
              <a:rPr lang="en-US" sz="2400"/>
              <a:t>Extracting data from document databases: MongoDB</a:t>
            </a:r>
          </a:p>
        </p:txBody>
      </p:sp>
      <p:sp>
        <p:nvSpPr>
          <p:cNvPr id="4" name="Content Placeholder 3">
            <a:extLst>
              <a:ext uri="{FF2B5EF4-FFF2-40B4-BE49-F238E27FC236}">
                <a16:creationId xmlns:a16="http://schemas.microsoft.com/office/drawing/2014/main" id="{6613A07E-25C6-7735-E7B7-8155E20FA11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9631680" y="1863632"/>
            <a:ext cx="2042449" cy="4482371"/>
          </a:xfrm>
        </p:spPr>
        <p:txBody>
          <a:bodyPr>
            <a:normAutofit/>
          </a:bodyPr>
          <a:lstStyle/>
          <a:p>
            <a:pPr marL="0" indent="0">
              <a:spcBef>
                <a:spcPts val="2500"/>
              </a:spcBef>
              <a:buNone/>
            </a:pPr>
            <a:endParaRPr lang="en-US" sz="1400" b="1"/>
          </a:p>
          <a:p>
            <a:pPr marL="0" lvl="1" indent="0">
              <a:buNone/>
            </a:pPr>
            <a:r>
              <a:rPr lang="en-US" sz="1400"/>
              <a:t>MongoDB stores data in documents, which are similar to JSON objects. These documents can be queried using various operators and methods to extract data from MongoDB databases.</a:t>
            </a:r>
            <a:endParaRPr lang="en-IN" sz="1400"/>
          </a:p>
        </p:txBody>
      </p:sp>
      <p:sp>
        <p:nvSpPr>
          <p:cNvPr id="18" name="Rectangle 17">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5" y="508090"/>
            <a:ext cx="811123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0" name="Freeform: Shape 19">
            <a:extLst>
              <a:ext uri="{FF2B5EF4-FFF2-40B4-BE49-F238E27FC236}">
                <a16:creationId xmlns:a16="http://schemas.microsoft.com/office/drawing/2014/main" id="{E94EA6C1-5B73-CB10-F9FB-B671500CC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8686800"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23646955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0EC38958-9A69-239A-BA79-2AEC73345F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pic>
        <p:nvPicPr>
          <p:cNvPr id="5" name="Content Placeholder 4" descr="Big data internet technology">
            <a:extLst>
              <a:ext uri="{FF2B5EF4-FFF2-40B4-BE49-F238E27FC236}">
                <a16:creationId xmlns:a16="http://schemas.microsoft.com/office/drawing/2014/main" id="{CEEB8E49-C4B6-4A12-B2E0-29DD01305302}"/>
              </a:ext>
            </a:extLst>
          </p:cNvPr>
          <p:cNvPicPr>
            <a:picLocks noGrp="1" noChangeAspect="1"/>
          </p:cNvPicPr>
          <p:nvPr>
            <p:ph sz="half" idx="1"/>
          </p:nvPr>
        </p:nvPicPr>
        <p:blipFill>
          <a:blip r:embed="rId3"/>
          <a:srcRect l="2414" r="-3" b="-3"/>
          <a:stretch/>
        </p:blipFill>
        <p:spPr>
          <a:xfrm>
            <a:off x="517868" y="508090"/>
            <a:ext cx="5705856" cy="5846990"/>
          </a:xfrm>
          <a:prstGeom prst="rect">
            <a:avLst/>
          </a:prstGeom>
        </p:spPr>
      </p:pic>
      <p:sp>
        <p:nvSpPr>
          <p:cNvPr id="2" name="Title 1">
            <a:extLst>
              <a:ext uri="{FF2B5EF4-FFF2-40B4-BE49-F238E27FC236}">
                <a16:creationId xmlns:a16="http://schemas.microsoft.com/office/drawing/2014/main" id="{AB8C2E1D-499F-DFC7-0799-6D332984C91D}"/>
              </a:ext>
            </a:extLst>
          </p:cNvPr>
          <p:cNvSpPr>
            <a:spLocks noGrp="1"/>
          </p:cNvSpPr>
          <p:nvPr>
            <p:ph type="title"/>
          </p:nvPr>
        </p:nvSpPr>
        <p:spPr>
          <a:xfrm>
            <a:off x="7001547" y="976160"/>
            <a:ext cx="4822899" cy="1463040"/>
          </a:xfrm>
        </p:spPr>
        <p:txBody>
          <a:bodyPr vert="horz" lIns="91440" tIns="45720" rIns="91440" bIns="45720" rtlCol="0" anchor="t">
            <a:normAutofit/>
          </a:bodyPr>
          <a:lstStyle/>
          <a:p>
            <a:pPr>
              <a:lnSpc>
                <a:spcPct val="90000"/>
              </a:lnSpc>
            </a:pPr>
            <a:r>
              <a:rPr lang="en-US" sz="3100"/>
              <a:t>Extracting data from key-value stores: Redis, DynamoDB</a:t>
            </a:r>
          </a:p>
        </p:txBody>
      </p:sp>
      <p:sp>
        <p:nvSpPr>
          <p:cNvPr id="4" name="Content Placeholder 3">
            <a:extLst>
              <a:ext uri="{FF2B5EF4-FFF2-40B4-BE49-F238E27FC236}">
                <a16:creationId xmlns:a16="http://schemas.microsoft.com/office/drawing/2014/main" id="{3B73FAF6-317D-27D3-3D19-88A241F2070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01548" y="2578608"/>
            <a:ext cx="4672584" cy="3767328"/>
          </a:xfrm>
        </p:spPr>
        <p:txBody>
          <a:bodyPr>
            <a:normAutofit/>
          </a:bodyPr>
          <a:lstStyle/>
          <a:p>
            <a:pPr marL="0" indent="0">
              <a:spcBef>
                <a:spcPts val="2500"/>
              </a:spcBef>
              <a:buNone/>
            </a:pPr>
            <a:r>
              <a:rPr lang="en-US" sz="1400" b="1"/>
              <a:t>Key-Value Stores</a:t>
            </a:r>
          </a:p>
          <a:p>
            <a:pPr marL="0" lvl="1" indent="0">
              <a:buNone/>
            </a:pPr>
            <a:r>
              <a:rPr lang="en-US" sz="1400"/>
              <a:t>Key-value stores such as Redis and DynamoDB are simple but powerful databases that can store large amounts of data in key-value pairs, making them a popular choice for many applications.</a:t>
            </a:r>
          </a:p>
          <a:p>
            <a:pPr marL="0" indent="0">
              <a:spcBef>
                <a:spcPts val="2500"/>
              </a:spcBef>
              <a:buNone/>
            </a:pPr>
            <a:r>
              <a:rPr lang="en-US" sz="1400" b="1"/>
              <a:t>Data Extraction</a:t>
            </a:r>
          </a:p>
          <a:p>
            <a:pPr marL="0" lvl="1" indent="0">
              <a:buNone/>
            </a:pPr>
            <a:r>
              <a:rPr lang="en-US" sz="1400"/>
              <a:t>There are various APIs available to extract data from key-value stores like Redis and DynamoDB. These APIs allow developers to retrieve data and use it in their application.</a:t>
            </a:r>
            <a:endParaRPr lang="en-IN" sz="1400"/>
          </a:p>
        </p:txBody>
      </p:sp>
      <p:sp>
        <p:nvSpPr>
          <p:cNvPr id="18" name="Freeform: Shape 17">
            <a:extLst>
              <a:ext uri="{FF2B5EF4-FFF2-40B4-BE49-F238E27FC236}">
                <a16:creationId xmlns:a16="http://schemas.microsoft.com/office/drawing/2014/main" id="{6EC109E5-0396-8968-4F42-DFEC28036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6407" y="508090"/>
            <a:ext cx="4660733" cy="149279"/>
          </a:xfrm>
          <a:custGeom>
            <a:avLst/>
            <a:gdLst>
              <a:gd name="connsiteX0" fmla="*/ 0 w 6090847"/>
              <a:gd name="connsiteY0" fmla="*/ 0 h 149279"/>
              <a:gd name="connsiteX1" fmla="*/ 6090847 w 6090847"/>
              <a:gd name="connsiteY1" fmla="*/ 0 h 149279"/>
              <a:gd name="connsiteX2" fmla="*/ 6090847 w 6090847"/>
              <a:gd name="connsiteY2" fmla="*/ 149279 h 149279"/>
              <a:gd name="connsiteX3" fmla="*/ 0 w 609084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090847" h="149279">
                <a:moveTo>
                  <a:pt x="0" y="0"/>
                </a:moveTo>
                <a:lnTo>
                  <a:pt x="6090847" y="0"/>
                </a:lnTo>
                <a:lnTo>
                  <a:pt x="609084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36669250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5" name="Content Placeholder 4" descr="Blue blocks and networks technology background">
            <a:extLst>
              <a:ext uri="{FF2B5EF4-FFF2-40B4-BE49-F238E27FC236}">
                <a16:creationId xmlns:a16="http://schemas.microsoft.com/office/drawing/2014/main" id="{7B6FD222-9DA8-44C0-9C12-314D4034535C}"/>
              </a:ext>
            </a:extLst>
          </p:cNvPr>
          <p:cNvPicPr>
            <a:picLocks noGrp="1" noChangeAspect="1"/>
          </p:cNvPicPr>
          <p:nvPr>
            <p:ph sz="half" idx="1"/>
          </p:nvPr>
        </p:nvPicPr>
        <p:blipFill>
          <a:blip r:embed="rId3"/>
          <a:srcRect t="7861" r="1" b="1"/>
          <a:stretch/>
        </p:blipFill>
        <p:spPr>
          <a:xfrm>
            <a:off x="517864" y="1863633"/>
            <a:ext cx="8687096" cy="4482371"/>
          </a:xfrm>
          <a:prstGeom prst="rect">
            <a:avLst/>
          </a:prstGeom>
        </p:spPr>
      </p:pic>
      <p:sp>
        <p:nvSpPr>
          <p:cNvPr id="2" name="Title 1">
            <a:extLst>
              <a:ext uri="{FF2B5EF4-FFF2-40B4-BE49-F238E27FC236}">
                <a16:creationId xmlns:a16="http://schemas.microsoft.com/office/drawing/2014/main" id="{AD1F2976-62FF-3060-ACEF-020185E853E7}"/>
              </a:ext>
            </a:extLst>
          </p:cNvPr>
          <p:cNvSpPr>
            <a:spLocks noGrp="1"/>
          </p:cNvSpPr>
          <p:nvPr>
            <p:ph type="title"/>
          </p:nvPr>
        </p:nvSpPr>
        <p:spPr>
          <a:xfrm>
            <a:off x="517865" y="976160"/>
            <a:ext cx="8686800" cy="813063"/>
          </a:xfrm>
        </p:spPr>
        <p:txBody>
          <a:bodyPr vert="horz" lIns="91440" tIns="45720" rIns="91440" bIns="45720" rtlCol="0" anchor="t">
            <a:normAutofit/>
          </a:bodyPr>
          <a:lstStyle/>
          <a:p>
            <a:pPr>
              <a:lnSpc>
                <a:spcPct val="90000"/>
              </a:lnSpc>
            </a:pPr>
            <a:r>
              <a:rPr lang="en-US" sz="2400"/>
              <a:t>Extracting data from column-family databases: Cassandra, HBase</a:t>
            </a:r>
          </a:p>
        </p:txBody>
      </p:sp>
      <p:sp>
        <p:nvSpPr>
          <p:cNvPr id="4" name="Content Placeholder 3">
            <a:extLst>
              <a:ext uri="{FF2B5EF4-FFF2-40B4-BE49-F238E27FC236}">
                <a16:creationId xmlns:a16="http://schemas.microsoft.com/office/drawing/2014/main" id="{254E2402-328A-C11F-EFAA-9071A6CA000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9631680" y="1863632"/>
            <a:ext cx="2042449" cy="4482371"/>
          </a:xfrm>
        </p:spPr>
        <p:txBody>
          <a:bodyPr>
            <a:normAutofit/>
          </a:bodyPr>
          <a:lstStyle/>
          <a:p>
            <a:pPr marL="0" indent="0">
              <a:spcBef>
                <a:spcPts val="2500"/>
              </a:spcBef>
              <a:buNone/>
            </a:pPr>
            <a:endParaRPr lang="en-US" sz="1400" b="1"/>
          </a:p>
          <a:p>
            <a:pPr marL="0" lvl="1" indent="0">
              <a:buNone/>
            </a:pPr>
            <a:r>
              <a:rPr lang="en-US" sz="1400"/>
              <a:t>Column-family stores like Cassandra and HBase are designed to handle large amounts of data and offer high availability. We can use CQL in Cassandra and APIs for HBase to extract data from these databases.</a:t>
            </a:r>
            <a:endParaRPr lang="en-IN" sz="1400"/>
          </a:p>
        </p:txBody>
      </p:sp>
      <p:sp>
        <p:nvSpPr>
          <p:cNvPr id="18" name="Rectangle 17">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5" y="508090"/>
            <a:ext cx="811123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0" name="Freeform: Shape 19">
            <a:extLst>
              <a:ext uri="{FF2B5EF4-FFF2-40B4-BE49-F238E27FC236}">
                <a16:creationId xmlns:a16="http://schemas.microsoft.com/office/drawing/2014/main" id="{E94EA6C1-5B73-CB10-F9FB-B671500CC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8686800"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13922611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6E9A97B-1917-9176-B980-E15E8CBDB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3FF94B3-6D3E-44FE-BB02-A9027C0003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209925"/>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C7EFAAB5-34A3-C2FC-70BA-7720CC8AD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9D523F6A-C65D-5706-13CA-8B314CEB18DA}"/>
              </a:ext>
            </a:extLst>
          </p:cNvPr>
          <p:cNvSpPr>
            <a:spLocks noGrp="1"/>
          </p:cNvSpPr>
          <p:nvPr>
            <p:ph type="title"/>
          </p:nvPr>
        </p:nvSpPr>
        <p:spPr>
          <a:xfrm>
            <a:off x="521208" y="1211766"/>
            <a:ext cx="7237052" cy="4727988"/>
          </a:xfrm>
        </p:spPr>
        <p:txBody>
          <a:bodyPr vert="horz" lIns="91440" tIns="45720" rIns="91440" bIns="45720" rtlCol="0" anchor="b">
            <a:normAutofit/>
          </a:bodyPr>
          <a:lstStyle/>
          <a:p>
            <a:r>
              <a:rPr lang="en-US" sz="7400"/>
              <a:t>Handling Non-Relational Data Extraction Challenges</a:t>
            </a:r>
          </a:p>
        </p:txBody>
      </p:sp>
      <p:sp>
        <p:nvSpPr>
          <p:cNvPr id="19" name="Freeform: Shape 18">
            <a:extLst>
              <a:ext uri="{FF2B5EF4-FFF2-40B4-BE49-F238E27FC236}">
                <a16:creationId xmlns:a16="http://schemas.microsoft.com/office/drawing/2014/main" id="{A8A44BC8-2508-4575-75F6-0ED3F11E7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6208776"/>
            <a:ext cx="7269480"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3366345344"/>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Content Placeholder 4" descr="Document with repair tools symbol on blue abstract background">
            <a:extLst>
              <a:ext uri="{FF2B5EF4-FFF2-40B4-BE49-F238E27FC236}">
                <a16:creationId xmlns:a16="http://schemas.microsoft.com/office/drawing/2014/main" id="{8F48D27A-1EDC-450D-BDAC-5BBC02617BDE}"/>
              </a:ext>
            </a:extLst>
          </p:cNvPr>
          <p:cNvPicPr>
            <a:picLocks noGrp="1" noChangeAspect="1"/>
          </p:cNvPicPr>
          <p:nvPr>
            <p:ph sz="half" idx="1"/>
          </p:nvPr>
        </p:nvPicPr>
        <p:blipFill>
          <a:blip r:embed="rId3"/>
          <a:srcRect l="14578" r="15674" b="-1"/>
          <a:stretch/>
        </p:blipFill>
        <p:spPr>
          <a:xfrm>
            <a:off x="517867" y="2577661"/>
            <a:ext cx="4672584" cy="3768343"/>
          </a:xfrm>
          <a:prstGeom prst="rect">
            <a:avLst/>
          </a:prstGeom>
        </p:spPr>
      </p:pic>
      <p:sp>
        <p:nvSpPr>
          <p:cNvPr id="2" name="Title 1">
            <a:extLst>
              <a:ext uri="{FF2B5EF4-FFF2-40B4-BE49-F238E27FC236}">
                <a16:creationId xmlns:a16="http://schemas.microsoft.com/office/drawing/2014/main" id="{138C9CD2-3CE3-36C6-C24C-2455743F6793}"/>
              </a:ext>
            </a:extLst>
          </p:cNvPr>
          <p:cNvSpPr>
            <a:spLocks noGrp="1"/>
          </p:cNvSpPr>
          <p:nvPr>
            <p:ph type="title"/>
          </p:nvPr>
        </p:nvSpPr>
        <p:spPr>
          <a:xfrm>
            <a:off x="517867" y="976160"/>
            <a:ext cx="4809314" cy="1447163"/>
          </a:xfrm>
        </p:spPr>
        <p:txBody>
          <a:bodyPr vert="horz" lIns="91440" tIns="45720" rIns="91440" bIns="45720" rtlCol="0" anchor="t">
            <a:normAutofit/>
          </a:bodyPr>
          <a:lstStyle/>
          <a:p>
            <a:pPr>
              <a:lnSpc>
                <a:spcPct val="90000"/>
              </a:lnSpc>
            </a:pPr>
            <a:r>
              <a:rPr lang="en-US" sz="3100"/>
              <a:t>Indexing and Performance Tuning in NoSQL Databases</a:t>
            </a:r>
          </a:p>
        </p:txBody>
      </p:sp>
      <p:sp>
        <p:nvSpPr>
          <p:cNvPr id="4" name="Content Placeholder 3">
            <a:extLst>
              <a:ext uri="{FF2B5EF4-FFF2-40B4-BE49-F238E27FC236}">
                <a16:creationId xmlns:a16="http://schemas.microsoft.com/office/drawing/2014/main" id="{4D56B14F-F26F-0ACD-EAA3-6BE0E6FC7FC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42000" y="1033272"/>
            <a:ext cx="5832133" cy="5312732"/>
          </a:xfrm>
        </p:spPr>
        <p:txBody>
          <a:bodyPr>
            <a:normAutofit/>
          </a:bodyPr>
          <a:lstStyle/>
          <a:p>
            <a:pPr marL="0" indent="0">
              <a:spcBef>
                <a:spcPts val="2500"/>
              </a:spcBef>
              <a:buNone/>
            </a:pPr>
            <a:r>
              <a:rPr lang="en-US" sz="1400" b="1"/>
              <a:t>Indexing</a:t>
            </a:r>
          </a:p>
          <a:p>
            <a:pPr marL="0" lvl="1" indent="0">
              <a:buNone/>
            </a:pPr>
            <a:r>
              <a:rPr lang="en-US" sz="1400"/>
              <a:t>Indexing is a technique used to speed up data retrieval in NoSQL databases by creating indexes for frequently used fields. It helps in filtering and sorting data quickly and efficiently.</a:t>
            </a:r>
          </a:p>
          <a:p>
            <a:pPr marL="0" indent="0">
              <a:spcBef>
                <a:spcPts val="2500"/>
              </a:spcBef>
              <a:buNone/>
            </a:pPr>
            <a:r>
              <a:rPr lang="en-US" sz="1400" b="1"/>
              <a:t>Partitioning and Sharding</a:t>
            </a:r>
          </a:p>
          <a:p>
            <a:pPr marL="0" lvl="1" indent="0">
              <a:buNone/>
            </a:pPr>
            <a:r>
              <a:rPr lang="en-US" sz="1400"/>
              <a:t>Partitioning and sharding are techniques used to improve data availability, performance, and scalability in NoSQL databases by breaking up data into smaller partitions or shards and distributing it across multiple nodes or clusters.</a:t>
            </a:r>
          </a:p>
          <a:p>
            <a:pPr marL="0" indent="0">
              <a:spcBef>
                <a:spcPts val="2500"/>
              </a:spcBef>
              <a:buNone/>
            </a:pPr>
            <a:r>
              <a:rPr lang="en-US" sz="1400" b="1"/>
              <a:t>Caching</a:t>
            </a:r>
          </a:p>
          <a:p>
            <a:pPr marL="0" lvl="1" indent="0">
              <a:buNone/>
            </a:pPr>
            <a:r>
              <a:rPr lang="en-US" sz="1400"/>
              <a:t>Caching is a technique used to improve the performance of NoSQL databases by storing frequently accessed data in fast access memory, such as RAM. This reduces the number of times data needs to be retrieved from disk, resulting in faster data access and retrieval.</a:t>
            </a:r>
            <a:endParaRPr lang="en-IN" sz="1400"/>
          </a:p>
        </p:txBody>
      </p:sp>
      <p:sp>
        <p:nvSpPr>
          <p:cNvPr id="18" name="Rectangle 17">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467258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643027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5" name="Content Placeholder 4" descr="Hand typing on keyboard">
            <a:extLst>
              <a:ext uri="{FF2B5EF4-FFF2-40B4-BE49-F238E27FC236}">
                <a16:creationId xmlns:a16="http://schemas.microsoft.com/office/drawing/2014/main" id="{9CACAB03-9766-4704-9C98-7214C93A957F}"/>
              </a:ext>
            </a:extLst>
          </p:cNvPr>
          <p:cNvPicPr>
            <a:picLocks noGrp="1" noChangeAspect="1"/>
          </p:cNvPicPr>
          <p:nvPr>
            <p:ph sz="half" idx="1"/>
          </p:nvPr>
        </p:nvPicPr>
        <p:blipFill>
          <a:blip r:embed="rId3"/>
          <a:srcRect t="22699" r="1" b="1"/>
          <a:stretch/>
        </p:blipFill>
        <p:spPr>
          <a:xfrm>
            <a:off x="517864" y="1863633"/>
            <a:ext cx="8687096" cy="4482371"/>
          </a:xfrm>
          <a:prstGeom prst="rect">
            <a:avLst/>
          </a:prstGeom>
        </p:spPr>
      </p:pic>
      <p:sp>
        <p:nvSpPr>
          <p:cNvPr id="2" name="Title 1">
            <a:extLst>
              <a:ext uri="{FF2B5EF4-FFF2-40B4-BE49-F238E27FC236}">
                <a16:creationId xmlns:a16="http://schemas.microsoft.com/office/drawing/2014/main" id="{E133F6DB-9542-6591-0CA3-B616704471A0}"/>
              </a:ext>
            </a:extLst>
          </p:cNvPr>
          <p:cNvSpPr>
            <a:spLocks noGrp="1"/>
          </p:cNvSpPr>
          <p:nvPr>
            <p:ph type="title"/>
          </p:nvPr>
        </p:nvSpPr>
        <p:spPr>
          <a:xfrm>
            <a:off x="517865" y="976160"/>
            <a:ext cx="8686800" cy="813063"/>
          </a:xfrm>
        </p:spPr>
        <p:txBody>
          <a:bodyPr vert="horz" lIns="91440" tIns="45720" rIns="91440" bIns="45720" rtlCol="0" anchor="t">
            <a:normAutofit/>
          </a:bodyPr>
          <a:lstStyle/>
          <a:p>
            <a:pPr>
              <a:lnSpc>
                <a:spcPct val="90000"/>
              </a:lnSpc>
            </a:pPr>
            <a:r>
              <a:rPr lang="en-US" sz="2400"/>
              <a:t>Working with unstructured and semi-structured data in NoSQL</a:t>
            </a:r>
          </a:p>
        </p:txBody>
      </p:sp>
      <p:sp>
        <p:nvSpPr>
          <p:cNvPr id="4" name="Content Placeholder 3">
            <a:extLst>
              <a:ext uri="{FF2B5EF4-FFF2-40B4-BE49-F238E27FC236}">
                <a16:creationId xmlns:a16="http://schemas.microsoft.com/office/drawing/2014/main" id="{56199756-C086-75F1-CA53-A5CFC63EA22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9631680" y="1863632"/>
            <a:ext cx="2042449" cy="4482371"/>
          </a:xfrm>
        </p:spPr>
        <p:txBody>
          <a:bodyPr>
            <a:normAutofit/>
          </a:bodyPr>
          <a:lstStyle/>
          <a:p>
            <a:pPr marL="0" indent="0">
              <a:spcBef>
                <a:spcPts val="2500"/>
              </a:spcBef>
              <a:buNone/>
            </a:pPr>
            <a:endParaRPr lang="en-US" sz="1400" b="1"/>
          </a:p>
          <a:p>
            <a:pPr marL="0" lvl="1" indent="0">
              <a:buNone/>
            </a:pPr>
            <a:r>
              <a:rPr lang="en-US" sz="1400"/>
              <a:t>NoSQL databases are designed to handle unstructured and semi-structured data, which makes them a better choice for modern applications. Working with such data requires special techniques and skills, which we explore in this section.</a:t>
            </a:r>
            <a:endParaRPr lang="en-IN" sz="1400"/>
          </a:p>
        </p:txBody>
      </p:sp>
      <p:sp>
        <p:nvSpPr>
          <p:cNvPr id="18" name="Rectangle 17">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5" y="508090"/>
            <a:ext cx="811123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0" name="Freeform: Shape 19">
            <a:extLst>
              <a:ext uri="{FF2B5EF4-FFF2-40B4-BE49-F238E27FC236}">
                <a16:creationId xmlns:a16="http://schemas.microsoft.com/office/drawing/2014/main" id="{E94EA6C1-5B73-CB10-F9FB-B671500CC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8686800"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23005739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6E9A97B-1917-9176-B980-E15E8CBDB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3FF94B3-6D3E-44FE-BB02-A9027C0003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209925"/>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C7EFAAB5-34A3-C2FC-70BA-7720CC8AD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86EAEF2A-95EC-1006-8B68-4B1A8F790123}"/>
              </a:ext>
            </a:extLst>
          </p:cNvPr>
          <p:cNvSpPr>
            <a:spLocks noGrp="1"/>
          </p:cNvSpPr>
          <p:nvPr>
            <p:ph type="title"/>
          </p:nvPr>
        </p:nvSpPr>
        <p:spPr>
          <a:xfrm>
            <a:off x="521208" y="1211766"/>
            <a:ext cx="7237052" cy="4727988"/>
          </a:xfrm>
        </p:spPr>
        <p:txBody>
          <a:bodyPr vert="horz" lIns="91440" tIns="45720" rIns="91440" bIns="45720" rtlCol="0" anchor="b">
            <a:normAutofit/>
          </a:bodyPr>
          <a:lstStyle/>
          <a:p>
            <a:r>
              <a:rPr lang="en-US" sz="7400"/>
              <a:t>Tools for Data Extraction from NoSQL Databases</a:t>
            </a:r>
          </a:p>
        </p:txBody>
      </p:sp>
      <p:sp>
        <p:nvSpPr>
          <p:cNvPr id="19" name="Freeform: Shape 18">
            <a:extLst>
              <a:ext uri="{FF2B5EF4-FFF2-40B4-BE49-F238E27FC236}">
                <a16:creationId xmlns:a16="http://schemas.microsoft.com/office/drawing/2014/main" id="{A8A44BC8-2508-4575-75F6-0ED3F11E7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6208776"/>
            <a:ext cx="7269480"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4086182760"/>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5" name="Content Placeholder 4" descr="Cropped shot of a young computer programmer working on source code">
            <a:extLst>
              <a:ext uri="{FF2B5EF4-FFF2-40B4-BE49-F238E27FC236}">
                <a16:creationId xmlns:a16="http://schemas.microsoft.com/office/drawing/2014/main" id="{A5D152B3-D0D2-4C3F-BB97-58C53FEE7D9A}"/>
              </a:ext>
            </a:extLst>
          </p:cNvPr>
          <p:cNvPicPr>
            <a:picLocks noGrp="1" noChangeAspect="1"/>
          </p:cNvPicPr>
          <p:nvPr>
            <p:ph sz="half" idx="1"/>
          </p:nvPr>
        </p:nvPicPr>
        <p:blipFill>
          <a:blip r:embed="rId3"/>
          <a:srcRect t="27893" r="1" b="20510"/>
          <a:stretch/>
        </p:blipFill>
        <p:spPr>
          <a:xfrm>
            <a:off x="517864" y="1863633"/>
            <a:ext cx="8687096" cy="4482371"/>
          </a:xfrm>
          <a:prstGeom prst="rect">
            <a:avLst/>
          </a:prstGeom>
        </p:spPr>
      </p:pic>
      <p:sp>
        <p:nvSpPr>
          <p:cNvPr id="2" name="Title 1">
            <a:extLst>
              <a:ext uri="{FF2B5EF4-FFF2-40B4-BE49-F238E27FC236}">
                <a16:creationId xmlns:a16="http://schemas.microsoft.com/office/drawing/2014/main" id="{96188A76-6113-FAE4-8203-9CF8B6488A5C}"/>
              </a:ext>
            </a:extLst>
          </p:cNvPr>
          <p:cNvSpPr>
            <a:spLocks noGrp="1"/>
          </p:cNvSpPr>
          <p:nvPr>
            <p:ph type="title"/>
          </p:nvPr>
        </p:nvSpPr>
        <p:spPr>
          <a:xfrm>
            <a:off x="517865" y="976160"/>
            <a:ext cx="8686800" cy="813063"/>
          </a:xfrm>
        </p:spPr>
        <p:txBody>
          <a:bodyPr vert="horz" lIns="91440" tIns="45720" rIns="91440" bIns="45720" rtlCol="0" anchor="t">
            <a:normAutofit/>
          </a:bodyPr>
          <a:lstStyle/>
          <a:p>
            <a:pPr>
              <a:lnSpc>
                <a:spcPct val="90000"/>
              </a:lnSpc>
            </a:pPr>
            <a:r>
              <a:rPr lang="en-US" sz="3700"/>
              <a:t>Using APIs for MongoDB, Cassandra</a:t>
            </a:r>
          </a:p>
        </p:txBody>
      </p:sp>
      <p:sp>
        <p:nvSpPr>
          <p:cNvPr id="4" name="Content Placeholder 3">
            <a:extLst>
              <a:ext uri="{FF2B5EF4-FFF2-40B4-BE49-F238E27FC236}">
                <a16:creationId xmlns:a16="http://schemas.microsoft.com/office/drawing/2014/main" id="{8A78D1B0-D247-6872-9A64-A84DEDBD8F7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9631680" y="1863632"/>
            <a:ext cx="2042449" cy="4482371"/>
          </a:xfrm>
        </p:spPr>
        <p:txBody>
          <a:bodyPr>
            <a:normAutofit/>
          </a:bodyPr>
          <a:lstStyle/>
          <a:p>
            <a:pPr marL="0" indent="0">
              <a:spcBef>
                <a:spcPts val="2500"/>
              </a:spcBef>
              <a:buNone/>
            </a:pPr>
            <a:endParaRPr lang="en-US" sz="1400" b="1"/>
          </a:p>
          <a:p>
            <a:pPr marL="0" lvl="1" indent="0">
              <a:buNone/>
            </a:pPr>
            <a:r>
              <a:rPr lang="en-US" sz="1400"/>
              <a:t>APIs for NoSQL databases like MongoDB and Cassandra allow us to easily extract data from these databases, giving us the ability to retrieve and manipulate data in various ways.</a:t>
            </a:r>
            <a:endParaRPr lang="en-IN" sz="1400"/>
          </a:p>
        </p:txBody>
      </p:sp>
      <p:sp>
        <p:nvSpPr>
          <p:cNvPr id="18" name="Rectangle 17">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5" y="508090"/>
            <a:ext cx="811123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0" name="Freeform: Shape 19">
            <a:extLst>
              <a:ext uri="{FF2B5EF4-FFF2-40B4-BE49-F238E27FC236}">
                <a16:creationId xmlns:a16="http://schemas.microsoft.com/office/drawing/2014/main" id="{E94EA6C1-5B73-CB10-F9FB-B671500CC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8686800"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3786324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4C32CD27-7027-AB2B-38F1-71C08EB840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Content Placeholder 4" descr="Desktop computers connected in a network.See all my">
            <a:extLst>
              <a:ext uri="{FF2B5EF4-FFF2-40B4-BE49-F238E27FC236}">
                <a16:creationId xmlns:a16="http://schemas.microsoft.com/office/drawing/2014/main" id="{D084CC16-A7A4-4FAC-8C0A-7ACD2F1A8DED}"/>
              </a:ext>
            </a:extLst>
          </p:cNvPr>
          <p:cNvPicPr>
            <a:picLocks noGrp="1" noChangeAspect="1"/>
          </p:cNvPicPr>
          <p:nvPr>
            <p:ph sz="half" idx="1"/>
          </p:nvPr>
        </p:nvPicPr>
        <p:blipFill>
          <a:blip r:embed="rId3"/>
          <a:srcRect l="21662" r="24100" b="1"/>
          <a:stretch/>
        </p:blipFill>
        <p:spPr>
          <a:xfrm>
            <a:off x="517869" y="508091"/>
            <a:ext cx="4221911" cy="5837918"/>
          </a:xfrm>
          <a:prstGeom prst="rect">
            <a:avLst/>
          </a:prstGeom>
        </p:spPr>
      </p:pic>
      <p:sp>
        <p:nvSpPr>
          <p:cNvPr id="2" name="Title 1">
            <a:extLst>
              <a:ext uri="{FF2B5EF4-FFF2-40B4-BE49-F238E27FC236}">
                <a16:creationId xmlns:a16="http://schemas.microsoft.com/office/drawing/2014/main" id="{A59C75F0-AD70-CA11-22A3-64A76000F8F4}"/>
              </a:ext>
            </a:extLst>
          </p:cNvPr>
          <p:cNvSpPr>
            <a:spLocks noGrp="1"/>
          </p:cNvSpPr>
          <p:nvPr>
            <p:ph type="title"/>
          </p:nvPr>
        </p:nvSpPr>
        <p:spPr>
          <a:xfrm>
            <a:off x="5438762" y="976160"/>
            <a:ext cx="6232310" cy="1463040"/>
          </a:xfrm>
        </p:spPr>
        <p:txBody>
          <a:bodyPr vert="horz" lIns="91440" tIns="45720" rIns="91440" bIns="45720" rtlCol="0" anchor="t">
            <a:normAutofit/>
          </a:bodyPr>
          <a:lstStyle/>
          <a:p>
            <a:pPr>
              <a:lnSpc>
                <a:spcPct val="90000"/>
              </a:lnSpc>
            </a:pPr>
            <a:r>
              <a:rPr lang="en-US" sz="3100"/>
              <a:t>Integration tools like Apache NiFi, Talend for NoSQL databases</a:t>
            </a:r>
          </a:p>
        </p:txBody>
      </p:sp>
      <p:sp>
        <p:nvSpPr>
          <p:cNvPr id="4" name="Content Placeholder 3">
            <a:extLst>
              <a:ext uri="{FF2B5EF4-FFF2-40B4-BE49-F238E27FC236}">
                <a16:creationId xmlns:a16="http://schemas.microsoft.com/office/drawing/2014/main" id="{507FF6B3-8EBC-03A4-4EF8-6073C7B5F5B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438775" y="2577871"/>
            <a:ext cx="6232310" cy="3768137"/>
          </a:xfrm>
        </p:spPr>
        <p:txBody>
          <a:bodyPr>
            <a:normAutofit/>
          </a:bodyPr>
          <a:lstStyle/>
          <a:p>
            <a:pPr marL="0" indent="0">
              <a:spcBef>
                <a:spcPts val="2500"/>
              </a:spcBef>
              <a:buNone/>
            </a:pPr>
            <a:r>
              <a:rPr lang="en-US" sz="1400" b="1"/>
              <a:t>Apache NiFi</a:t>
            </a:r>
          </a:p>
          <a:p>
            <a:pPr marL="0" lvl="1" indent="0">
              <a:buNone/>
            </a:pPr>
            <a:r>
              <a:rPr lang="en-US" sz="1400"/>
              <a:t>Apache NiFi is an open-source data integration tool that makes it easy to extract data from NoSQL databases and integrate it with other tools and systems. It provides a wide range of features and functionalities that make data extraction and integration easier.</a:t>
            </a:r>
          </a:p>
          <a:p>
            <a:pPr marL="0" indent="0">
              <a:spcBef>
                <a:spcPts val="2500"/>
              </a:spcBef>
              <a:buNone/>
            </a:pPr>
            <a:r>
              <a:rPr lang="en-US" sz="1400" b="1"/>
              <a:t>Talend</a:t>
            </a:r>
          </a:p>
          <a:p>
            <a:pPr marL="0" lvl="1" indent="0">
              <a:buNone/>
            </a:pPr>
            <a:r>
              <a:rPr lang="en-US" sz="1400"/>
              <a:t>Talend is a popular data integration tool that makes it easy to extract data from NoSQL databases and integrate it with other tools and systems. It provides a wide range of features and functionalities that make data extraction and integration easier.</a:t>
            </a:r>
            <a:endParaRPr lang="en-IN" sz="1400"/>
          </a:p>
        </p:txBody>
      </p:sp>
      <p:sp>
        <p:nvSpPr>
          <p:cNvPr id="18" name="Freeform: Shape 17">
            <a:extLst>
              <a:ext uri="{FF2B5EF4-FFF2-40B4-BE49-F238E27FC236}">
                <a16:creationId xmlns:a16="http://schemas.microsoft.com/office/drawing/2014/main" id="{C6DD38CD-CFFE-4ABA-3DC8-01ED90559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84611" y="508090"/>
            <a:ext cx="6186474" cy="149279"/>
          </a:xfrm>
          <a:custGeom>
            <a:avLst/>
            <a:gdLst>
              <a:gd name="connsiteX0" fmla="*/ 0 w 6090847"/>
              <a:gd name="connsiteY0" fmla="*/ 0 h 149279"/>
              <a:gd name="connsiteX1" fmla="*/ 6090847 w 6090847"/>
              <a:gd name="connsiteY1" fmla="*/ 0 h 149279"/>
              <a:gd name="connsiteX2" fmla="*/ 6090847 w 6090847"/>
              <a:gd name="connsiteY2" fmla="*/ 149279 h 149279"/>
              <a:gd name="connsiteX3" fmla="*/ 0 w 609084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090847" h="149279">
                <a:moveTo>
                  <a:pt x="0" y="0"/>
                </a:moveTo>
                <a:lnTo>
                  <a:pt x="6090847" y="0"/>
                </a:lnTo>
                <a:lnTo>
                  <a:pt x="609084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2684232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EF92585-7A99-6108-9663-8C59032742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0" name="Freeform: Shape 9">
            <a:extLst>
              <a:ext uri="{FF2B5EF4-FFF2-40B4-BE49-F238E27FC236}">
                <a16:creationId xmlns:a16="http://schemas.microsoft.com/office/drawing/2014/main" id="{C6D5B03A-B780-A698-DFA9-C9932F22D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0816" y="3838074"/>
            <a:ext cx="4023360"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F0EC68F8-DBDA-C081-AE4D-AB1BBABD4505}"/>
              </a:ext>
            </a:extLst>
          </p:cNvPr>
          <p:cNvSpPr>
            <a:spLocks noGrp="1"/>
          </p:cNvSpPr>
          <p:nvPr>
            <p:ph type="title"/>
          </p:nvPr>
        </p:nvSpPr>
        <p:spPr>
          <a:xfrm>
            <a:off x="954823" y="2638659"/>
            <a:ext cx="4399227" cy="1199415"/>
          </a:xfrm>
        </p:spPr>
        <p:txBody>
          <a:bodyPr anchor="t">
            <a:normAutofit/>
          </a:bodyPr>
          <a:lstStyle/>
          <a:p>
            <a:r>
              <a:rPr lang="en-IN" sz="6000"/>
              <a:t>Conclusion</a:t>
            </a:r>
          </a:p>
        </p:txBody>
      </p:sp>
      <p:sp>
        <p:nvSpPr>
          <p:cNvPr id="3" name="Content Placeholder 2">
            <a:extLst>
              <a:ext uri="{FF2B5EF4-FFF2-40B4-BE49-F238E27FC236}">
                <a16:creationId xmlns:a16="http://schemas.microsoft.com/office/drawing/2014/main" id="{130FB117-C6A0-9FC8-7563-4DFC3B8A1CB5}"/>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4992" y="2710852"/>
            <a:ext cx="4864608" cy="2221992"/>
          </a:xfrm>
        </p:spPr>
        <p:txBody>
          <a:bodyPr>
            <a:normAutofit/>
          </a:bodyPr>
          <a:lstStyle/>
          <a:p>
            <a:pPr marL="0" indent="0">
              <a:lnSpc>
                <a:spcPct val="100000"/>
              </a:lnSpc>
              <a:spcBef>
                <a:spcPts val="2500"/>
              </a:spcBef>
              <a:buNone/>
            </a:pPr>
            <a:endParaRPr lang="en-US" sz="1400" b="1"/>
          </a:p>
          <a:p>
            <a:pPr marL="0" lvl="1" indent="0">
              <a:lnSpc>
                <a:spcPct val="100000"/>
              </a:lnSpc>
              <a:buNone/>
            </a:pPr>
            <a:r>
              <a:rPr lang="en-US" sz="1400"/>
              <a:t>Extracting data from non-relational or NoSQL databases can be challenging, but it is essential for organizations that want to harness the power of these databases. In this presentation, we covered the basics of NoSQL databases, key NoSQL databases, querying data from NoSQL databases, handling non-relational data extraction challenges, and the tools for data extraction from NoSQL databases.</a:t>
            </a:r>
            <a:endParaRPr lang="en-IN" sz="1400"/>
          </a:p>
        </p:txBody>
      </p:sp>
    </p:spTree>
    <p:extLst>
      <p:ext uri="{BB962C8B-B14F-4D97-AF65-F5344CB8AC3E}">
        <p14:creationId xmlns:p14="http://schemas.microsoft.com/office/powerpoint/2010/main" val="3537272844"/>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GestaltVTI">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Bierstad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1909</Words>
  <Application>Microsoft Office PowerPoint</Application>
  <PresentationFormat>Widescreen</PresentationFormat>
  <Paragraphs>109</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Arial</vt:lpstr>
      <vt:lpstr>Bierstadt</vt:lpstr>
      <vt:lpstr>Neue Haas Grotesk Text Pro</vt:lpstr>
      <vt:lpstr>GestaltVTI</vt:lpstr>
      <vt:lpstr>Data Extraction from Non-Relational Databases</vt:lpstr>
      <vt:lpstr>Agenda Items</vt:lpstr>
      <vt:lpstr>Overview of Non-Relational Databases (NoSQL)</vt:lpstr>
      <vt:lpstr>Key differences between relational and non-relational databases</vt:lpstr>
      <vt:lpstr>Types of NoSQL databases</vt:lpstr>
      <vt:lpstr>Key NoSQL Databases</vt:lpstr>
      <vt:lpstr>MongoDB, Cassandra, Couchbase, DynamoDB</vt:lpstr>
      <vt:lpstr>Querying Data from NoSQL Databases</vt:lpstr>
      <vt:lpstr>Using Query Languages for NoSQL: MongoDB’s Query Language, Cassandra CQL</vt:lpstr>
      <vt:lpstr>Extracting data from document databases: MongoDB</vt:lpstr>
      <vt:lpstr>Extracting data from key-value stores: Redis, DynamoDB</vt:lpstr>
      <vt:lpstr>Extracting data from column-family databases: Cassandra, HBase</vt:lpstr>
      <vt:lpstr>Handling Non-Relational Data Extraction Challenges</vt:lpstr>
      <vt:lpstr>Indexing and Performance Tuning in NoSQL Databases</vt:lpstr>
      <vt:lpstr>Working with unstructured and semi-structured data in NoSQL</vt:lpstr>
      <vt:lpstr>Tools for Data Extraction from NoSQL Databases</vt:lpstr>
      <vt:lpstr>Using APIs for MongoDB, Cassandra</vt:lpstr>
      <vt:lpstr>Integration tools like Apache NiFi, Talend for NoSQL databases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Arnab Chakraborty</dc:creator>
  <cp:lastModifiedBy>Arnab Chakraborty</cp:lastModifiedBy>
  <cp:revision>1</cp:revision>
  <dcterms:created xsi:type="dcterms:W3CDTF">2024-10-03T12:20:32Z</dcterms:created>
  <dcterms:modified xsi:type="dcterms:W3CDTF">2024-10-03T12:23:43Z</dcterms:modified>
</cp:coreProperties>
</file>