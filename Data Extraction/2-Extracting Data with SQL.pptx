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mprehensive Guide to Data Extraction" id="{417779D2-E9D1-4ED9-9EB9-8EA1AB73494D}">
          <p14:sldIdLst>
            <p14:sldId id="2561"/>
            <p14:sldId id="2562"/>
          </p14:sldIdLst>
        </p14:section>
        <p14:section name="Using SQL to Extract Data from Relational Databases" id="{C9395712-C656-4D0A-B9CD-FC5134269FEE}">
          <p14:sldIdLst>
            <p14:sldId id="2563"/>
            <p14:sldId id="2564"/>
            <p14:sldId id="2565"/>
            <p14:sldId id="2566"/>
            <p14:sldId id="2567"/>
          </p14:sldIdLst>
        </p14:section>
        <p14:section name="Data Formats and Data Types" id="{9A22AF46-E556-457E-A30D-21ECAF9F5252}">
          <p14:sldIdLst>
            <p14:sldId id="2568"/>
            <p14:sldId id="2569"/>
            <p14:sldId id="2570"/>
            <p14:sldId id="2571"/>
            <p14:sldId id="2572"/>
          </p14:sldIdLst>
        </p14:section>
        <p14:section name="Conclusion" id="{E1EBBBF3-ED3B-40CB-82D3-69236582D50F}">
          <p14:sldIdLst>
            <p14:sldId id="25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987" autoAdjust="0"/>
    <p:restoredTop sz="94994" autoAdjust="0"/>
  </p:normalViewPr>
  <p:slideViewPr>
    <p:cSldViewPr snapToGrid="0">
      <p:cViewPr varScale="1">
        <p:scale>
          <a:sx n="89" d="100"/>
          <a:sy n="89" d="100"/>
        </p:scale>
        <p:origin x="346" y="230"/>
      </p:cViewPr>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4CBC0C-18A9-4E8F-9B26-20580006AC75}" type="datetimeFigureOut">
              <a:rPr lang="en-IN" smtClean="0"/>
              <a:t>04-Oct-2024 Fri</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D15163-8C8F-4176-A36E-B1DBDFFB040C}" type="slidenum">
              <a:rPr lang="en-IN" smtClean="0"/>
              <a:t>‹#›</a:t>
            </a:fld>
            <a:endParaRPr lang="en-IN"/>
          </a:p>
        </p:txBody>
      </p:sp>
    </p:spTree>
    <p:extLst>
      <p:ext uri="{BB962C8B-B14F-4D97-AF65-F5344CB8AC3E}">
        <p14:creationId xmlns:p14="http://schemas.microsoft.com/office/powerpoint/2010/main" val="13967344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Data extraction is a fundamental process in data analysis and business intelligence. In this presentation, we will provide a comprehensive guide to data extraction, covering topics from the basic concepts of SQL to handling inconsistent or incomplete data.</a:t>
            </a:r>
          </a:p>
        </p:txBody>
      </p:sp>
      <p:sp>
        <p:nvSpPr>
          <p:cNvPr id="4" name="Slide Number Placeholder 3"/>
          <p:cNvSpPr>
            <a:spLocks noGrp="1"/>
          </p:cNvSpPr>
          <p:nvPr>
            <p:ph type="sldNum" sz="quarter" idx="5"/>
          </p:nvPr>
        </p:nvSpPr>
        <p:spPr/>
        <p:txBody>
          <a:bodyPr/>
          <a:lstStyle/>
          <a:p>
            <a:fld id="{680CF1E7-D2E1-4062-8187-F0994E7AACC7}" type="slidenum">
              <a:rPr lang="en-IN" smtClean="0"/>
              <a:t>1</a:t>
            </a:fld>
            <a:endParaRPr lang="en-IN"/>
          </a:p>
        </p:txBody>
      </p:sp>
    </p:spTree>
    <p:extLst>
      <p:ext uri="{BB962C8B-B14F-4D97-AF65-F5344CB8AC3E}">
        <p14:creationId xmlns:p14="http://schemas.microsoft.com/office/powerpoint/2010/main" val="6689308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We will start by looking at how to extract data from relational databases using SQL and explore advanced SQL techniques. Then, we will discuss data formats and types, including how to convert between them and handle inconsistent or incomplete data.</a:t>
            </a:r>
          </a:p>
        </p:txBody>
      </p:sp>
      <p:sp>
        <p:nvSpPr>
          <p:cNvPr id="4" name="Slide Number Placeholder 3"/>
          <p:cNvSpPr>
            <a:spLocks noGrp="1"/>
          </p:cNvSpPr>
          <p:nvPr>
            <p:ph type="sldNum" sz="quarter" idx="5"/>
          </p:nvPr>
        </p:nvSpPr>
        <p:spPr/>
        <p:txBody>
          <a:bodyPr/>
          <a:lstStyle/>
          <a:p>
            <a:fld id="{680CF1E7-D2E1-4062-8187-F0994E7AACC7}" type="slidenum">
              <a:rPr lang="en-IN" smtClean="0"/>
              <a:t>2</a:t>
            </a:fld>
            <a:endParaRPr lang="en-IN"/>
          </a:p>
        </p:txBody>
      </p:sp>
    </p:spTree>
    <p:extLst>
      <p:ext uri="{BB962C8B-B14F-4D97-AF65-F5344CB8AC3E}">
        <p14:creationId xmlns:p14="http://schemas.microsoft.com/office/powerpoint/2010/main" val="33630412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SQL is a powerful language that is widely used to extract data from relational databases. In this section, we will explore how to use SQL to extract data from databases, including basic SQL concepts, advanced SQL techniques, and best practices for data extraction.</a:t>
            </a:r>
          </a:p>
        </p:txBody>
      </p:sp>
      <p:sp>
        <p:nvSpPr>
          <p:cNvPr id="4" name="Slide Number Placeholder 3"/>
          <p:cNvSpPr>
            <a:spLocks noGrp="1"/>
          </p:cNvSpPr>
          <p:nvPr>
            <p:ph type="sldNum" sz="quarter" idx="5"/>
          </p:nvPr>
        </p:nvSpPr>
        <p:spPr/>
        <p:txBody>
          <a:bodyPr/>
          <a:lstStyle/>
          <a:p>
            <a:fld id="{680CF1E7-D2E1-4062-8187-F0994E7AACC7}" type="slidenum">
              <a:rPr lang="en-IN" smtClean="0"/>
              <a:t>3</a:t>
            </a:fld>
            <a:endParaRPr lang="en-IN"/>
          </a:p>
        </p:txBody>
      </p:sp>
    </p:spTree>
    <p:extLst>
      <p:ext uri="{BB962C8B-B14F-4D97-AF65-F5344CB8AC3E}">
        <p14:creationId xmlns:p14="http://schemas.microsoft.com/office/powerpoint/2010/main" val="22634766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Relational databases are the most common type of database used in data extraction. They store data in tables and use relationships between tables to organize the data. Understanding the structure of a relational database is crucial for effective data extraction.</a:t>
            </a:r>
          </a:p>
        </p:txBody>
      </p:sp>
      <p:sp>
        <p:nvSpPr>
          <p:cNvPr id="4" name="Slide Number Placeholder 3"/>
          <p:cNvSpPr>
            <a:spLocks noGrp="1"/>
          </p:cNvSpPr>
          <p:nvPr>
            <p:ph type="sldNum" sz="quarter" idx="5"/>
          </p:nvPr>
        </p:nvSpPr>
        <p:spPr/>
        <p:txBody>
          <a:bodyPr/>
          <a:lstStyle/>
          <a:p>
            <a:fld id="{680CF1E7-D2E1-4062-8187-F0994E7AACC7}" type="slidenum">
              <a:rPr lang="en-IN" smtClean="0"/>
              <a:t>4</a:t>
            </a:fld>
            <a:endParaRPr lang="en-IN"/>
          </a:p>
        </p:txBody>
      </p:sp>
    </p:spTree>
    <p:extLst>
      <p:ext uri="{BB962C8B-B14F-4D97-AF65-F5344CB8AC3E}">
        <p14:creationId xmlns:p14="http://schemas.microsoft.com/office/powerpoint/2010/main" val="13742911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SQL is a declarative programming language that is used to extract data from relational databases. In this section, we will cover basic SQL concepts, including selecting data, filtering data, and joining tables.</a:t>
            </a:r>
          </a:p>
        </p:txBody>
      </p:sp>
      <p:sp>
        <p:nvSpPr>
          <p:cNvPr id="4" name="Slide Number Placeholder 3"/>
          <p:cNvSpPr>
            <a:spLocks noGrp="1"/>
          </p:cNvSpPr>
          <p:nvPr>
            <p:ph type="sldNum" sz="quarter" idx="5"/>
          </p:nvPr>
        </p:nvSpPr>
        <p:spPr/>
        <p:txBody>
          <a:bodyPr/>
          <a:lstStyle/>
          <a:p>
            <a:fld id="{680CF1E7-D2E1-4062-8187-F0994E7AACC7}" type="slidenum">
              <a:rPr lang="en-IN" smtClean="0"/>
              <a:t>5</a:t>
            </a:fld>
            <a:endParaRPr lang="en-IN"/>
          </a:p>
        </p:txBody>
      </p:sp>
    </p:spTree>
    <p:extLst>
      <p:ext uri="{BB962C8B-B14F-4D97-AF65-F5344CB8AC3E}">
        <p14:creationId xmlns:p14="http://schemas.microsoft.com/office/powerpoint/2010/main" val="2765916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Advanced SQL techniques can be used to extract data more efficiently and effectively. In this section, we will explore subqueries, window functions, and other advanced SQL techniques that can be used for data extraction.</a:t>
            </a:r>
          </a:p>
        </p:txBody>
      </p:sp>
      <p:sp>
        <p:nvSpPr>
          <p:cNvPr id="4" name="Slide Number Placeholder 3"/>
          <p:cNvSpPr>
            <a:spLocks noGrp="1"/>
          </p:cNvSpPr>
          <p:nvPr>
            <p:ph type="sldNum" sz="quarter" idx="5"/>
          </p:nvPr>
        </p:nvSpPr>
        <p:spPr/>
        <p:txBody>
          <a:bodyPr/>
          <a:lstStyle/>
          <a:p>
            <a:fld id="{680CF1E7-D2E1-4062-8187-F0994E7AACC7}" type="slidenum">
              <a:rPr lang="en-IN" smtClean="0"/>
              <a:t>6</a:t>
            </a:fld>
            <a:endParaRPr lang="en-IN"/>
          </a:p>
        </p:txBody>
      </p:sp>
    </p:spTree>
    <p:extLst>
      <p:ext uri="{BB962C8B-B14F-4D97-AF65-F5344CB8AC3E}">
        <p14:creationId xmlns:p14="http://schemas.microsoft.com/office/powerpoint/2010/main" val="1684099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Data extraction can be a complex process, and there are several best practices that can help ensure the accuracy and integrity of the extracted data. In this section, we will cover important best practices, including avoiding Cartesian products, optimizing queries, and using appropriate data types.</a:t>
            </a:r>
          </a:p>
        </p:txBody>
      </p:sp>
      <p:sp>
        <p:nvSpPr>
          <p:cNvPr id="4" name="Slide Number Placeholder 3"/>
          <p:cNvSpPr>
            <a:spLocks noGrp="1"/>
          </p:cNvSpPr>
          <p:nvPr>
            <p:ph type="sldNum" sz="quarter" idx="5"/>
          </p:nvPr>
        </p:nvSpPr>
        <p:spPr/>
        <p:txBody>
          <a:bodyPr/>
          <a:lstStyle/>
          <a:p>
            <a:fld id="{680CF1E7-D2E1-4062-8187-F0994E7AACC7}" type="slidenum">
              <a:rPr lang="en-IN" smtClean="0"/>
              <a:t>7</a:t>
            </a:fld>
            <a:endParaRPr lang="en-IN"/>
          </a:p>
        </p:txBody>
      </p:sp>
    </p:spTree>
    <p:extLst>
      <p:ext uri="{BB962C8B-B14F-4D97-AF65-F5344CB8AC3E}">
        <p14:creationId xmlns:p14="http://schemas.microsoft.com/office/powerpoint/2010/main" val="34941580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Data formats and types are important concepts in data extraction, as they determine how data is stored and processed. In this section, we will explore common data formats and types, including how to convert between them and handle inconsistent or incomplete data.</a:t>
            </a:r>
          </a:p>
        </p:txBody>
      </p:sp>
      <p:sp>
        <p:nvSpPr>
          <p:cNvPr id="4" name="Slide Number Placeholder 3"/>
          <p:cNvSpPr>
            <a:spLocks noGrp="1"/>
          </p:cNvSpPr>
          <p:nvPr>
            <p:ph type="sldNum" sz="quarter" idx="5"/>
          </p:nvPr>
        </p:nvSpPr>
        <p:spPr/>
        <p:txBody>
          <a:bodyPr/>
          <a:lstStyle/>
          <a:p>
            <a:fld id="{680CF1E7-D2E1-4062-8187-F0994E7AACC7}" type="slidenum">
              <a:rPr lang="en-IN" smtClean="0"/>
              <a:t>8</a:t>
            </a:fld>
            <a:endParaRPr lang="en-IN"/>
          </a:p>
        </p:txBody>
      </p:sp>
    </p:spTree>
    <p:extLst>
      <p:ext uri="{BB962C8B-B14F-4D97-AF65-F5344CB8AC3E}">
        <p14:creationId xmlns:p14="http://schemas.microsoft.com/office/powerpoint/2010/main" val="8118108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There are several common data formats used in data extraction, including CSV, JSON, and XML. Each format has its advantages and disadvantages, and understanding how to work with each format is important for effective data extraction.</a:t>
            </a:r>
          </a:p>
        </p:txBody>
      </p:sp>
      <p:sp>
        <p:nvSpPr>
          <p:cNvPr id="4" name="Slide Number Placeholder 3"/>
          <p:cNvSpPr>
            <a:spLocks noGrp="1"/>
          </p:cNvSpPr>
          <p:nvPr>
            <p:ph type="sldNum" sz="quarter" idx="5"/>
          </p:nvPr>
        </p:nvSpPr>
        <p:spPr/>
        <p:txBody>
          <a:bodyPr/>
          <a:lstStyle/>
          <a:p>
            <a:fld id="{680CF1E7-D2E1-4062-8187-F0994E7AACC7}" type="slidenum">
              <a:rPr lang="en-IN" smtClean="0"/>
              <a:t>9</a:t>
            </a:fld>
            <a:endParaRPr lang="en-IN"/>
          </a:p>
        </p:txBody>
      </p:sp>
    </p:spTree>
    <p:extLst>
      <p:ext uri="{BB962C8B-B14F-4D97-AF65-F5344CB8AC3E}">
        <p14:creationId xmlns:p14="http://schemas.microsoft.com/office/powerpoint/2010/main" val="16231436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Data types are used to specify the type of data that is stored in a variable or field. Understanding data types is important for data extraction, as it determines how the data can be processed and analyzed. In this section, we will cover common data types and their significance.</a:t>
            </a:r>
          </a:p>
        </p:txBody>
      </p:sp>
      <p:sp>
        <p:nvSpPr>
          <p:cNvPr id="4" name="Slide Number Placeholder 3"/>
          <p:cNvSpPr>
            <a:spLocks noGrp="1"/>
          </p:cNvSpPr>
          <p:nvPr>
            <p:ph type="sldNum" sz="quarter" idx="5"/>
          </p:nvPr>
        </p:nvSpPr>
        <p:spPr/>
        <p:txBody>
          <a:bodyPr/>
          <a:lstStyle/>
          <a:p>
            <a:fld id="{680CF1E7-D2E1-4062-8187-F0994E7AACC7}" type="slidenum">
              <a:rPr lang="en-IN" smtClean="0"/>
              <a:t>10</a:t>
            </a:fld>
            <a:endParaRPr lang="en-IN"/>
          </a:p>
        </p:txBody>
      </p:sp>
    </p:spTree>
    <p:extLst>
      <p:ext uri="{BB962C8B-B14F-4D97-AF65-F5344CB8AC3E}">
        <p14:creationId xmlns:p14="http://schemas.microsoft.com/office/powerpoint/2010/main" val="13578708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Converting between data formats is a common task in data extraction. In this section, we will explore how to convert between common data formats, including using SQL and third-party tools.</a:t>
            </a:r>
          </a:p>
        </p:txBody>
      </p:sp>
      <p:sp>
        <p:nvSpPr>
          <p:cNvPr id="4" name="Slide Number Placeholder 3"/>
          <p:cNvSpPr>
            <a:spLocks noGrp="1"/>
          </p:cNvSpPr>
          <p:nvPr>
            <p:ph type="sldNum" sz="quarter" idx="5"/>
          </p:nvPr>
        </p:nvSpPr>
        <p:spPr/>
        <p:txBody>
          <a:bodyPr/>
          <a:lstStyle/>
          <a:p>
            <a:fld id="{680CF1E7-D2E1-4062-8187-F0994E7AACC7}" type="slidenum">
              <a:rPr lang="en-IN" smtClean="0"/>
              <a:t>11</a:t>
            </a:fld>
            <a:endParaRPr lang="en-IN"/>
          </a:p>
        </p:txBody>
      </p:sp>
    </p:spTree>
    <p:extLst>
      <p:ext uri="{BB962C8B-B14F-4D97-AF65-F5344CB8AC3E}">
        <p14:creationId xmlns:p14="http://schemas.microsoft.com/office/powerpoint/2010/main" val="36530945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Inconsistent or incomplete data is a common challenge in data extraction. In this section, we will cover approaches to handling inconsistent or incomplete data, including data cleaning and data normalization techniques.</a:t>
            </a:r>
          </a:p>
        </p:txBody>
      </p:sp>
      <p:sp>
        <p:nvSpPr>
          <p:cNvPr id="4" name="Slide Number Placeholder 3"/>
          <p:cNvSpPr>
            <a:spLocks noGrp="1"/>
          </p:cNvSpPr>
          <p:nvPr>
            <p:ph type="sldNum" sz="quarter" idx="5"/>
          </p:nvPr>
        </p:nvSpPr>
        <p:spPr/>
        <p:txBody>
          <a:bodyPr/>
          <a:lstStyle/>
          <a:p>
            <a:fld id="{680CF1E7-D2E1-4062-8187-F0994E7AACC7}" type="slidenum">
              <a:rPr lang="en-IN" smtClean="0"/>
              <a:t>12</a:t>
            </a:fld>
            <a:endParaRPr lang="en-IN"/>
          </a:p>
        </p:txBody>
      </p:sp>
    </p:spTree>
    <p:extLst>
      <p:ext uri="{BB962C8B-B14F-4D97-AF65-F5344CB8AC3E}">
        <p14:creationId xmlns:p14="http://schemas.microsoft.com/office/powerpoint/2010/main" val="32587419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Data extraction is a critical process in data analysis and business intelligence. By understanding the concepts covered in this presentation, you will be able to extract data more efficiently and effectively, while ensuring the accuracy and integrity of the extracted data.</a:t>
            </a:r>
          </a:p>
        </p:txBody>
      </p:sp>
      <p:sp>
        <p:nvSpPr>
          <p:cNvPr id="4" name="Slide Number Placeholder 3"/>
          <p:cNvSpPr>
            <a:spLocks noGrp="1"/>
          </p:cNvSpPr>
          <p:nvPr>
            <p:ph type="sldNum" sz="quarter" idx="5"/>
          </p:nvPr>
        </p:nvSpPr>
        <p:spPr/>
        <p:txBody>
          <a:bodyPr/>
          <a:lstStyle/>
          <a:p>
            <a:fld id="{680CF1E7-D2E1-4062-8187-F0994E7AACC7}" type="slidenum">
              <a:rPr lang="en-IN" smtClean="0"/>
              <a:t>13</a:t>
            </a:fld>
            <a:endParaRPr lang="en-IN"/>
          </a:p>
        </p:txBody>
      </p:sp>
    </p:spTree>
    <p:extLst>
      <p:ext uri="{BB962C8B-B14F-4D97-AF65-F5344CB8AC3E}">
        <p14:creationId xmlns:p14="http://schemas.microsoft.com/office/powerpoint/2010/main" val="16050095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3110F4B9-1547-47A2-8E21-C386230CD815}" type="datetime1">
              <a:rPr lang="en-US" smtClean="0"/>
              <a:t>10/4/2024</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840752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8DE8833-0216-48B2-8EC6-64678616DA05}" type="datetime1">
              <a:rPr lang="en-US" smtClean="0"/>
              <a:t>10/4/2024</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288216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ECA2E9-640F-495E-87AF-C4C518ACCFCC}" type="datetime1">
              <a:rPr lang="en-US" smtClean="0"/>
              <a:t>10/4/2024</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40905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2B7846AE-2AA0-4213-80F4-5A2676420744}" type="datetime1">
              <a:rPr lang="en-US" smtClean="0"/>
              <a:t>10/4/2024</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625988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943C87E4-025C-4A83-855B-A4FD1A468031}" type="datetime1">
              <a:rPr lang="en-US" smtClean="0"/>
              <a:t>10/4/2024</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302092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BF331B2-BA5B-4EAF-B1A6-7A0919522EFC}" type="datetime1">
              <a:rPr lang="en-US" smtClean="0"/>
              <a:t>10/4/2024</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9020045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FB77CCD0-06BD-4431-A028-E4F77FF8C962}" type="datetime1">
              <a:rPr lang="en-US" smtClean="0"/>
              <a:t>10/4/2024</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26144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266BED47-8BC8-47AD-B942-EAC80F13F345}" type="datetime1">
              <a:rPr lang="en-US" smtClean="0"/>
              <a:t>10/4/2024</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015737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2F1C4A48-D7ED-4CBB-9E79-28129440C4F6}" type="datetime1">
              <a:rPr lang="en-US" smtClean="0"/>
              <a:t>10/4/2024</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794358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B75BA840-53E5-44F7-8B37-768A4C51A998}" type="datetime1">
              <a:rPr lang="en-US" smtClean="0"/>
              <a:t>10/4/2024</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593549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F271E168-EC52-40DE-B439-CA76386ADA60}" type="datetime1">
              <a:rPr lang="en-US" smtClean="0"/>
              <a:t>10/4/2024</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198561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E7B12D50-7903-48BD-815F-92E9E6E82D2F}" type="datetime1">
              <a:rPr lang="en-US" smtClean="0"/>
              <a:t>10/4/2024</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8378555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E846B4F-C734-C50A-5EFB-681FB25B19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Program coding on a computer screen">
            <a:extLst>
              <a:ext uri="{FF2B5EF4-FFF2-40B4-BE49-F238E27FC236}">
                <a16:creationId xmlns:a16="http://schemas.microsoft.com/office/drawing/2014/main" id="{26E038E6-DB54-4891-A0ED-9AB172ECFD24}"/>
              </a:ext>
            </a:extLst>
          </p:cNvPr>
          <p:cNvPicPr>
            <a:picLocks noChangeAspect="1"/>
          </p:cNvPicPr>
          <p:nvPr/>
        </p:nvPicPr>
        <p:blipFill>
          <a:blip r:embed="rId3"/>
          <a:srcRect l="19236" r="14036" b="1"/>
          <a:stretch/>
        </p:blipFill>
        <p:spPr>
          <a:xfrm>
            <a:off x="1190113" y="1160168"/>
            <a:ext cx="4535401" cy="4536803"/>
          </a:xfrm>
          <a:prstGeom prst="rect">
            <a:avLst/>
          </a:prstGeom>
        </p:spPr>
      </p:pic>
      <p:sp>
        <p:nvSpPr>
          <p:cNvPr id="2" name="Title 1">
            <a:extLst>
              <a:ext uri="{FF2B5EF4-FFF2-40B4-BE49-F238E27FC236}">
                <a16:creationId xmlns:a16="http://schemas.microsoft.com/office/drawing/2014/main" id="{CAEB02E7-BC4F-67FC-D15E-BB5B6B841735}"/>
              </a:ext>
            </a:extLst>
          </p:cNvPr>
          <p:cNvSpPr>
            <a:spLocks noGrp="1"/>
          </p:cNvSpPr>
          <p:nvPr>
            <p:ph type="ctrTitle"/>
          </p:nvPr>
        </p:nvSpPr>
        <p:spPr>
          <a:xfrm>
            <a:off x="6546870" y="1255367"/>
            <a:ext cx="4540945" cy="2724433"/>
          </a:xfrm>
        </p:spPr>
        <p:txBody>
          <a:bodyPr>
            <a:normAutofit/>
          </a:bodyPr>
          <a:lstStyle/>
          <a:p>
            <a:pPr algn="l"/>
            <a:r>
              <a:rPr lang="en-IN" sz="4400"/>
              <a:t>Comprehensive Guide to Data Extraction</a:t>
            </a:r>
          </a:p>
        </p:txBody>
      </p:sp>
      <p:sp>
        <p:nvSpPr>
          <p:cNvPr id="3" name="Subtitle 2">
            <a:extLst>
              <a:ext uri="{FF2B5EF4-FFF2-40B4-BE49-F238E27FC236}">
                <a16:creationId xmlns:a16="http://schemas.microsoft.com/office/drawing/2014/main" id="{A3E87746-74D9-426A-76D7-97B1745947A2}"/>
              </a:ext>
            </a:extLst>
          </p:cNvPr>
          <p:cNvSpPr>
            <a:spLocks noGrp="1"/>
          </p:cNvSpPr>
          <p:nvPr>
            <p:ph type="subTitle" idx="1"/>
          </p:nvPr>
        </p:nvSpPr>
        <p:spPr>
          <a:xfrm>
            <a:off x="6546869" y="4209874"/>
            <a:ext cx="4535401" cy="1487097"/>
          </a:xfrm>
        </p:spPr>
        <p:txBody>
          <a:bodyPr>
            <a:normAutofit/>
          </a:bodyPr>
          <a:lstStyle/>
          <a:p>
            <a:pPr algn="l"/>
            <a:r>
              <a:rPr lang="en-IN" sz="2000"/>
              <a:t>A complete walkthrough for efficient data extraction</a:t>
            </a:r>
          </a:p>
        </p:txBody>
      </p:sp>
      <p:sp>
        <p:nvSpPr>
          <p:cNvPr id="5" name="Slide Number Placeholder 4">
            <a:extLst>
              <a:ext uri="{FF2B5EF4-FFF2-40B4-BE49-F238E27FC236}">
                <a16:creationId xmlns:a16="http://schemas.microsoft.com/office/drawing/2014/main" id="{655FE372-734B-211A-5A50-955CF8D6D250}"/>
              </a:ext>
            </a:extLst>
          </p:cNvPr>
          <p:cNvSpPr>
            <a:spLocks noGrp="1"/>
          </p:cNvSpPr>
          <p:nvPr>
            <p:ph type="sldNum" sz="quarter" idx="12"/>
          </p:nvPr>
        </p:nvSpPr>
        <p:spPr/>
        <p:txBody>
          <a:bodyPr/>
          <a:lstStyle/>
          <a:p>
            <a:fld id="{CC057153-B650-4DEB-B370-79DDCFDCE934}" type="slidenum">
              <a:rPr lang="en-US" smtClean="0"/>
              <a:t>1</a:t>
            </a:fld>
            <a:endParaRPr lang="en-US"/>
          </a:p>
        </p:txBody>
      </p:sp>
    </p:spTree>
    <p:extLst>
      <p:ext uri="{BB962C8B-B14F-4D97-AF65-F5344CB8AC3E}">
        <p14:creationId xmlns:p14="http://schemas.microsoft.com/office/powerpoint/2010/main" val="1428741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20CE451-818C-E63D-258B-234B6C543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Businesswoman holding placard with coins in front of technology icons">
            <a:extLst>
              <a:ext uri="{FF2B5EF4-FFF2-40B4-BE49-F238E27FC236}">
                <a16:creationId xmlns:a16="http://schemas.microsoft.com/office/drawing/2014/main" id="{38436EFC-FC8B-4F98-8D7C-DAC98FEEED80}"/>
              </a:ext>
            </a:extLst>
          </p:cNvPr>
          <p:cNvPicPr>
            <a:picLocks noGrp="1" noChangeAspect="1"/>
          </p:cNvPicPr>
          <p:nvPr>
            <p:ph sz="half" idx="1"/>
          </p:nvPr>
        </p:nvPicPr>
        <p:blipFill>
          <a:blip r:embed="rId3"/>
          <a:srcRect l="20553" r="17413" b="-2"/>
          <a:stretch/>
        </p:blipFill>
        <p:spPr>
          <a:xfrm>
            <a:off x="5818632" y="-1"/>
            <a:ext cx="6373368" cy="6857999"/>
          </a:xfrm>
          <a:prstGeom prst="rect">
            <a:avLst/>
          </a:prstGeom>
        </p:spPr>
      </p:pic>
      <p:sp>
        <p:nvSpPr>
          <p:cNvPr id="2" name="Title 1">
            <a:extLst>
              <a:ext uri="{FF2B5EF4-FFF2-40B4-BE49-F238E27FC236}">
                <a16:creationId xmlns:a16="http://schemas.microsoft.com/office/drawing/2014/main" id="{464594A0-6C20-0AE4-D5E2-BADA72EC4F2C}"/>
              </a:ext>
            </a:extLst>
          </p:cNvPr>
          <p:cNvSpPr>
            <a:spLocks noGrp="1"/>
          </p:cNvSpPr>
          <p:nvPr>
            <p:ph type="title"/>
          </p:nvPr>
        </p:nvSpPr>
        <p:spPr>
          <a:xfrm>
            <a:off x="614680" y="603504"/>
            <a:ext cx="4361688" cy="1527048"/>
          </a:xfrm>
        </p:spPr>
        <p:txBody>
          <a:bodyPr vert="horz" lIns="91440" tIns="45720" rIns="91440" bIns="45720" rtlCol="0" anchor="b">
            <a:normAutofit/>
          </a:bodyPr>
          <a:lstStyle/>
          <a:p>
            <a:r>
              <a:rPr lang="en-US" b="1" kern="1200">
                <a:solidFill>
                  <a:schemeClr val="tx1"/>
                </a:solidFill>
                <a:latin typeface="+mj-lt"/>
                <a:ea typeface="+mj-ea"/>
                <a:cs typeface="+mj-cs"/>
              </a:rPr>
              <a:t>Topics to be Covered</a:t>
            </a:r>
          </a:p>
        </p:txBody>
      </p:sp>
      <p:sp>
        <p:nvSpPr>
          <p:cNvPr id="4" name="Content Placeholder 3">
            <a:extLst>
              <a:ext uri="{FF2B5EF4-FFF2-40B4-BE49-F238E27FC236}">
                <a16:creationId xmlns:a16="http://schemas.microsoft.com/office/drawing/2014/main" id="{FEB97A38-ADA8-18B5-8400-0161EB8B0127}"/>
              </a:ext>
            </a:extLst>
          </p:cNvPr>
          <p:cNvSpPr>
            <a:spLocks noGrp="1"/>
          </p:cNvSpPr>
          <p:nvPr>
            <p:ph sz="half" idx="2"/>
          </p:nvPr>
        </p:nvSpPr>
        <p:spPr>
          <a:xfrm>
            <a:off x="614679" y="2212848"/>
            <a:ext cx="4361688" cy="4096512"/>
          </a:xfrm>
        </p:spPr>
        <p:txBody>
          <a:bodyPr vert="horz" lIns="91440" tIns="45720" rIns="91440" bIns="45720" rtlCol="0">
            <a:normAutofit/>
          </a:bodyPr>
          <a:lstStyle/>
          <a:p>
            <a:r>
              <a:rPr lang="en-US" sz="1800"/>
              <a:t>Using SQL to Extract Data from Relational Databases</a:t>
            </a:r>
          </a:p>
          <a:p>
            <a:r>
              <a:rPr lang="en-US" sz="1800"/>
              <a:t>Data Formats and Data Types</a:t>
            </a:r>
          </a:p>
        </p:txBody>
      </p:sp>
      <p:sp>
        <p:nvSpPr>
          <p:cNvPr id="3" name="Slide Number Placeholder 2">
            <a:extLst>
              <a:ext uri="{FF2B5EF4-FFF2-40B4-BE49-F238E27FC236}">
                <a16:creationId xmlns:a16="http://schemas.microsoft.com/office/drawing/2014/main" id="{A0D27E9D-9947-1A0B-55A4-155E916FBE41}"/>
              </a:ext>
            </a:extLst>
          </p:cNvPr>
          <p:cNvSpPr>
            <a:spLocks noGrp="1"/>
          </p:cNvSpPr>
          <p:nvPr>
            <p:ph type="sldNum" sz="quarter" idx="12"/>
          </p:nvPr>
        </p:nvSpPr>
        <p:spPr/>
        <p:txBody>
          <a:bodyPr/>
          <a:lstStyle/>
          <a:p>
            <a:fld id="{CC057153-B650-4DEB-B370-79DDCFDCE934}" type="slidenum">
              <a:rPr lang="en-US" smtClean="0"/>
              <a:t>2</a:t>
            </a:fld>
            <a:endParaRPr lang="en-US"/>
          </a:p>
        </p:txBody>
      </p:sp>
    </p:spTree>
    <p:extLst>
      <p:ext uri="{BB962C8B-B14F-4D97-AF65-F5344CB8AC3E}">
        <p14:creationId xmlns:p14="http://schemas.microsoft.com/office/powerpoint/2010/main" val="40288607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7F95E5CA-BDEC-0855-CB0A-6DE7857A090D}"/>
              </a:ext>
            </a:extLst>
          </p:cNvPr>
          <p:cNvSpPr>
            <a:spLocks noGrp="1"/>
          </p:cNvSpPr>
          <p:nvPr>
            <p:ph type="title"/>
          </p:nvPr>
        </p:nvSpPr>
        <p:spPr>
          <a:xfrm>
            <a:off x="277091" y="1814321"/>
            <a:ext cx="7772400" cy="4560920"/>
          </a:xfrm>
        </p:spPr>
        <p:txBody>
          <a:bodyPr vert="horz" lIns="91440" tIns="45720" rIns="91440" bIns="45720" rtlCol="0" anchor="b">
            <a:normAutofit/>
          </a:bodyPr>
          <a:lstStyle/>
          <a:p>
            <a:r>
              <a:rPr lang="en-US" sz="7400"/>
              <a:t>Using SQL to Extract Data from Relational Databases</a:t>
            </a:r>
          </a:p>
        </p:txBody>
      </p:sp>
      <p:sp>
        <p:nvSpPr>
          <p:cNvPr id="3" name="Slide Number Placeholder 2">
            <a:extLst>
              <a:ext uri="{FF2B5EF4-FFF2-40B4-BE49-F238E27FC236}">
                <a16:creationId xmlns:a16="http://schemas.microsoft.com/office/drawing/2014/main" id="{2D2365E2-BE2F-814B-3ABF-6F29A35E07E0}"/>
              </a:ext>
            </a:extLst>
          </p:cNvPr>
          <p:cNvSpPr>
            <a:spLocks noGrp="1"/>
          </p:cNvSpPr>
          <p:nvPr>
            <p:ph type="sldNum" sz="quarter" idx="12"/>
          </p:nvPr>
        </p:nvSpPr>
        <p:spPr/>
        <p:txBody>
          <a:bodyPr/>
          <a:lstStyle/>
          <a:p>
            <a:fld id="{CC057153-B650-4DEB-B370-79DDCFDCE934}" type="slidenum">
              <a:rPr lang="en-US" smtClean="0"/>
              <a:t>3</a:t>
            </a:fld>
            <a:endParaRPr lang="en-US"/>
          </a:p>
        </p:txBody>
      </p:sp>
    </p:spTree>
    <p:extLst>
      <p:ext uri="{BB962C8B-B14F-4D97-AF65-F5344CB8AC3E}">
        <p14:creationId xmlns:p14="http://schemas.microsoft.com/office/powerpoint/2010/main" val="4048574631"/>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2CC1E4F-F1F0-B945-BE50-C72A7103E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5" name="Content Placeholder 4" descr="abstract programm binary code  and colored array cube Database">
            <a:extLst>
              <a:ext uri="{FF2B5EF4-FFF2-40B4-BE49-F238E27FC236}">
                <a16:creationId xmlns:a16="http://schemas.microsoft.com/office/drawing/2014/main" id="{2986BA41-D60D-4A80-9316-562E17B2F9E1}"/>
              </a:ext>
            </a:extLst>
          </p:cNvPr>
          <p:cNvPicPr>
            <a:picLocks noGrp="1" noChangeAspect="1"/>
          </p:cNvPicPr>
          <p:nvPr>
            <p:ph sz="half" idx="1"/>
          </p:nvPr>
        </p:nvPicPr>
        <p:blipFill>
          <a:blip r:embed="rId3"/>
          <a:srcRect l="31302" r="2" b="2"/>
          <a:stretch/>
        </p:blipFill>
        <p:spPr>
          <a:xfrm>
            <a:off x="20" y="10"/>
            <a:ext cx="7723393" cy="6857990"/>
          </a:xfrm>
          <a:prstGeom prst="rect">
            <a:avLst/>
          </a:prstGeom>
        </p:spPr>
      </p:pic>
      <p:sp>
        <p:nvSpPr>
          <p:cNvPr id="2" name="Title 1">
            <a:extLst>
              <a:ext uri="{FF2B5EF4-FFF2-40B4-BE49-F238E27FC236}">
                <a16:creationId xmlns:a16="http://schemas.microsoft.com/office/drawing/2014/main" id="{6AE1F200-6172-7FC2-1A06-2E6DB31C0388}"/>
              </a:ext>
            </a:extLst>
          </p:cNvPr>
          <p:cNvSpPr>
            <a:spLocks noGrp="1"/>
          </p:cNvSpPr>
          <p:nvPr>
            <p:ph type="title"/>
          </p:nvPr>
        </p:nvSpPr>
        <p:spPr>
          <a:xfrm>
            <a:off x="8270421" y="1387929"/>
            <a:ext cx="3212502" cy="1942773"/>
          </a:xfrm>
        </p:spPr>
        <p:txBody>
          <a:bodyPr vert="horz" lIns="91440" tIns="45720" rIns="91440" bIns="45720" rtlCol="0" anchor="b">
            <a:normAutofit/>
          </a:bodyPr>
          <a:lstStyle/>
          <a:p>
            <a:r>
              <a:rPr lang="en-US" b="1" kern="1200">
                <a:solidFill>
                  <a:schemeClr val="tx1"/>
                </a:solidFill>
                <a:latin typeface="+mj-lt"/>
                <a:ea typeface="+mj-ea"/>
                <a:cs typeface="+mj-cs"/>
              </a:rPr>
              <a:t>Overview of Relational Databases</a:t>
            </a:r>
          </a:p>
        </p:txBody>
      </p:sp>
      <p:sp>
        <p:nvSpPr>
          <p:cNvPr id="4" name="Content Placeholder 3">
            <a:extLst>
              <a:ext uri="{FF2B5EF4-FFF2-40B4-BE49-F238E27FC236}">
                <a16:creationId xmlns:a16="http://schemas.microsoft.com/office/drawing/2014/main" id="{DCB7711B-D7A6-32E3-DAD5-49024C1D71A7}"/>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270421" y="3412998"/>
            <a:ext cx="3212502" cy="2767366"/>
          </a:xfrm>
        </p:spPr>
        <p:txBody>
          <a:bodyPr>
            <a:normAutofit/>
          </a:bodyPr>
          <a:lstStyle/>
          <a:p>
            <a:pPr marL="0" indent="0">
              <a:spcBef>
                <a:spcPts val="2500"/>
              </a:spcBef>
              <a:buNone/>
            </a:pPr>
            <a:endParaRPr lang="en-US" sz="1400" b="1"/>
          </a:p>
          <a:p>
            <a:pPr marL="0" lvl="1" indent="0">
              <a:buNone/>
            </a:pPr>
            <a:r>
              <a:rPr lang="en-US" sz="1400"/>
              <a:t>Relational databases store data in tables and use relationships between tables to organize the data. Understanding the structure of a relational database is crucial for effective data extraction.</a:t>
            </a:r>
            <a:endParaRPr lang="en-IN" sz="1400"/>
          </a:p>
        </p:txBody>
      </p:sp>
      <p:sp>
        <p:nvSpPr>
          <p:cNvPr id="3" name="Slide Number Placeholder 2">
            <a:extLst>
              <a:ext uri="{FF2B5EF4-FFF2-40B4-BE49-F238E27FC236}">
                <a16:creationId xmlns:a16="http://schemas.microsoft.com/office/drawing/2014/main" id="{751C1D1A-21A3-F881-750E-94B2AC0F2005}"/>
              </a:ext>
            </a:extLst>
          </p:cNvPr>
          <p:cNvSpPr>
            <a:spLocks noGrp="1"/>
          </p:cNvSpPr>
          <p:nvPr>
            <p:ph type="sldNum" sz="quarter" idx="12"/>
          </p:nvPr>
        </p:nvSpPr>
        <p:spPr/>
        <p:txBody>
          <a:bodyPr/>
          <a:lstStyle/>
          <a:p>
            <a:fld id="{CC057153-B650-4DEB-B370-79DDCFDCE934}" type="slidenum">
              <a:rPr lang="en-US" smtClean="0"/>
              <a:t>4</a:t>
            </a:fld>
            <a:endParaRPr lang="en-US"/>
          </a:p>
        </p:txBody>
      </p:sp>
    </p:spTree>
    <p:extLst>
      <p:ext uri="{BB962C8B-B14F-4D97-AF65-F5344CB8AC3E}">
        <p14:creationId xmlns:p14="http://schemas.microsoft.com/office/powerpoint/2010/main" val="188646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Computer script on a screen">
            <a:extLst>
              <a:ext uri="{FF2B5EF4-FFF2-40B4-BE49-F238E27FC236}">
                <a16:creationId xmlns:a16="http://schemas.microsoft.com/office/drawing/2014/main" id="{43DCC142-3B2B-4299-9EE5-5314A39583E8}"/>
              </a:ext>
            </a:extLst>
          </p:cNvPr>
          <p:cNvPicPr>
            <a:picLocks noGrp="1" noChangeAspect="1"/>
          </p:cNvPicPr>
          <p:nvPr>
            <p:ph sz="half" idx="1"/>
          </p:nvPr>
        </p:nvPicPr>
        <p:blipFill>
          <a:blip r:embed="rId3"/>
          <a:srcRect l="6108" r="46721" b="-1"/>
          <a:stretch/>
        </p:blipFill>
        <p:spPr>
          <a:xfrm>
            <a:off x="7345680" y="10"/>
            <a:ext cx="4846320" cy="6857990"/>
          </a:xfrm>
          <a:prstGeom prst="rect">
            <a:avLst/>
          </a:prstGeom>
        </p:spPr>
      </p:pic>
      <p:sp>
        <p:nvSpPr>
          <p:cNvPr id="2" name="Title 1">
            <a:extLst>
              <a:ext uri="{FF2B5EF4-FFF2-40B4-BE49-F238E27FC236}">
                <a16:creationId xmlns:a16="http://schemas.microsoft.com/office/drawing/2014/main" id="{CADC15DD-8BAA-61AF-BD58-F41E31D5C180}"/>
              </a:ext>
            </a:extLst>
          </p:cNvPr>
          <p:cNvSpPr>
            <a:spLocks noGrp="1"/>
          </p:cNvSpPr>
          <p:nvPr>
            <p:ph type="title"/>
          </p:nvPr>
        </p:nvSpPr>
        <p:spPr>
          <a:xfrm>
            <a:off x="612648" y="600075"/>
            <a:ext cx="6035040" cy="1529932"/>
          </a:xfrm>
        </p:spPr>
        <p:txBody>
          <a:bodyPr vert="horz" lIns="91440" tIns="45720" rIns="91440" bIns="45720" rtlCol="0" anchor="b">
            <a:normAutofit/>
          </a:bodyPr>
          <a:lstStyle/>
          <a:p>
            <a:r>
              <a:rPr lang="en-US" b="1" kern="1200">
                <a:solidFill>
                  <a:schemeClr val="tx1"/>
                </a:solidFill>
                <a:latin typeface="+mj-lt"/>
                <a:ea typeface="+mj-ea"/>
                <a:cs typeface="+mj-cs"/>
              </a:rPr>
              <a:t>SQL Basics</a:t>
            </a:r>
          </a:p>
        </p:txBody>
      </p:sp>
      <p:sp>
        <p:nvSpPr>
          <p:cNvPr id="4" name="Content Placeholder 3">
            <a:extLst>
              <a:ext uri="{FF2B5EF4-FFF2-40B4-BE49-F238E27FC236}">
                <a16:creationId xmlns:a16="http://schemas.microsoft.com/office/drawing/2014/main" id="{50931E78-C2B9-C054-80B9-FBC72FD68197}"/>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8" y="2212848"/>
            <a:ext cx="6035040" cy="4096512"/>
          </a:xfrm>
        </p:spPr>
        <p:txBody>
          <a:bodyPr>
            <a:normAutofit/>
          </a:bodyPr>
          <a:lstStyle/>
          <a:p>
            <a:pPr marL="0" indent="0">
              <a:spcBef>
                <a:spcPts val="2500"/>
              </a:spcBef>
              <a:buNone/>
            </a:pPr>
            <a:r>
              <a:rPr lang="en-US" sz="1400" b="1"/>
              <a:t>Selecting Data</a:t>
            </a:r>
          </a:p>
          <a:p>
            <a:pPr marL="0" lvl="1" indent="0">
              <a:buNone/>
            </a:pPr>
            <a:r>
              <a:rPr lang="en-US" sz="1400"/>
              <a:t>Selecting data is a fundamental concept in SQL that allows you to retrieve a specific set of data from a database table.</a:t>
            </a:r>
          </a:p>
          <a:p>
            <a:pPr marL="0" indent="0">
              <a:spcBef>
                <a:spcPts val="2500"/>
              </a:spcBef>
              <a:buNone/>
            </a:pPr>
            <a:r>
              <a:rPr lang="en-US" sz="1400" b="1"/>
              <a:t>Filtering Data</a:t>
            </a:r>
          </a:p>
          <a:p>
            <a:pPr marL="0" lvl="1" indent="0">
              <a:buNone/>
            </a:pPr>
            <a:r>
              <a:rPr lang="en-US" sz="1400"/>
              <a:t>Filtering data is another important concept in SQL that allows you to retrieve data based on a specific condition or set of conditions.</a:t>
            </a:r>
          </a:p>
          <a:p>
            <a:pPr marL="0" indent="0">
              <a:spcBef>
                <a:spcPts val="2500"/>
              </a:spcBef>
              <a:buNone/>
            </a:pPr>
            <a:r>
              <a:rPr lang="en-US" sz="1400" b="1"/>
              <a:t>Joining Tables</a:t>
            </a:r>
          </a:p>
          <a:p>
            <a:pPr marL="0" lvl="1" indent="0">
              <a:buNone/>
            </a:pPr>
            <a:r>
              <a:rPr lang="en-US" sz="1400"/>
              <a:t>Joining tables allows you to combine data from multiple tables based on a common column or set of columns.</a:t>
            </a:r>
            <a:endParaRPr lang="en-IN" sz="1400"/>
          </a:p>
        </p:txBody>
      </p:sp>
      <p:sp>
        <p:nvSpPr>
          <p:cNvPr id="3" name="Slide Number Placeholder 2">
            <a:extLst>
              <a:ext uri="{FF2B5EF4-FFF2-40B4-BE49-F238E27FC236}">
                <a16:creationId xmlns:a16="http://schemas.microsoft.com/office/drawing/2014/main" id="{24407017-E16D-4F51-5909-B27FF4FD330E}"/>
              </a:ext>
            </a:extLst>
          </p:cNvPr>
          <p:cNvSpPr>
            <a:spLocks noGrp="1"/>
          </p:cNvSpPr>
          <p:nvPr>
            <p:ph type="sldNum" sz="quarter" idx="12"/>
          </p:nvPr>
        </p:nvSpPr>
        <p:spPr/>
        <p:txBody>
          <a:bodyPr/>
          <a:lstStyle/>
          <a:p>
            <a:fld id="{CC057153-B650-4DEB-B370-79DDCFDCE934}" type="slidenum">
              <a:rPr lang="en-US" smtClean="0"/>
              <a:t>5</a:t>
            </a:fld>
            <a:endParaRPr lang="en-US"/>
          </a:p>
        </p:txBody>
      </p:sp>
    </p:spTree>
    <p:extLst>
      <p:ext uri="{BB962C8B-B14F-4D97-AF65-F5344CB8AC3E}">
        <p14:creationId xmlns:p14="http://schemas.microsoft.com/office/powerpoint/2010/main" val="33607819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Black Board with I Quit! written on it by white chalk.">
            <a:extLst>
              <a:ext uri="{FF2B5EF4-FFF2-40B4-BE49-F238E27FC236}">
                <a16:creationId xmlns:a16="http://schemas.microsoft.com/office/drawing/2014/main" id="{EAD5C48B-53F4-4398-9E54-E386F619C925}"/>
              </a:ext>
            </a:extLst>
          </p:cNvPr>
          <p:cNvPicPr>
            <a:picLocks noGrp="1" noChangeAspect="1"/>
          </p:cNvPicPr>
          <p:nvPr>
            <p:ph sz="half" idx="1"/>
          </p:nvPr>
        </p:nvPicPr>
        <p:blipFill>
          <a:blip r:embed="rId3"/>
          <a:srcRect l="27910" r="30025"/>
          <a:stretch/>
        </p:blipFill>
        <p:spPr>
          <a:xfrm>
            <a:off x="20" y="10"/>
            <a:ext cx="4910308" cy="6857990"/>
          </a:xfrm>
          <a:prstGeom prst="rect">
            <a:avLst/>
          </a:prstGeom>
        </p:spPr>
      </p:pic>
      <p:sp>
        <p:nvSpPr>
          <p:cNvPr id="2" name="Title 1">
            <a:extLst>
              <a:ext uri="{FF2B5EF4-FFF2-40B4-BE49-F238E27FC236}">
                <a16:creationId xmlns:a16="http://schemas.microsoft.com/office/drawing/2014/main" id="{BB189D0E-CC6C-8E1E-35DD-AF7820807993}"/>
              </a:ext>
            </a:extLst>
          </p:cNvPr>
          <p:cNvSpPr>
            <a:spLocks noGrp="1"/>
          </p:cNvSpPr>
          <p:nvPr>
            <p:ph type="title"/>
          </p:nvPr>
        </p:nvSpPr>
        <p:spPr>
          <a:xfrm>
            <a:off x="5568537" y="603504"/>
            <a:ext cx="5916168" cy="1527048"/>
          </a:xfrm>
        </p:spPr>
        <p:txBody>
          <a:bodyPr vert="horz" lIns="91440" tIns="45720" rIns="91440" bIns="45720" rtlCol="0" anchor="b">
            <a:normAutofit/>
          </a:bodyPr>
          <a:lstStyle/>
          <a:p>
            <a:r>
              <a:rPr lang="en-US" sz="3300" b="1" kern="1200">
                <a:solidFill>
                  <a:schemeClr val="tx1"/>
                </a:solidFill>
                <a:latin typeface="+mj-lt"/>
                <a:ea typeface="+mj-ea"/>
                <a:cs typeface="+mj-cs"/>
              </a:rPr>
              <a:t>Advanced SQL Techniques for Data Extraction</a:t>
            </a:r>
          </a:p>
        </p:txBody>
      </p:sp>
      <p:sp>
        <p:nvSpPr>
          <p:cNvPr id="4" name="Content Placeholder 3">
            <a:extLst>
              <a:ext uri="{FF2B5EF4-FFF2-40B4-BE49-F238E27FC236}">
                <a16:creationId xmlns:a16="http://schemas.microsoft.com/office/drawing/2014/main" id="{6B869D16-83B9-9024-1CA6-AB34EEA244F9}"/>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7" y="2214282"/>
            <a:ext cx="5916168" cy="4095078"/>
          </a:xfrm>
        </p:spPr>
        <p:txBody>
          <a:bodyPr>
            <a:normAutofit/>
          </a:bodyPr>
          <a:lstStyle/>
          <a:p>
            <a:pPr marL="0" indent="0">
              <a:spcBef>
                <a:spcPts val="2500"/>
              </a:spcBef>
              <a:buNone/>
            </a:pPr>
            <a:r>
              <a:rPr lang="en-US" sz="1400" b="1"/>
              <a:t>Subqueries</a:t>
            </a:r>
          </a:p>
          <a:p>
            <a:pPr marL="0" lvl="1" indent="0">
              <a:buNone/>
            </a:pPr>
            <a:r>
              <a:rPr lang="en-US" sz="1400"/>
              <a:t>Subqueries are SQL statements that are nested within another SQL statement and can be used for data extraction, filtering, and aggregation.</a:t>
            </a:r>
          </a:p>
          <a:p>
            <a:pPr marL="0" indent="0">
              <a:spcBef>
                <a:spcPts val="2500"/>
              </a:spcBef>
              <a:buNone/>
            </a:pPr>
            <a:r>
              <a:rPr lang="en-US" sz="1400" b="1"/>
              <a:t>Window Functions</a:t>
            </a:r>
          </a:p>
          <a:p>
            <a:pPr marL="0" lvl="1" indent="0">
              <a:buNone/>
            </a:pPr>
            <a:r>
              <a:rPr lang="en-US" sz="1400"/>
              <a:t>Window functions are a group of advanced SQL techniques that can be used to perform complex calculations, such as ranking, partitioning, and aggregation.</a:t>
            </a:r>
          </a:p>
          <a:p>
            <a:pPr marL="0" indent="0">
              <a:spcBef>
                <a:spcPts val="2500"/>
              </a:spcBef>
              <a:buNone/>
            </a:pPr>
            <a:r>
              <a:rPr lang="en-US" sz="1400" b="1"/>
              <a:t>Other Advanced SQL Techniques</a:t>
            </a:r>
          </a:p>
          <a:p>
            <a:pPr marL="0" lvl="1" indent="0">
              <a:buNone/>
            </a:pPr>
            <a:r>
              <a:rPr lang="en-US" sz="1400"/>
              <a:t>Other advanced SQL techniques for data extraction include pivot tables, stored procedures, and user-defined functions.</a:t>
            </a:r>
            <a:endParaRPr lang="en-IN" sz="1400"/>
          </a:p>
        </p:txBody>
      </p:sp>
      <p:sp>
        <p:nvSpPr>
          <p:cNvPr id="3" name="Slide Number Placeholder 2">
            <a:extLst>
              <a:ext uri="{FF2B5EF4-FFF2-40B4-BE49-F238E27FC236}">
                <a16:creationId xmlns:a16="http://schemas.microsoft.com/office/drawing/2014/main" id="{62B92A83-9470-F583-6D75-FC70B5215ACB}"/>
              </a:ext>
            </a:extLst>
          </p:cNvPr>
          <p:cNvSpPr>
            <a:spLocks noGrp="1"/>
          </p:cNvSpPr>
          <p:nvPr>
            <p:ph type="sldNum" sz="quarter" idx="12"/>
          </p:nvPr>
        </p:nvSpPr>
        <p:spPr/>
        <p:txBody>
          <a:bodyPr/>
          <a:lstStyle/>
          <a:p>
            <a:fld id="{CC057153-B650-4DEB-B370-79DDCFDCE934}" type="slidenum">
              <a:rPr lang="en-US" smtClean="0"/>
              <a:t>6</a:t>
            </a:fld>
            <a:endParaRPr lang="en-US"/>
          </a:p>
        </p:txBody>
      </p:sp>
    </p:spTree>
    <p:extLst>
      <p:ext uri="{BB962C8B-B14F-4D97-AF65-F5344CB8AC3E}">
        <p14:creationId xmlns:p14="http://schemas.microsoft.com/office/powerpoint/2010/main" val="259621495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digital technology concept">
            <a:extLst>
              <a:ext uri="{FF2B5EF4-FFF2-40B4-BE49-F238E27FC236}">
                <a16:creationId xmlns:a16="http://schemas.microsoft.com/office/drawing/2014/main" id="{974EB40F-2BAE-460A-8EC6-09268FC908F5}"/>
              </a:ext>
            </a:extLst>
          </p:cNvPr>
          <p:cNvPicPr>
            <a:picLocks noGrp="1" noChangeAspect="1"/>
          </p:cNvPicPr>
          <p:nvPr>
            <p:ph sz="half" idx="1"/>
          </p:nvPr>
        </p:nvPicPr>
        <p:blipFill>
          <a:blip r:embed="rId3"/>
          <a:srcRect l="13879" r="45846"/>
          <a:stretch/>
        </p:blipFill>
        <p:spPr>
          <a:xfrm>
            <a:off x="20" y="10"/>
            <a:ext cx="4910308" cy="6857990"/>
          </a:xfrm>
          <a:prstGeom prst="rect">
            <a:avLst/>
          </a:prstGeom>
        </p:spPr>
      </p:pic>
      <p:sp>
        <p:nvSpPr>
          <p:cNvPr id="2" name="Title 1">
            <a:extLst>
              <a:ext uri="{FF2B5EF4-FFF2-40B4-BE49-F238E27FC236}">
                <a16:creationId xmlns:a16="http://schemas.microsoft.com/office/drawing/2014/main" id="{7046ADCC-92E1-0956-0574-01D9D9A7C98D}"/>
              </a:ext>
            </a:extLst>
          </p:cNvPr>
          <p:cNvSpPr>
            <a:spLocks noGrp="1"/>
          </p:cNvSpPr>
          <p:nvPr>
            <p:ph type="title"/>
          </p:nvPr>
        </p:nvSpPr>
        <p:spPr>
          <a:xfrm>
            <a:off x="5568537" y="603504"/>
            <a:ext cx="5916168" cy="1527048"/>
          </a:xfrm>
        </p:spPr>
        <p:txBody>
          <a:bodyPr vert="horz" lIns="91440" tIns="45720" rIns="91440" bIns="45720" rtlCol="0" anchor="b">
            <a:normAutofit/>
          </a:bodyPr>
          <a:lstStyle/>
          <a:p>
            <a:r>
              <a:rPr lang="en-US" b="1" kern="1200">
                <a:solidFill>
                  <a:schemeClr val="tx1"/>
                </a:solidFill>
                <a:latin typeface="+mj-lt"/>
                <a:ea typeface="+mj-ea"/>
                <a:cs typeface="+mj-cs"/>
              </a:rPr>
              <a:t>Data Extraction Best Practices with SQL</a:t>
            </a:r>
          </a:p>
        </p:txBody>
      </p:sp>
      <p:sp>
        <p:nvSpPr>
          <p:cNvPr id="4" name="Content Placeholder 3">
            <a:extLst>
              <a:ext uri="{FF2B5EF4-FFF2-40B4-BE49-F238E27FC236}">
                <a16:creationId xmlns:a16="http://schemas.microsoft.com/office/drawing/2014/main" id="{999CEFBA-2302-1848-432D-4F3918F92C12}"/>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7" y="2214282"/>
            <a:ext cx="5916168" cy="4095078"/>
          </a:xfrm>
        </p:spPr>
        <p:txBody>
          <a:bodyPr>
            <a:normAutofit/>
          </a:bodyPr>
          <a:lstStyle/>
          <a:p>
            <a:pPr marL="0" indent="0">
              <a:spcBef>
                <a:spcPts val="2500"/>
              </a:spcBef>
              <a:buNone/>
            </a:pPr>
            <a:r>
              <a:rPr lang="en-US" sz="1300" b="1"/>
              <a:t>Avoiding Cartesian Products</a:t>
            </a:r>
          </a:p>
          <a:p>
            <a:pPr marL="0" lvl="1" indent="0">
              <a:buNone/>
            </a:pPr>
            <a:r>
              <a:rPr lang="en-US" sz="1300"/>
              <a:t>Cartesian products occur when a query returns a result set with the number of rows that is equal to the product of the number of rows in each table being queried. This can cause significant performance issues and should be avoided.</a:t>
            </a:r>
          </a:p>
          <a:p>
            <a:pPr marL="0" indent="0">
              <a:spcBef>
                <a:spcPts val="2500"/>
              </a:spcBef>
              <a:buNone/>
            </a:pPr>
            <a:r>
              <a:rPr lang="en-US" sz="1300" b="1"/>
              <a:t>Query Optimization</a:t>
            </a:r>
          </a:p>
          <a:p>
            <a:pPr marL="0" lvl="1" indent="0">
              <a:buNone/>
            </a:pPr>
            <a:r>
              <a:rPr lang="en-US" sz="1300"/>
              <a:t>Queries should be optimized to improve performance and reduce the time it takes to extract data. This includes using indexes, avoiding subqueries, and minimizing the number of joins.</a:t>
            </a:r>
          </a:p>
          <a:p>
            <a:pPr marL="0" indent="0">
              <a:spcBef>
                <a:spcPts val="2500"/>
              </a:spcBef>
              <a:buNone/>
            </a:pPr>
            <a:r>
              <a:rPr lang="en-US" sz="1300" b="1"/>
              <a:t>Appropriate Data Types</a:t>
            </a:r>
          </a:p>
          <a:p>
            <a:pPr marL="0" lvl="1" indent="0">
              <a:buNone/>
            </a:pPr>
            <a:r>
              <a:rPr lang="en-US" sz="1300"/>
              <a:t>Using appropriate data types can help ensure the accuracy and integrity of the extracted data. This includes using the correct data types for each column, avoiding NULL values, and validating data inputs.</a:t>
            </a:r>
            <a:endParaRPr lang="en-IN" sz="1300"/>
          </a:p>
        </p:txBody>
      </p:sp>
      <p:sp>
        <p:nvSpPr>
          <p:cNvPr id="3" name="Slide Number Placeholder 2">
            <a:extLst>
              <a:ext uri="{FF2B5EF4-FFF2-40B4-BE49-F238E27FC236}">
                <a16:creationId xmlns:a16="http://schemas.microsoft.com/office/drawing/2014/main" id="{DBC2038A-82E2-2D46-847E-EC537BD5CA04}"/>
              </a:ext>
            </a:extLst>
          </p:cNvPr>
          <p:cNvSpPr>
            <a:spLocks noGrp="1"/>
          </p:cNvSpPr>
          <p:nvPr>
            <p:ph type="sldNum" sz="quarter" idx="12"/>
          </p:nvPr>
        </p:nvSpPr>
        <p:spPr/>
        <p:txBody>
          <a:bodyPr/>
          <a:lstStyle/>
          <a:p>
            <a:fld id="{CC057153-B650-4DEB-B370-79DDCFDCE934}" type="slidenum">
              <a:rPr lang="en-US" smtClean="0"/>
              <a:t>7</a:t>
            </a:fld>
            <a:endParaRPr lang="en-US"/>
          </a:p>
        </p:txBody>
      </p:sp>
    </p:spTree>
    <p:extLst>
      <p:ext uri="{BB962C8B-B14F-4D97-AF65-F5344CB8AC3E}">
        <p14:creationId xmlns:p14="http://schemas.microsoft.com/office/powerpoint/2010/main" val="24013275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A3E8498D-DA8F-EF6C-5420-F153D4979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482D62C7-93EC-8678-DA4E-50DAABAEAF62}"/>
              </a:ext>
            </a:extLst>
          </p:cNvPr>
          <p:cNvSpPr>
            <a:spLocks noGrp="1"/>
          </p:cNvSpPr>
          <p:nvPr>
            <p:ph type="title"/>
          </p:nvPr>
        </p:nvSpPr>
        <p:spPr>
          <a:xfrm>
            <a:off x="277091" y="1814321"/>
            <a:ext cx="7772400" cy="4560920"/>
          </a:xfrm>
        </p:spPr>
        <p:txBody>
          <a:bodyPr vert="horz" lIns="91440" tIns="45720" rIns="91440" bIns="45720" rtlCol="0" anchor="b">
            <a:normAutofit/>
          </a:bodyPr>
          <a:lstStyle/>
          <a:p>
            <a:r>
              <a:rPr lang="en-US" sz="7400"/>
              <a:t>Data Formats and Data Types</a:t>
            </a:r>
          </a:p>
        </p:txBody>
      </p:sp>
      <p:sp>
        <p:nvSpPr>
          <p:cNvPr id="3" name="Slide Number Placeholder 2">
            <a:extLst>
              <a:ext uri="{FF2B5EF4-FFF2-40B4-BE49-F238E27FC236}">
                <a16:creationId xmlns:a16="http://schemas.microsoft.com/office/drawing/2014/main" id="{145288A0-DE5F-8F1E-985D-6AA9898CC040}"/>
              </a:ext>
            </a:extLst>
          </p:cNvPr>
          <p:cNvSpPr>
            <a:spLocks noGrp="1"/>
          </p:cNvSpPr>
          <p:nvPr>
            <p:ph type="sldNum" sz="quarter" idx="12"/>
          </p:nvPr>
        </p:nvSpPr>
        <p:spPr/>
        <p:txBody>
          <a:bodyPr/>
          <a:lstStyle/>
          <a:p>
            <a:fld id="{CC057153-B650-4DEB-B370-79DDCFDCE934}" type="slidenum">
              <a:rPr lang="en-US" smtClean="0"/>
              <a:t>8</a:t>
            </a:fld>
            <a:endParaRPr lang="en-US"/>
          </a:p>
        </p:txBody>
      </p:sp>
    </p:spTree>
    <p:extLst>
      <p:ext uri="{BB962C8B-B14F-4D97-AF65-F5344CB8AC3E}">
        <p14:creationId xmlns:p14="http://schemas.microsoft.com/office/powerpoint/2010/main" val="1538577051"/>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Document concept on blue background">
            <a:extLst>
              <a:ext uri="{FF2B5EF4-FFF2-40B4-BE49-F238E27FC236}">
                <a16:creationId xmlns:a16="http://schemas.microsoft.com/office/drawing/2014/main" id="{41647D26-F7C0-4F19-B34D-1FE13E76BE60}"/>
              </a:ext>
            </a:extLst>
          </p:cNvPr>
          <p:cNvPicPr>
            <a:picLocks noGrp="1" noChangeAspect="1"/>
          </p:cNvPicPr>
          <p:nvPr>
            <p:ph sz="half" idx="1"/>
          </p:nvPr>
        </p:nvPicPr>
        <p:blipFill>
          <a:blip r:embed="rId3"/>
          <a:srcRect l="23664" r="22636"/>
          <a:stretch/>
        </p:blipFill>
        <p:spPr>
          <a:xfrm>
            <a:off x="20" y="10"/>
            <a:ext cx="4910308" cy="6857990"/>
          </a:xfrm>
          <a:prstGeom prst="rect">
            <a:avLst/>
          </a:prstGeom>
        </p:spPr>
      </p:pic>
      <p:sp>
        <p:nvSpPr>
          <p:cNvPr id="2" name="Title 1">
            <a:extLst>
              <a:ext uri="{FF2B5EF4-FFF2-40B4-BE49-F238E27FC236}">
                <a16:creationId xmlns:a16="http://schemas.microsoft.com/office/drawing/2014/main" id="{89E520FC-90F5-675D-B9D2-1CF30D6B2CC5}"/>
              </a:ext>
            </a:extLst>
          </p:cNvPr>
          <p:cNvSpPr>
            <a:spLocks noGrp="1"/>
          </p:cNvSpPr>
          <p:nvPr>
            <p:ph type="title"/>
          </p:nvPr>
        </p:nvSpPr>
        <p:spPr>
          <a:xfrm>
            <a:off x="5568537" y="603504"/>
            <a:ext cx="5916168" cy="1527048"/>
          </a:xfrm>
        </p:spPr>
        <p:txBody>
          <a:bodyPr vert="horz" lIns="91440" tIns="45720" rIns="91440" bIns="45720" rtlCol="0" anchor="b">
            <a:normAutofit/>
          </a:bodyPr>
          <a:lstStyle/>
          <a:p>
            <a:r>
              <a:rPr lang="en-US" b="1" kern="1200">
                <a:solidFill>
                  <a:schemeClr val="tx1"/>
                </a:solidFill>
                <a:latin typeface="+mj-lt"/>
                <a:ea typeface="+mj-ea"/>
                <a:cs typeface="+mj-cs"/>
              </a:rPr>
              <a:t>Common Data Formats</a:t>
            </a:r>
          </a:p>
        </p:txBody>
      </p:sp>
      <p:sp>
        <p:nvSpPr>
          <p:cNvPr id="4" name="Content Placeholder 3">
            <a:extLst>
              <a:ext uri="{FF2B5EF4-FFF2-40B4-BE49-F238E27FC236}">
                <a16:creationId xmlns:a16="http://schemas.microsoft.com/office/drawing/2014/main" id="{CC14002B-B45F-4318-B429-DF91EEEDCA61}"/>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7" y="2214282"/>
            <a:ext cx="5916168" cy="4095078"/>
          </a:xfrm>
        </p:spPr>
        <p:txBody>
          <a:bodyPr>
            <a:normAutofit/>
          </a:bodyPr>
          <a:lstStyle/>
          <a:p>
            <a:pPr marL="0" indent="0">
              <a:spcBef>
                <a:spcPts val="2500"/>
              </a:spcBef>
              <a:buNone/>
            </a:pPr>
            <a:r>
              <a:rPr lang="en-US" sz="1400" b="1"/>
              <a:t>CSV</a:t>
            </a:r>
          </a:p>
          <a:p>
            <a:pPr marL="0" lvl="1" indent="0">
              <a:buNone/>
            </a:pPr>
            <a:r>
              <a:rPr lang="en-US" sz="1400"/>
              <a:t>CSV (Comma Separated Values) is a simple and widely used data format that stores tabular data. It is easy to read and write, but doesn't support nested data structures.</a:t>
            </a:r>
          </a:p>
          <a:p>
            <a:pPr marL="0" indent="0">
              <a:spcBef>
                <a:spcPts val="2500"/>
              </a:spcBef>
              <a:buNone/>
            </a:pPr>
            <a:r>
              <a:rPr lang="en-US" sz="1400" b="1"/>
              <a:t>JSON</a:t>
            </a:r>
          </a:p>
          <a:p>
            <a:pPr marL="0" lvl="1" indent="0">
              <a:buNone/>
            </a:pPr>
            <a:r>
              <a:rPr lang="en-US" sz="1400"/>
              <a:t>JSON (JavaScript Object Notation) is a lightweight data format that is easy to read and write. It supports nested data structures and is widely used in web applications.</a:t>
            </a:r>
          </a:p>
          <a:p>
            <a:pPr marL="0" indent="0">
              <a:spcBef>
                <a:spcPts val="2500"/>
              </a:spcBef>
              <a:buNone/>
            </a:pPr>
            <a:r>
              <a:rPr lang="en-US" sz="1400" b="1"/>
              <a:t>XML</a:t>
            </a:r>
          </a:p>
          <a:p>
            <a:pPr marL="0" lvl="1" indent="0">
              <a:buNone/>
            </a:pPr>
            <a:r>
              <a:rPr lang="en-US" sz="1400"/>
              <a:t>XML (Extensible Markup Language) is a data format that is similar to HTML and is used for storing and transferring data. It supports nested data structures and is widely used in enterprise applications.</a:t>
            </a:r>
            <a:endParaRPr lang="en-IN" sz="1400"/>
          </a:p>
        </p:txBody>
      </p:sp>
      <p:sp>
        <p:nvSpPr>
          <p:cNvPr id="3" name="Slide Number Placeholder 2">
            <a:extLst>
              <a:ext uri="{FF2B5EF4-FFF2-40B4-BE49-F238E27FC236}">
                <a16:creationId xmlns:a16="http://schemas.microsoft.com/office/drawing/2014/main" id="{62AAF954-3FBA-6DE9-ABF7-50CEECD88707}"/>
              </a:ext>
            </a:extLst>
          </p:cNvPr>
          <p:cNvSpPr>
            <a:spLocks noGrp="1"/>
          </p:cNvSpPr>
          <p:nvPr>
            <p:ph type="sldNum" sz="quarter" idx="12"/>
          </p:nvPr>
        </p:nvSpPr>
        <p:spPr/>
        <p:txBody>
          <a:bodyPr/>
          <a:lstStyle/>
          <a:p>
            <a:fld id="{CC057153-B650-4DEB-B370-79DDCFDCE934}" type="slidenum">
              <a:rPr lang="en-US" smtClean="0"/>
              <a:t>9</a:t>
            </a:fld>
            <a:endParaRPr lang="en-US"/>
          </a:p>
        </p:txBody>
      </p:sp>
    </p:spTree>
    <p:extLst>
      <p:ext uri="{BB962C8B-B14F-4D97-AF65-F5344CB8AC3E}">
        <p14:creationId xmlns:p14="http://schemas.microsoft.com/office/powerpoint/2010/main" val="24651946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Several laptops suspended in midair">
            <a:extLst>
              <a:ext uri="{FF2B5EF4-FFF2-40B4-BE49-F238E27FC236}">
                <a16:creationId xmlns:a16="http://schemas.microsoft.com/office/drawing/2014/main" id="{4EC84B59-BD93-4D66-BB5F-8007131F3A85}"/>
              </a:ext>
            </a:extLst>
          </p:cNvPr>
          <p:cNvPicPr>
            <a:picLocks noGrp="1" noChangeAspect="1"/>
          </p:cNvPicPr>
          <p:nvPr>
            <p:ph sz="half" idx="1"/>
          </p:nvPr>
        </p:nvPicPr>
        <p:blipFill>
          <a:blip r:embed="rId3"/>
          <a:srcRect l="30710" r="27582" b="-1"/>
          <a:stretch/>
        </p:blipFill>
        <p:spPr>
          <a:xfrm>
            <a:off x="20" y="10"/>
            <a:ext cx="4910308" cy="6857990"/>
          </a:xfrm>
          <a:prstGeom prst="rect">
            <a:avLst/>
          </a:prstGeom>
        </p:spPr>
      </p:pic>
      <p:sp>
        <p:nvSpPr>
          <p:cNvPr id="2" name="Title 1">
            <a:extLst>
              <a:ext uri="{FF2B5EF4-FFF2-40B4-BE49-F238E27FC236}">
                <a16:creationId xmlns:a16="http://schemas.microsoft.com/office/drawing/2014/main" id="{3C2F7D8C-66D1-0B2B-D1D0-A6CF3C8B5052}"/>
              </a:ext>
            </a:extLst>
          </p:cNvPr>
          <p:cNvSpPr>
            <a:spLocks noGrp="1"/>
          </p:cNvSpPr>
          <p:nvPr>
            <p:ph type="title"/>
          </p:nvPr>
        </p:nvSpPr>
        <p:spPr>
          <a:xfrm>
            <a:off x="5568537" y="603504"/>
            <a:ext cx="5916168" cy="1527048"/>
          </a:xfrm>
        </p:spPr>
        <p:txBody>
          <a:bodyPr vert="horz" lIns="91440" tIns="45720" rIns="91440" bIns="45720" rtlCol="0" anchor="b">
            <a:normAutofit/>
          </a:bodyPr>
          <a:lstStyle/>
          <a:p>
            <a:r>
              <a:rPr lang="en-US" b="1" kern="1200">
                <a:solidFill>
                  <a:schemeClr val="tx1"/>
                </a:solidFill>
                <a:latin typeface="+mj-lt"/>
                <a:ea typeface="+mj-ea"/>
                <a:cs typeface="+mj-cs"/>
              </a:rPr>
              <a:t>Data Types and Their Significance</a:t>
            </a:r>
          </a:p>
        </p:txBody>
      </p:sp>
      <p:sp>
        <p:nvSpPr>
          <p:cNvPr id="4" name="Content Placeholder 3">
            <a:extLst>
              <a:ext uri="{FF2B5EF4-FFF2-40B4-BE49-F238E27FC236}">
                <a16:creationId xmlns:a16="http://schemas.microsoft.com/office/drawing/2014/main" id="{033EDDA5-B9CF-ED7C-601F-96B0AB055210}"/>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7" y="2214282"/>
            <a:ext cx="5916168" cy="4095078"/>
          </a:xfrm>
        </p:spPr>
        <p:txBody>
          <a:bodyPr>
            <a:normAutofit/>
          </a:bodyPr>
          <a:lstStyle/>
          <a:p>
            <a:pPr marL="0" indent="0">
              <a:lnSpc>
                <a:spcPct val="110000"/>
              </a:lnSpc>
              <a:spcBef>
                <a:spcPts val="2500"/>
              </a:spcBef>
              <a:buNone/>
            </a:pPr>
            <a:r>
              <a:rPr lang="en-US" sz="1400" b="1"/>
              <a:t>Numeric Data Types</a:t>
            </a:r>
          </a:p>
          <a:p>
            <a:pPr marL="0" lvl="1" indent="0">
              <a:lnSpc>
                <a:spcPct val="110000"/>
              </a:lnSpc>
              <a:buNone/>
            </a:pPr>
            <a:r>
              <a:rPr lang="en-US" sz="1400"/>
              <a:t>Numeric data types are used to store numbers and can be either integer or floating-point. Understanding the significance of numeric data types is important for performing calculations and data analysis correctly.</a:t>
            </a:r>
          </a:p>
          <a:p>
            <a:pPr marL="0" indent="0">
              <a:lnSpc>
                <a:spcPct val="110000"/>
              </a:lnSpc>
              <a:spcBef>
                <a:spcPts val="2500"/>
              </a:spcBef>
              <a:buNone/>
            </a:pPr>
            <a:r>
              <a:rPr lang="en-US" sz="1400" b="1"/>
              <a:t>String Data Types</a:t>
            </a:r>
          </a:p>
          <a:p>
            <a:pPr marL="0" lvl="1" indent="0">
              <a:lnSpc>
                <a:spcPct val="110000"/>
              </a:lnSpc>
              <a:buNone/>
            </a:pPr>
            <a:r>
              <a:rPr lang="en-US" sz="1400"/>
              <a:t>String data types are used to store text and character data. Understanding the significance of string data types is important for working with text data, such as searching, sorting, and formatting.</a:t>
            </a:r>
          </a:p>
          <a:p>
            <a:pPr marL="0" indent="0">
              <a:lnSpc>
                <a:spcPct val="110000"/>
              </a:lnSpc>
              <a:spcBef>
                <a:spcPts val="2500"/>
              </a:spcBef>
              <a:buNone/>
            </a:pPr>
            <a:r>
              <a:rPr lang="en-US" sz="1400" b="1"/>
              <a:t>Boolean Data Types</a:t>
            </a:r>
          </a:p>
          <a:p>
            <a:pPr marL="0" lvl="1" indent="0">
              <a:lnSpc>
                <a:spcPct val="110000"/>
              </a:lnSpc>
              <a:buNone/>
            </a:pPr>
            <a:r>
              <a:rPr lang="en-US" sz="1400"/>
              <a:t>Boolean data types are used to store true/false or yes/no values. Understanding the significance of boolean data types is important for logical operations and decision making.</a:t>
            </a:r>
            <a:endParaRPr lang="en-IN" sz="1400"/>
          </a:p>
        </p:txBody>
      </p:sp>
      <p:sp>
        <p:nvSpPr>
          <p:cNvPr id="3" name="Slide Number Placeholder 2">
            <a:extLst>
              <a:ext uri="{FF2B5EF4-FFF2-40B4-BE49-F238E27FC236}">
                <a16:creationId xmlns:a16="http://schemas.microsoft.com/office/drawing/2014/main" id="{18DF9BB5-82DB-B940-5F4F-48CB2741ABE4}"/>
              </a:ext>
            </a:extLst>
          </p:cNvPr>
          <p:cNvSpPr>
            <a:spLocks noGrp="1"/>
          </p:cNvSpPr>
          <p:nvPr>
            <p:ph type="sldNum" sz="quarter" idx="12"/>
          </p:nvPr>
        </p:nvSpPr>
        <p:spPr/>
        <p:txBody>
          <a:bodyPr/>
          <a:lstStyle/>
          <a:p>
            <a:fld id="{CC057153-B650-4DEB-B370-79DDCFDCE934}" type="slidenum">
              <a:rPr lang="en-US" smtClean="0"/>
              <a:t>10</a:t>
            </a:fld>
            <a:endParaRPr lang="en-US"/>
          </a:p>
        </p:txBody>
      </p:sp>
    </p:spTree>
    <p:extLst>
      <p:ext uri="{BB962C8B-B14F-4D97-AF65-F5344CB8AC3E}">
        <p14:creationId xmlns:p14="http://schemas.microsoft.com/office/powerpoint/2010/main" val="36018309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Database symbols with arrows and file folder">
            <a:extLst>
              <a:ext uri="{FF2B5EF4-FFF2-40B4-BE49-F238E27FC236}">
                <a16:creationId xmlns:a16="http://schemas.microsoft.com/office/drawing/2014/main" id="{2AC01875-05E4-4A75-81A6-C17677AF402B}"/>
              </a:ext>
            </a:extLst>
          </p:cNvPr>
          <p:cNvPicPr>
            <a:picLocks noGrp="1" noChangeAspect="1"/>
          </p:cNvPicPr>
          <p:nvPr>
            <p:ph sz="half" idx="1"/>
          </p:nvPr>
        </p:nvPicPr>
        <p:blipFill>
          <a:blip r:embed="rId3"/>
          <a:srcRect l="26580" r="13456" b="2"/>
          <a:stretch/>
        </p:blipFill>
        <p:spPr>
          <a:xfrm>
            <a:off x="20" y="10"/>
            <a:ext cx="4910308" cy="6857990"/>
          </a:xfrm>
          <a:prstGeom prst="rect">
            <a:avLst/>
          </a:prstGeom>
        </p:spPr>
      </p:pic>
      <p:sp>
        <p:nvSpPr>
          <p:cNvPr id="2" name="Title 1">
            <a:extLst>
              <a:ext uri="{FF2B5EF4-FFF2-40B4-BE49-F238E27FC236}">
                <a16:creationId xmlns:a16="http://schemas.microsoft.com/office/drawing/2014/main" id="{09CA7173-E518-245A-7F7B-FD129E137763}"/>
              </a:ext>
            </a:extLst>
          </p:cNvPr>
          <p:cNvSpPr>
            <a:spLocks noGrp="1"/>
          </p:cNvSpPr>
          <p:nvPr>
            <p:ph type="title"/>
          </p:nvPr>
        </p:nvSpPr>
        <p:spPr>
          <a:xfrm>
            <a:off x="5568537" y="603504"/>
            <a:ext cx="5916168" cy="1527048"/>
          </a:xfrm>
        </p:spPr>
        <p:txBody>
          <a:bodyPr vert="horz" lIns="91440" tIns="45720" rIns="91440" bIns="45720" rtlCol="0" anchor="b">
            <a:normAutofit/>
          </a:bodyPr>
          <a:lstStyle/>
          <a:p>
            <a:r>
              <a:rPr lang="en-US" b="1" kern="1200">
                <a:solidFill>
                  <a:schemeClr val="tx1"/>
                </a:solidFill>
                <a:latin typeface="+mj-lt"/>
                <a:ea typeface="+mj-ea"/>
                <a:cs typeface="+mj-cs"/>
              </a:rPr>
              <a:t>Converting Between Data Formats</a:t>
            </a:r>
          </a:p>
        </p:txBody>
      </p:sp>
      <p:sp>
        <p:nvSpPr>
          <p:cNvPr id="4" name="Content Placeholder 3">
            <a:extLst>
              <a:ext uri="{FF2B5EF4-FFF2-40B4-BE49-F238E27FC236}">
                <a16:creationId xmlns:a16="http://schemas.microsoft.com/office/drawing/2014/main" id="{188B2CBD-8406-D976-0053-741180476C6B}"/>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7" y="2214282"/>
            <a:ext cx="5916168" cy="4095078"/>
          </a:xfrm>
        </p:spPr>
        <p:txBody>
          <a:bodyPr>
            <a:normAutofit/>
          </a:bodyPr>
          <a:lstStyle/>
          <a:p>
            <a:pPr marL="0" indent="0">
              <a:spcBef>
                <a:spcPts val="2500"/>
              </a:spcBef>
              <a:buNone/>
            </a:pPr>
            <a:r>
              <a:rPr lang="en-US" sz="1300" b="1"/>
              <a:t>Data Format Conversion</a:t>
            </a:r>
          </a:p>
          <a:p>
            <a:pPr marL="0" lvl="1" indent="0">
              <a:buNone/>
            </a:pPr>
            <a:r>
              <a:rPr lang="en-US" sz="1300"/>
              <a:t>Converting between data formats is a crucial aspect of data extraction. This process involves converting data from one format to another, such as from CSV to JSON or Excel to SQL.</a:t>
            </a:r>
          </a:p>
          <a:p>
            <a:pPr marL="0" indent="0">
              <a:spcBef>
                <a:spcPts val="2500"/>
              </a:spcBef>
              <a:buNone/>
            </a:pPr>
            <a:r>
              <a:rPr lang="en-US" sz="1300" b="1"/>
              <a:t>SQL for Data Conversion</a:t>
            </a:r>
          </a:p>
          <a:p>
            <a:pPr marL="0" lvl="1" indent="0">
              <a:buNone/>
            </a:pPr>
            <a:r>
              <a:rPr lang="en-US" sz="1300"/>
              <a:t>SQL can be used to convert data between different formats. For example, you can use the SQL SELECT statement to retrieve data from a database and then use the INSERT statement to insert that data into another table or file format.</a:t>
            </a:r>
          </a:p>
          <a:p>
            <a:pPr marL="0" indent="0">
              <a:spcBef>
                <a:spcPts val="2500"/>
              </a:spcBef>
              <a:buNone/>
            </a:pPr>
            <a:r>
              <a:rPr lang="en-US" sz="1300" b="1"/>
              <a:t>Third-Party Tools for Data Conversion</a:t>
            </a:r>
          </a:p>
          <a:p>
            <a:pPr marL="0" lvl="1" indent="0">
              <a:buNone/>
            </a:pPr>
            <a:r>
              <a:rPr lang="en-US" sz="1300"/>
              <a:t>Third-party tools can also be used for data conversion. These tools include ETL (Extract, Transform, Load) tools, data conversion software, and APIs (Application Programming Interfaces) for data conversion.</a:t>
            </a:r>
            <a:endParaRPr lang="en-IN" sz="1300"/>
          </a:p>
        </p:txBody>
      </p:sp>
      <p:sp>
        <p:nvSpPr>
          <p:cNvPr id="3" name="Slide Number Placeholder 2">
            <a:extLst>
              <a:ext uri="{FF2B5EF4-FFF2-40B4-BE49-F238E27FC236}">
                <a16:creationId xmlns:a16="http://schemas.microsoft.com/office/drawing/2014/main" id="{FF9CF3B7-07DE-84BF-CEED-2337ABED744B}"/>
              </a:ext>
            </a:extLst>
          </p:cNvPr>
          <p:cNvSpPr>
            <a:spLocks noGrp="1"/>
          </p:cNvSpPr>
          <p:nvPr>
            <p:ph type="sldNum" sz="quarter" idx="12"/>
          </p:nvPr>
        </p:nvSpPr>
        <p:spPr/>
        <p:txBody>
          <a:bodyPr/>
          <a:lstStyle/>
          <a:p>
            <a:fld id="{CC057153-B650-4DEB-B370-79DDCFDCE934}" type="slidenum">
              <a:rPr lang="en-US" smtClean="0"/>
              <a:t>11</a:t>
            </a:fld>
            <a:endParaRPr lang="en-US"/>
          </a:p>
        </p:txBody>
      </p:sp>
    </p:spTree>
    <p:extLst>
      <p:ext uri="{BB962C8B-B14F-4D97-AF65-F5344CB8AC3E}">
        <p14:creationId xmlns:p14="http://schemas.microsoft.com/office/powerpoint/2010/main" val="8018362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2CC1E4F-F1F0-B945-BE50-C72A7103E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Computer, search, research concept">
            <a:extLst>
              <a:ext uri="{FF2B5EF4-FFF2-40B4-BE49-F238E27FC236}">
                <a16:creationId xmlns:a16="http://schemas.microsoft.com/office/drawing/2014/main" id="{FB0EEDC1-D2E6-4565-B8D5-CB94B6C4275D}"/>
              </a:ext>
            </a:extLst>
          </p:cNvPr>
          <p:cNvPicPr>
            <a:picLocks noGrp="1" noChangeAspect="1"/>
          </p:cNvPicPr>
          <p:nvPr>
            <p:ph sz="half" idx="1"/>
          </p:nvPr>
        </p:nvPicPr>
        <p:blipFill>
          <a:blip r:embed="rId3"/>
          <a:srcRect l="13718" r="24248" b="-1"/>
          <a:stretch/>
        </p:blipFill>
        <p:spPr>
          <a:xfrm>
            <a:off x="1" y="10"/>
            <a:ext cx="6373368" cy="6857990"/>
          </a:xfrm>
          <a:prstGeom prst="rect">
            <a:avLst/>
          </a:prstGeom>
        </p:spPr>
      </p:pic>
      <p:sp>
        <p:nvSpPr>
          <p:cNvPr id="2" name="Title 1">
            <a:extLst>
              <a:ext uri="{FF2B5EF4-FFF2-40B4-BE49-F238E27FC236}">
                <a16:creationId xmlns:a16="http://schemas.microsoft.com/office/drawing/2014/main" id="{B7C5F001-64CA-9DFF-711A-60CB797E8C0E}"/>
              </a:ext>
            </a:extLst>
          </p:cNvPr>
          <p:cNvSpPr>
            <a:spLocks noGrp="1"/>
          </p:cNvSpPr>
          <p:nvPr>
            <p:ph type="title"/>
          </p:nvPr>
        </p:nvSpPr>
        <p:spPr>
          <a:xfrm>
            <a:off x="7123015" y="603504"/>
            <a:ext cx="4361689" cy="1527048"/>
          </a:xfrm>
        </p:spPr>
        <p:txBody>
          <a:bodyPr vert="horz" lIns="91440" tIns="45720" rIns="91440" bIns="45720" rtlCol="0" anchor="b">
            <a:normAutofit/>
          </a:bodyPr>
          <a:lstStyle/>
          <a:p>
            <a:r>
              <a:rPr lang="en-US" sz="3300" b="1" kern="1200">
                <a:solidFill>
                  <a:schemeClr val="tx1"/>
                </a:solidFill>
                <a:latin typeface="+mj-lt"/>
                <a:ea typeface="+mj-ea"/>
                <a:cs typeface="+mj-cs"/>
              </a:rPr>
              <a:t>Handling Inconsistent or Incomplete Data</a:t>
            </a:r>
          </a:p>
        </p:txBody>
      </p:sp>
      <p:sp>
        <p:nvSpPr>
          <p:cNvPr id="4" name="Content Placeholder 3">
            <a:extLst>
              <a:ext uri="{FF2B5EF4-FFF2-40B4-BE49-F238E27FC236}">
                <a16:creationId xmlns:a16="http://schemas.microsoft.com/office/drawing/2014/main" id="{5FA470CA-A688-1710-9969-F881073A028B}"/>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123017" y="2212848"/>
            <a:ext cx="4361688" cy="4096512"/>
          </a:xfrm>
        </p:spPr>
        <p:txBody>
          <a:bodyPr>
            <a:normAutofit/>
          </a:bodyPr>
          <a:lstStyle/>
          <a:p>
            <a:pPr marL="0" indent="0">
              <a:spcBef>
                <a:spcPts val="2500"/>
              </a:spcBef>
              <a:buNone/>
            </a:pPr>
            <a:r>
              <a:rPr lang="en-US" sz="1400" b="1"/>
              <a:t>Data Cleaning</a:t>
            </a:r>
          </a:p>
          <a:p>
            <a:pPr marL="0" lvl="1" indent="0">
              <a:buNone/>
            </a:pPr>
            <a:r>
              <a:rPr lang="en-US" sz="1400"/>
              <a:t>Data cleaning is the process of detecting and correcting or removing incomplete, incorrect, or irrelevant data from a dataset, which helps to improve the accuracy and quality of the data.</a:t>
            </a:r>
          </a:p>
          <a:p>
            <a:pPr marL="0" indent="0">
              <a:spcBef>
                <a:spcPts val="2500"/>
              </a:spcBef>
              <a:buNone/>
            </a:pPr>
            <a:r>
              <a:rPr lang="en-US" sz="1400" b="1"/>
              <a:t>Data Normalization</a:t>
            </a:r>
          </a:p>
          <a:p>
            <a:pPr marL="0" lvl="1" indent="0">
              <a:buNone/>
            </a:pPr>
            <a:r>
              <a:rPr lang="en-US" sz="1400"/>
              <a:t>Data normalization is a process of structuring a database in accordance with a series of normal forms, which helps to reduce the redundancy and inconsistencies in the data.</a:t>
            </a:r>
            <a:endParaRPr lang="en-IN" sz="1400"/>
          </a:p>
        </p:txBody>
      </p:sp>
      <p:sp>
        <p:nvSpPr>
          <p:cNvPr id="3" name="Slide Number Placeholder 2">
            <a:extLst>
              <a:ext uri="{FF2B5EF4-FFF2-40B4-BE49-F238E27FC236}">
                <a16:creationId xmlns:a16="http://schemas.microsoft.com/office/drawing/2014/main" id="{A5F27455-8E00-B646-49D5-2FB99A63D6E8}"/>
              </a:ext>
            </a:extLst>
          </p:cNvPr>
          <p:cNvSpPr>
            <a:spLocks noGrp="1"/>
          </p:cNvSpPr>
          <p:nvPr>
            <p:ph type="sldNum" sz="quarter" idx="12"/>
          </p:nvPr>
        </p:nvSpPr>
        <p:spPr/>
        <p:txBody>
          <a:bodyPr/>
          <a:lstStyle/>
          <a:p>
            <a:fld id="{CC057153-B650-4DEB-B370-79DDCFDCE934}" type="slidenum">
              <a:rPr lang="en-US" smtClean="0"/>
              <a:t>12</a:t>
            </a:fld>
            <a:endParaRPr lang="en-US"/>
          </a:p>
        </p:txBody>
      </p:sp>
    </p:spTree>
    <p:extLst>
      <p:ext uri="{BB962C8B-B14F-4D97-AF65-F5344CB8AC3E}">
        <p14:creationId xmlns:p14="http://schemas.microsoft.com/office/powerpoint/2010/main" val="148850515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6F74C59-445A-9824-B537-A392A6ECEC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D2150D9C-3927-BC41-4B90-C1478D77383F}"/>
              </a:ext>
            </a:extLst>
          </p:cNvPr>
          <p:cNvSpPr>
            <a:spLocks noGrp="1"/>
          </p:cNvSpPr>
          <p:nvPr>
            <p:ph type="title"/>
          </p:nvPr>
        </p:nvSpPr>
        <p:spPr>
          <a:xfrm>
            <a:off x="612648" y="2555913"/>
            <a:ext cx="4609347" cy="1979895"/>
          </a:xfrm>
        </p:spPr>
        <p:txBody>
          <a:bodyPr anchor="t">
            <a:normAutofit/>
          </a:bodyPr>
          <a:lstStyle/>
          <a:p>
            <a:r>
              <a:rPr lang="en-IN" sz="6000"/>
              <a:t>Conclusion</a:t>
            </a:r>
          </a:p>
        </p:txBody>
      </p:sp>
      <p:sp>
        <p:nvSpPr>
          <p:cNvPr id="3" name="Content Placeholder 2">
            <a:extLst>
              <a:ext uri="{FF2B5EF4-FFF2-40B4-BE49-F238E27FC236}">
                <a16:creationId xmlns:a16="http://schemas.microsoft.com/office/drawing/2014/main" id="{BE6A81CE-B8D0-8AFC-8786-CA32D7D5E4D8}"/>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04609" y="2555913"/>
            <a:ext cx="4864608" cy="2221992"/>
          </a:xfrm>
        </p:spPr>
        <p:txBody>
          <a:bodyPr>
            <a:normAutofit/>
          </a:bodyPr>
          <a:lstStyle/>
          <a:p>
            <a:pPr marL="0" indent="0">
              <a:spcBef>
                <a:spcPts val="2500"/>
              </a:spcBef>
              <a:buNone/>
            </a:pPr>
            <a:endParaRPr lang="en-US" sz="1400" b="1"/>
          </a:p>
          <a:p>
            <a:pPr marL="0" lvl="1" indent="0">
              <a:buNone/>
            </a:pPr>
            <a:r>
              <a:rPr lang="en-US" sz="1400"/>
              <a:t>Understanding the concepts of data extraction covered in this presentation will help you extract data more efficiently and effectively, while ensuring the accuracy and integrity of the extracted data.</a:t>
            </a:r>
            <a:endParaRPr lang="en-IN" sz="1400"/>
          </a:p>
        </p:txBody>
      </p:sp>
      <p:sp>
        <p:nvSpPr>
          <p:cNvPr id="4" name="Slide Number Placeholder 3">
            <a:extLst>
              <a:ext uri="{FF2B5EF4-FFF2-40B4-BE49-F238E27FC236}">
                <a16:creationId xmlns:a16="http://schemas.microsoft.com/office/drawing/2014/main" id="{EC082BFA-4138-EB32-5232-6F82C4032453}"/>
              </a:ext>
            </a:extLst>
          </p:cNvPr>
          <p:cNvSpPr>
            <a:spLocks noGrp="1"/>
          </p:cNvSpPr>
          <p:nvPr>
            <p:ph type="sldNum" sz="quarter" idx="12"/>
          </p:nvPr>
        </p:nvSpPr>
        <p:spPr/>
        <p:txBody>
          <a:bodyPr/>
          <a:lstStyle/>
          <a:p>
            <a:fld id="{CC057153-B650-4DEB-B370-79DDCFDCE934}" type="slidenum">
              <a:rPr lang="en-US" smtClean="0"/>
              <a:t>13</a:t>
            </a:fld>
            <a:endParaRPr lang="en-US"/>
          </a:p>
        </p:txBody>
      </p:sp>
    </p:spTree>
    <p:extLst>
      <p:ext uri="{BB962C8B-B14F-4D97-AF65-F5344CB8AC3E}">
        <p14:creationId xmlns:p14="http://schemas.microsoft.com/office/powerpoint/2010/main" val="547986607"/>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VanillaVTI">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1409</Words>
  <Application>Microsoft Office PowerPoint</Application>
  <PresentationFormat>Widescreen</PresentationFormat>
  <Paragraphs>99</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Aptos</vt:lpstr>
      <vt:lpstr>Arial</vt:lpstr>
      <vt:lpstr>Neue Haas Grotesk Text Pro</vt:lpstr>
      <vt:lpstr>VanillaVTI</vt:lpstr>
      <vt:lpstr>Comprehensive Guide to Data Extraction</vt:lpstr>
      <vt:lpstr>Topics to be Covered</vt:lpstr>
      <vt:lpstr>Using SQL to Extract Data from Relational Databases</vt:lpstr>
      <vt:lpstr>Overview of Relational Databases</vt:lpstr>
      <vt:lpstr>SQL Basics</vt:lpstr>
      <vt:lpstr>Advanced SQL Techniques for Data Extraction</vt:lpstr>
      <vt:lpstr>Data Extraction Best Practices with SQL</vt:lpstr>
      <vt:lpstr>Data Formats and Data Types</vt:lpstr>
      <vt:lpstr>Common Data Formats</vt:lpstr>
      <vt:lpstr>Data Types and Their Significance</vt:lpstr>
      <vt:lpstr>Converting Between Data Formats</vt:lpstr>
      <vt:lpstr>Handling Inconsistent or Incomplete Data</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Arnab Chakraborty</dc:creator>
  <cp:lastModifiedBy>Arnab Chakraborty</cp:lastModifiedBy>
  <cp:revision>2</cp:revision>
  <dcterms:created xsi:type="dcterms:W3CDTF">2024-10-03T12:17:54Z</dcterms:created>
  <dcterms:modified xsi:type="dcterms:W3CDTF">2024-10-04T02:35:32Z</dcterms:modified>
</cp:coreProperties>
</file>