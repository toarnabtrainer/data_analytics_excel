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 id="2574" r:id="rId15"/>
    <p:sldId id="2575" r:id="rId16"/>
    <p:sldId id="257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994" autoAdjust="0"/>
  </p:normalViewPr>
  <p:slideViewPr>
    <p:cSldViewPr snapToGrid="0">
      <p:cViewPr varScale="1">
        <p:scale>
          <a:sx n="69" d="100"/>
          <a:sy n="69" d="100"/>
        </p:scale>
        <p:origin x="917" y="178"/>
      </p:cViewPr>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5E57DD-F950-4D03-B70D-A17B701B2EF5}" type="datetimeFigureOut">
              <a:rPr lang="en-IN" smtClean="0"/>
              <a:t>03-Oct-2024 Thu</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38BBEA-F1D2-4875-8286-B56BCFE6F7A2}" type="slidenum">
              <a:rPr lang="en-IN" smtClean="0"/>
              <a:t>‹#›</a:t>
            </a:fld>
            <a:endParaRPr lang="en-IN"/>
          </a:p>
        </p:txBody>
      </p:sp>
    </p:spTree>
    <p:extLst>
      <p:ext uri="{BB962C8B-B14F-4D97-AF65-F5344CB8AC3E}">
        <p14:creationId xmlns:p14="http://schemas.microsoft.com/office/powerpoint/2010/main" val="41871623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In this presentation, we will explore the key concepts and challenges in data extraction, as well as the tools and techniques for extracting data from various sources.</a:t>
            </a:r>
          </a:p>
        </p:txBody>
      </p:sp>
      <p:sp>
        <p:nvSpPr>
          <p:cNvPr id="4" name="Slide Number Placeholder 3"/>
          <p:cNvSpPr>
            <a:spLocks noGrp="1"/>
          </p:cNvSpPr>
          <p:nvPr>
            <p:ph type="sldNum" sz="quarter" idx="5"/>
          </p:nvPr>
        </p:nvSpPr>
        <p:spPr/>
        <p:txBody>
          <a:bodyPr/>
          <a:lstStyle/>
          <a:p>
            <a:fld id="{D10E920B-6EB1-444C-A48C-E370436DA10F}" type="slidenum">
              <a:rPr lang="en-IN" smtClean="0"/>
              <a:t>1</a:t>
            </a:fld>
            <a:endParaRPr lang="en-IN"/>
          </a:p>
        </p:txBody>
      </p:sp>
    </p:spTree>
    <p:extLst>
      <p:ext uri="{BB962C8B-B14F-4D97-AF65-F5344CB8AC3E}">
        <p14:creationId xmlns:p14="http://schemas.microsoft.com/office/powerpoint/2010/main" val="18011541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We will start by discussing the basics of data extraction, including its role in the data lifecycle and the challenges involved. Then, we will explore the different types of data sources and common data source systems, as well as the data flow and integration challenges. We will also dive into the topic of IoT and its impact on data extraction, including its key components, data sources, and extraction challenges. Finally, we will examine the tools and techniques for extracting data from IoT devices.</a:t>
            </a:r>
          </a:p>
        </p:txBody>
      </p:sp>
      <p:sp>
        <p:nvSpPr>
          <p:cNvPr id="4" name="Slide Number Placeholder 3"/>
          <p:cNvSpPr>
            <a:spLocks noGrp="1"/>
          </p:cNvSpPr>
          <p:nvPr>
            <p:ph type="sldNum" sz="quarter" idx="5"/>
          </p:nvPr>
        </p:nvSpPr>
        <p:spPr/>
        <p:txBody>
          <a:bodyPr/>
          <a:lstStyle/>
          <a:p>
            <a:fld id="{D10E920B-6EB1-444C-A48C-E370436DA10F}" type="slidenum">
              <a:rPr lang="en-IN" smtClean="0"/>
              <a:t>2</a:t>
            </a:fld>
            <a:endParaRPr lang="en-IN"/>
          </a:p>
        </p:txBody>
      </p:sp>
    </p:spTree>
    <p:extLst>
      <p:ext uri="{BB962C8B-B14F-4D97-AF65-F5344CB8AC3E}">
        <p14:creationId xmlns:p14="http://schemas.microsoft.com/office/powerpoint/2010/main" val="15514810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Data extraction is the process of retrieving data from various sources and transforming it into a format suitable for analysis. It plays a critical role in the data lifecycle, as it enables organizations to gather insights and make informed decisions. However, data extraction can be challenging due to the variety of sources, formats, and data quality issues.</a:t>
            </a:r>
          </a:p>
        </p:txBody>
      </p:sp>
      <p:sp>
        <p:nvSpPr>
          <p:cNvPr id="4" name="Slide Number Placeholder 3"/>
          <p:cNvSpPr>
            <a:spLocks noGrp="1"/>
          </p:cNvSpPr>
          <p:nvPr>
            <p:ph type="sldNum" sz="quarter" idx="5"/>
          </p:nvPr>
        </p:nvSpPr>
        <p:spPr/>
        <p:txBody>
          <a:bodyPr/>
          <a:lstStyle/>
          <a:p>
            <a:fld id="{D10E920B-6EB1-444C-A48C-E370436DA10F}" type="slidenum">
              <a:rPr lang="en-IN" smtClean="0"/>
              <a:t>3</a:t>
            </a:fld>
            <a:endParaRPr lang="en-IN"/>
          </a:p>
        </p:txBody>
      </p:sp>
    </p:spTree>
    <p:extLst>
      <p:ext uri="{BB962C8B-B14F-4D97-AF65-F5344CB8AC3E}">
        <p14:creationId xmlns:p14="http://schemas.microsoft.com/office/powerpoint/2010/main" val="904007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Data extraction involves collecting and transforming data from various sources, such as databases, files, and APIs. It is a crucial step in the data lifecycle, as it enables organizations to analyze and gain insights from their data.</a:t>
            </a:r>
          </a:p>
        </p:txBody>
      </p:sp>
      <p:sp>
        <p:nvSpPr>
          <p:cNvPr id="4" name="Slide Number Placeholder 3"/>
          <p:cNvSpPr>
            <a:spLocks noGrp="1"/>
          </p:cNvSpPr>
          <p:nvPr>
            <p:ph type="sldNum" sz="quarter" idx="5"/>
          </p:nvPr>
        </p:nvSpPr>
        <p:spPr/>
        <p:txBody>
          <a:bodyPr/>
          <a:lstStyle/>
          <a:p>
            <a:fld id="{D10E920B-6EB1-444C-A48C-E370436DA10F}" type="slidenum">
              <a:rPr lang="en-IN" smtClean="0"/>
              <a:t>4</a:t>
            </a:fld>
            <a:endParaRPr lang="en-IN"/>
          </a:p>
        </p:txBody>
      </p:sp>
    </p:spTree>
    <p:extLst>
      <p:ext uri="{BB962C8B-B14F-4D97-AF65-F5344CB8AC3E}">
        <p14:creationId xmlns:p14="http://schemas.microsoft.com/office/powerpoint/2010/main" val="8211111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Data extraction plays a critical role in the data lifecycle, as it allows organizations to gather insights and make informed decisions based on their data. It is the first step in the process of transforming raw data into meaningful insights.</a:t>
            </a:r>
          </a:p>
        </p:txBody>
      </p:sp>
      <p:sp>
        <p:nvSpPr>
          <p:cNvPr id="4" name="Slide Number Placeholder 3"/>
          <p:cNvSpPr>
            <a:spLocks noGrp="1"/>
          </p:cNvSpPr>
          <p:nvPr>
            <p:ph type="sldNum" sz="quarter" idx="5"/>
          </p:nvPr>
        </p:nvSpPr>
        <p:spPr/>
        <p:txBody>
          <a:bodyPr/>
          <a:lstStyle/>
          <a:p>
            <a:fld id="{D10E920B-6EB1-444C-A48C-E370436DA10F}" type="slidenum">
              <a:rPr lang="en-IN" smtClean="0"/>
              <a:t>5</a:t>
            </a:fld>
            <a:endParaRPr lang="en-IN"/>
          </a:p>
        </p:txBody>
      </p:sp>
    </p:spTree>
    <p:extLst>
      <p:ext uri="{BB962C8B-B14F-4D97-AF65-F5344CB8AC3E}">
        <p14:creationId xmlns:p14="http://schemas.microsoft.com/office/powerpoint/2010/main" val="40793939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Data extraction can be challenging due to the variety of sources, formats, and data quality issues. Organizations need to ensure that the data they extract is accurate, complete, and consistent, which can be a difficult task when dealing with large and complex data sets.</a:t>
            </a:r>
          </a:p>
        </p:txBody>
      </p:sp>
      <p:sp>
        <p:nvSpPr>
          <p:cNvPr id="4" name="Slide Number Placeholder 3"/>
          <p:cNvSpPr>
            <a:spLocks noGrp="1"/>
          </p:cNvSpPr>
          <p:nvPr>
            <p:ph type="sldNum" sz="quarter" idx="5"/>
          </p:nvPr>
        </p:nvSpPr>
        <p:spPr/>
        <p:txBody>
          <a:bodyPr/>
          <a:lstStyle/>
          <a:p>
            <a:fld id="{D10E920B-6EB1-444C-A48C-E370436DA10F}" type="slidenum">
              <a:rPr lang="en-IN" smtClean="0"/>
              <a:t>6</a:t>
            </a:fld>
            <a:endParaRPr lang="en-IN"/>
          </a:p>
        </p:txBody>
      </p:sp>
    </p:spTree>
    <p:extLst>
      <p:ext uri="{BB962C8B-B14F-4D97-AF65-F5344CB8AC3E}">
        <p14:creationId xmlns:p14="http://schemas.microsoft.com/office/powerpoint/2010/main" val="22985136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To extract data effectively, it is important to understand the different types of data sources, common data source systems, and the flow of data across platforms.</a:t>
            </a:r>
          </a:p>
        </p:txBody>
      </p:sp>
      <p:sp>
        <p:nvSpPr>
          <p:cNvPr id="4" name="Slide Number Placeholder 3"/>
          <p:cNvSpPr>
            <a:spLocks noGrp="1"/>
          </p:cNvSpPr>
          <p:nvPr>
            <p:ph type="sldNum" sz="quarter" idx="5"/>
          </p:nvPr>
        </p:nvSpPr>
        <p:spPr/>
        <p:txBody>
          <a:bodyPr/>
          <a:lstStyle/>
          <a:p>
            <a:fld id="{D10E920B-6EB1-444C-A48C-E370436DA10F}" type="slidenum">
              <a:rPr lang="en-IN" smtClean="0"/>
              <a:t>7</a:t>
            </a:fld>
            <a:endParaRPr lang="en-IN"/>
          </a:p>
        </p:txBody>
      </p:sp>
    </p:spTree>
    <p:extLst>
      <p:ext uri="{BB962C8B-B14F-4D97-AF65-F5344CB8AC3E}">
        <p14:creationId xmlns:p14="http://schemas.microsoft.com/office/powerpoint/2010/main" val="34035562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Data sources can be internal or external. They can also be structured, semi-structured, or unstructured, and can be real-time or batch.</a:t>
            </a:r>
          </a:p>
        </p:txBody>
      </p:sp>
      <p:sp>
        <p:nvSpPr>
          <p:cNvPr id="4" name="Slide Number Placeholder 3"/>
          <p:cNvSpPr>
            <a:spLocks noGrp="1"/>
          </p:cNvSpPr>
          <p:nvPr>
            <p:ph type="sldNum" sz="quarter" idx="5"/>
          </p:nvPr>
        </p:nvSpPr>
        <p:spPr/>
        <p:txBody>
          <a:bodyPr/>
          <a:lstStyle/>
          <a:p>
            <a:fld id="{D10E920B-6EB1-444C-A48C-E370436DA10F}" type="slidenum">
              <a:rPr lang="en-IN" smtClean="0"/>
              <a:t>8</a:t>
            </a:fld>
            <a:endParaRPr lang="en-IN"/>
          </a:p>
        </p:txBody>
      </p:sp>
    </p:spTree>
    <p:extLst>
      <p:ext uri="{BB962C8B-B14F-4D97-AF65-F5344CB8AC3E}">
        <p14:creationId xmlns:p14="http://schemas.microsoft.com/office/powerpoint/2010/main" val="21657602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Common data source systems include transactional systems like ERP and CRM, legacy systems, modern applications, APIs, sensors, IoT devices, social media platforms, and third-party data services.</a:t>
            </a:r>
          </a:p>
        </p:txBody>
      </p:sp>
      <p:sp>
        <p:nvSpPr>
          <p:cNvPr id="4" name="Slide Number Placeholder 3"/>
          <p:cNvSpPr>
            <a:spLocks noGrp="1"/>
          </p:cNvSpPr>
          <p:nvPr>
            <p:ph type="sldNum" sz="quarter" idx="5"/>
          </p:nvPr>
        </p:nvSpPr>
        <p:spPr/>
        <p:txBody>
          <a:bodyPr/>
          <a:lstStyle/>
          <a:p>
            <a:fld id="{D10E920B-6EB1-444C-A48C-E370436DA10F}" type="slidenum">
              <a:rPr lang="en-IN" smtClean="0"/>
              <a:t>9</a:t>
            </a:fld>
            <a:endParaRPr lang="en-IN"/>
          </a:p>
        </p:txBody>
      </p:sp>
    </p:spTree>
    <p:extLst>
      <p:ext uri="{BB962C8B-B14F-4D97-AF65-F5344CB8AC3E}">
        <p14:creationId xmlns:p14="http://schemas.microsoft.com/office/powerpoint/2010/main" val="9175986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Data silos can hinder the extraction of data, and organizations need to integrate data across platforms to extract and analyze it effectively.</a:t>
            </a:r>
          </a:p>
        </p:txBody>
      </p:sp>
      <p:sp>
        <p:nvSpPr>
          <p:cNvPr id="4" name="Slide Number Placeholder 3"/>
          <p:cNvSpPr>
            <a:spLocks noGrp="1"/>
          </p:cNvSpPr>
          <p:nvPr>
            <p:ph type="sldNum" sz="quarter" idx="5"/>
          </p:nvPr>
        </p:nvSpPr>
        <p:spPr/>
        <p:txBody>
          <a:bodyPr/>
          <a:lstStyle/>
          <a:p>
            <a:fld id="{D10E920B-6EB1-444C-A48C-E370436DA10F}" type="slidenum">
              <a:rPr lang="en-IN" smtClean="0"/>
              <a:t>10</a:t>
            </a:fld>
            <a:endParaRPr lang="en-IN"/>
          </a:p>
        </p:txBody>
      </p:sp>
    </p:spTree>
    <p:extLst>
      <p:ext uri="{BB962C8B-B14F-4D97-AF65-F5344CB8AC3E}">
        <p14:creationId xmlns:p14="http://schemas.microsoft.com/office/powerpoint/2010/main" val="579794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IoT is a rapidly growing field that is transforming data extraction by providing real-time data from a variety of sources.</a:t>
            </a:r>
          </a:p>
        </p:txBody>
      </p:sp>
      <p:sp>
        <p:nvSpPr>
          <p:cNvPr id="4" name="Slide Number Placeholder 3"/>
          <p:cNvSpPr>
            <a:spLocks noGrp="1"/>
          </p:cNvSpPr>
          <p:nvPr>
            <p:ph type="sldNum" sz="quarter" idx="5"/>
          </p:nvPr>
        </p:nvSpPr>
        <p:spPr/>
        <p:txBody>
          <a:bodyPr/>
          <a:lstStyle/>
          <a:p>
            <a:fld id="{D10E920B-6EB1-444C-A48C-E370436DA10F}" type="slidenum">
              <a:rPr lang="en-IN" smtClean="0"/>
              <a:t>11</a:t>
            </a:fld>
            <a:endParaRPr lang="en-IN"/>
          </a:p>
        </p:txBody>
      </p:sp>
    </p:spTree>
    <p:extLst>
      <p:ext uri="{BB962C8B-B14F-4D97-AF65-F5344CB8AC3E}">
        <p14:creationId xmlns:p14="http://schemas.microsoft.com/office/powerpoint/2010/main" val="8298088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IoT refers to the network of physical devices, vehicles, buildings, and other objects that are embedded with sensors, software, and network connectivity. Key components of IoT include sensors, actuators, and connectivity.</a:t>
            </a:r>
          </a:p>
        </p:txBody>
      </p:sp>
      <p:sp>
        <p:nvSpPr>
          <p:cNvPr id="4" name="Slide Number Placeholder 3"/>
          <p:cNvSpPr>
            <a:spLocks noGrp="1"/>
          </p:cNvSpPr>
          <p:nvPr>
            <p:ph type="sldNum" sz="quarter" idx="5"/>
          </p:nvPr>
        </p:nvSpPr>
        <p:spPr/>
        <p:txBody>
          <a:bodyPr/>
          <a:lstStyle/>
          <a:p>
            <a:fld id="{D10E920B-6EB1-444C-A48C-E370436DA10F}" type="slidenum">
              <a:rPr lang="en-IN" smtClean="0"/>
              <a:t>12</a:t>
            </a:fld>
            <a:endParaRPr lang="en-IN"/>
          </a:p>
        </p:txBody>
      </p:sp>
    </p:spTree>
    <p:extLst>
      <p:ext uri="{BB962C8B-B14F-4D97-AF65-F5344CB8AC3E}">
        <p14:creationId xmlns:p14="http://schemas.microsoft.com/office/powerpoint/2010/main" val="16040682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IoT data sources include real-time data streams from IoT devices and data extraction from IoT sensors using protocols like MQTT and CoAP.</a:t>
            </a:r>
          </a:p>
        </p:txBody>
      </p:sp>
      <p:sp>
        <p:nvSpPr>
          <p:cNvPr id="4" name="Slide Number Placeholder 3"/>
          <p:cNvSpPr>
            <a:spLocks noGrp="1"/>
          </p:cNvSpPr>
          <p:nvPr>
            <p:ph type="sldNum" sz="quarter" idx="5"/>
          </p:nvPr>
        </p:nvSpPr>
        <p:spPr/>
        <p:txBody>
          <a:bodyPr/>
          <a:lstStyle/>
          <a:p>
            <a:fld id="{D10E920B-6EB1-444C-A48C-E370436DA10F}" type="slidenum">
              <a:rPr lang="en-IN" smtClean="0"/>
              <a:t>13</a:t>
            </a:fld>
            <a:endParaRPr lang="en-IN"/>
          </a:p>
        </p:txBody>
      </p:sp>
    </p:spTree>
    <p:extLst>
      <p:ext uri="{BB962C8B-B14F-4D97-AF65-F5344CB8AC3E}">
        <p14:creationId xmlns:p14="http://schemas.microsoft.com/office/powerpoint/2010/main" val="20488240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Extracting data from IoT devices can be challenging due to the continuous data streams and volume, as well as data quality and reliability issues.</a:t>
            </a:r>
          </a:p>
        </p:txBody>
      </p:sp>
      <p:sp>
        <p:nvSpPr>
          <p:cNvPr id="4" name="Slide Number Placeholder 3"/>
          <p:cNvSpPr>
            <a:spLocks noGrp="1"/>
          </p:cNvSpPr>
          <p:nvPr>
            <p:ph type="sldNum" sz="quarter" idx="5"/>
          </p:nvPr>
        </p:nvSpPr>
        <p:spPr/>
        <p:txBody>
          <a:bodyPr/>
          <a:lstStyle/>
          <a:p>
            <a:fld id="{D10E920B-6EB1-444C-A48C-E370436DA10F}" type="slidenum">
              <a:rPr lang="en-IN" smtClean="0"/>
              <a:t>14</a:t>
            </a:fld>
            <a:endParaRPr lang="en-IN"/>
          </a:p>
        </p:txBody>
      </p:sp>
    </p:spTree>
    <p:extLst>
      <p:ext uri="{BB962C8B-B14F-4D97-AF65-F5344CB8AC3E}">
        <p14:creationId xmlns:p14="http://schemas.microsoft.com/office/powerpoint/2010/main" val="20103066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Tools for extracting IoT data include platforms like AWS IoT and Google IoT Core, as well as integration with big data tools like Apache Kafka and Spark.</a:t>
            </a:r>
          </a:p>
        </p:txBody>
      </p:sp>
      <p:sp>
        <p:nvSpPr>
          <p:cNvPr id="4" name="Slide Number Placeholder 3"/>
          <p:cNvSpPr>
            <a:spLocks noGrp="1"/>
          </p:cNvSpPr>
          <p:nvPr>
            <p:ph type="sldNum" sz="quarter" idx="5"/>
          </p:nvPr>
        </p:nvSpPr>
        <p:spPr/>
        <p:txBody>
          <a:bodyPr/>
          <a:lstStyle/>
          <a:p>
            <a:fld id="{D10E920B-6EB1-444C-A48C-E370436DA10F}" type="slidenum">
              <a:rPr lang="en-IN" smtClean="0"/>
              <a:t>15</a:t>
            </a:fld>
            <a:endParaRPr lang="en-IN"/>
          </a:p>
        </p:txBody>
      </p:sp>
    </p:spTree>
    <p:extLst>
      <p:ext uri="{BB962C8B-B14F-4D97-AF65-F5344CB8AC3E}">
        <p14:creationId xmlns:p14="http://schemas.microsoft.com/office/powerpoint/2010/main" val="14988089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Data extraction is a critical step in the data lifecycle, and it is important for organizations to understand the key concepts and techniques for extracting data effectively. With the growing importance of IoT, organizations need to be able to extract and analyze data from a variety of sources, and use the right tools and techniques to gain insights and make informed decisions.</a:t>
            </a:r>
          </a:p>
        </p:txBody>
      </p:sp>
      <p:sp>
        <p:nvSpPr>
          <p:cNvPr id="4" name="Slide Number Placeholder 3"/>
          <p:cNvSpPr>
            <a:spLocks noGrp="1"/>
          </p:cNvSpPr>
          <p:nvPr>
            <p:ph type="sldNum" sz="quarter" idx="5"/>
          </p:nvPr>
        </p:nvSpPr>
        <p:spPr/>
        <p:txBody>
          <a:bodyPr/>
          <a:lstStyle/>
          <a:p>
            <a:fld id="{D10E920B-6EB1-444C-A48C-E370436DA10F}" type="slidenum">
              <a:rPr lang="en-IN" smtClean="0"/>
              <a:t>16</a:t>
            </a:fld>
            <a:endParaRPr lang="en-IN"/>
          </a:p>
        </p:txBody>
      </p:sp>
    </p:spTree>
    <p:extLst>
      <p:ext uri="{BB962C8B-B14F-4D97-AF65-F5344CB8AC3E}">
        <p14:creationId xmlns:p14="http://schemas.microsoft.com/office/powerpoint/2010/main" val="41307726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5832E5F-E72A-431C-9C5E-E452787EDE24}" type="datetime1">
              <a:rPr lang="en-US" smtClean="0"/>
              <a:t>10/3/2024</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961025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E15CB19-9A1E-4133-AF02-0B0EC95FDA15}" type="datetime1">
              <a:rPr lang="en-US" smtClean="0"/>
              <a:t>10/3/2024</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014601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729FD844-B775-4946-A725-12E2F2D6EC1B}" type="datetime1">
              <a:rPr lang="en-US" smtClean="0"/>
              <a:t>10/3/2024</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5277047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F8B6FCFE-21AF-4E4D-BF84-2F76BF76933D}" type="datetime1">
              <a:rPr lang="en-US" smtClean="0"/>
              <a:t>10/3/2024</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336001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96F2699B-39AB-440A-8702-58F82CB9BA2D}" type="datetime1">
              <a:rPr lang="en-US" smtClean="0"/>
              <a:t>10/3/2024</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63595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08E3C0EB-EF60-4087-96F5-D15276412784}" type="datetime1">
              <a:rPr lang="en-US" smtClean="0"/>
              <a:t>10/3/2024</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291609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4DB1970B-46FF-466A-906C-A5E36F36C153}" type="datetime1">
              <a:rPr lang="en-US" smtClean="0"/>
              <a:t>10/3/2024</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957972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E85110EB-3F8B-4286-8B2D-C4D418D7F00F}" type="datetime1">
              <a:rPr lang="en-US" smtClean="0"/>
              <a:t>10/3/2024</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0396310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1377BF1D-2693-4023-B09D-FA233CA1F15B}" type="datetime1">
              <a:rPr lang="en-US" smtClean="0"/>
              <a:t>10/3/2024</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030102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AF97CF91-AE9A-44A1-8DD2-E9EDA1B77528}" type="datetime1">
              <a:rPr lang="en-US" smtClean="0"/>
              <a:t>10/3/2024</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529455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204D23CB-7C6D-4B3D-B602-52B41955A2B2}" type="datetime1">
              <a:rPr lang="en-US" smtClean="0"/>
              <a:t>10/3/2024</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353497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3F5FFAB0-C8E7-489A-B51A-AE1AA5F39E69}" type="datetime1">
              <a:rPr lang="en-US" smtClean="0"/>
              <a:t>10/3/2024</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8886654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E448DB1-4196-18A6-15DA-C72635C1B1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4" name="Picture 3" descr="101010 data lines to infinity">
            <a:extLst>
              <a:ext uri="{FF2B5EF4-FFF2-40B4-BE49-F238E27FC236}">
                <a16:creationId xmlns:a16="http://schemas.microsoft.com/office/drawing/2014/main" id="{84836B4F-28CA-4188-BC80-07BCF3463E57}"/>
              </a:ext>
            </a:extLst>
          </p:cNvPr>
          <p:cNvPicPr>
            <a:picLocks noChangeAspect="1"/>
          </p:cNvPicPr>
          <p:nvPr/>
        </p:nvPicPr>
        <p:blipFill>
          <a:blip r:embed="rId3"/>
          <a:srcRect t="21025" r="9091"/>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76A10D8F-D463-70E5-239B-17AD65EF43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3183" y="173181"/>
            <a:ext cx="6858002" cy="6511640"/>
          </a:xfrm>
          <a:prstGeom prst="rect">
            <a:avLst/>
          </a:prstGeom>
          <a:gradFill>
            <a:gsLst>
              <a:gs pos="0">
                <a:schemeClr val="bg1">
                  <a:alpha val="0"/>
                </a:schemeClr>
              </a:gs>
              <a:gs pos="46000">
                <a:schemeClr val="bg1">
                  <a:alpha val="30000"/>
                </a:schemeClr>
              </a:gs>
              <a:gs pos="26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3DD2184D-3CFB-00BE-FC8E-94396363A056}"/>
              </a:ext>
            </a:extLst>
          </p:cNvPr>
          <p:cNvSpPr>
            <a:spLocks noGrp="1"/>
          </p:cNvSpPr>
          <p:nvPr>
            <p:ph type="ctrTitle"/>
          </p:nvPr>
        </p:nvSpPr>
        <p:spPr>
          <a:xfrm>
            <a:off x="286506" y="603315"/>
            <a:ext cx="5649211" cy="3685731"/>
          </a:xfrm>
        </p:spPr>
        <p:txBody>
          <a:bodyPr anchor="t">
            <a:normAutofit/>
          </a:bodyPr>
          <a:lstStyle/>
          <a:p>
            <a:pPr algn="l"/>
            <a:r>
              <a:rPr lang="en-IN" sz="5600"/>
              <a:t>Comprehensive Guide to Data Extraction</a:t>
            </a:r>
          </a:p>
        </p:txBody>
      </p:sp>
      <p:sp>
        <p:nvSpPr>
          <p:cNvPr id="3" name="Subtitle 2">
            <a:extLst>
              <a:ext uri="{FF2B5EF4-FFF2-40B4-BE49-F238E27FC236}">
                <a16:creationId xmlns:a16="http://schemas.microsoft.com/office/drawing/2014/main" id="{86499531-7801-1008-418E-F4DD130B195B}"/>
              </a:ext>
            </a:extLst>
          </p:cNvPr>
          <p:cNvSpPr>
            <a:spLocks noGrp="1"/>
          </p:cNvSpPr>
          <p:nvPr>
            <p:ph type="subTitle" idx="1"/>
          </p:nvPr>
        </p:nvSpPr>
        <p:spPr>
          <a:xfrm>
            <a:off x="286507" y="4437176"/>
            <a:ext cx="4007587" cy="1290807"/>
          </a:xfrm>
        </p:spPr>
        <p:txBody>
          <a:bodyPr anchor="ctr">
            <a:normAutofit/>
          </a:bodyPr>
          <a:lstStyle/>
          <a:p>
            <a:pPr algn="l"/>
            <a:r>
              <a:rPr lang="en-IN" sz="2200"/>
              <a:t>Tools and Techniques for Successful Data Extraction</a:t>
            </a:r>
          </a:p>
        </p:txBody>
      </p:sp>
      <p:sp>
        <p:nvSpPr>
          <p:cNvPr id="5" name="Slide Number Placeholder 4">
            <a:extLst>
              <a:ext uri="{FF2B5EF4-FFF2-40B4-BE49-F238E27FC236}">
                <a16:creationId xmlns:a16="http://schemas.microsoft.com/office/drawing/2014/main" id="{07E2A3D5-4E4B-6F33-3F38-05391813F075}"/>
              </a:ext>
            </a:extLst>
          </p:cNvPr>
          <p:cNvSpPr>
            <a:spLocks noGrp="1"/>
          </p:cNvSpPr>
          <p:nvPr>
            <p:ph type="sldNum" sz="quarter" idx="12"/>
          </p:nvPr>
        </p:nvSpPr>
        <p:spPr/>
        <p:txBody>
          <a:bodyPr/>
          <a:lstStyle/>
          <a:p>
            <a:fld id="{CC057153-B650-4DEB-B370-79DDCFDCE934}" type="slidenum">
              <a:rPr lang="en-US" smtClean="0"/>
              <a:t>1</a:t>
            </a:fld>
            <a:endParaRPr lang="en-US"/>
          </a:p>
        </p:txBody>
      </p:sp>
    </p:spTree>
    <p:extLst>
      <p:ext uri="{BB962C8B-B14F-4D97-AF65-F5344CB8AC3E}">
        <p14:creationId xmlns:p14="http://schemas.microsoft.com/office/powerpoint/2010/main" val="1774762821"/>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42"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ACA6F80-D392-A64E-3CF8-F28F1CCEE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5" name="Content Placeholder 4" descr="Green and yellow layers">
            <a:extLst>
              <a:ext uri="{FF2B5EF4-FFF2-40B4-BE49-F238E27FC236}">
                <a16:creationId xmlns:a16="http://schemas.microsoft.com/office/drawing/2014/main" id="{395F11FF-D688-433C-889E-B81F15EB0686}"/>
              </a:ext>
            </a:extLst>
          </p:cNvPr>
          <p:cNvPicPr>
            <a:picLocks noGrp="1" noChangeAspect="1"/>
          </p:cNvPicPr>
          <p:nvPr>
            <p:ph sz="half" idx="1"/>
          </p:nvPr>
        </p:nvPicPr>
        <p:blipFill>
          <a:blip r:embed="rId3"/>
          <a:srcRect l="7382" r="4876" b="1"/>
          <a:stretch/>
        </p:blipFill>
        <p:spPr>
          <a:xfrm>
            <a:off x="731521" y="2011679"/>
            <a:ext cx="4684352" cy="4297680"/>
          </a:xfrm>
          <a:prstGeom prst="rect">
            <a:avLst/>
          </a:prstGeom>
        </p:spPr>
      </p:pic>
      <p:sp>
        <p:nvSpPr>
          <p:cNvPr id="2" name="Title 1">
            <a:extLst>
              <a:ext uri="{FF2B5EF4-FFF2-40B4-BE49-F238E27FC236}">
                <a16:creationId xmlns:a16="http://schemas.microsoft.com/office/drawing/2014/main" id="{C95DC6B0-2CA5-B85C-FBCB-FEE4CB88C5F9}"/>
              </a:ext>
            </a:extLst>
          </p:cNvPr>
          <p:cNvSpPr>
            <a:spLocks noGrp="1"/>
          </p:cNvSpPr>
          <p:nvPr>
            <p:ph type="title"/>
          </p:nvPr>
        </p:nvSpPr>
        <p:spPr>
          <a:xfrm>
            <a:off x="614679" y="548641"/>
            <a:ext cx="4779572" cy="1298448"/>
          </a:xfrm>
        </p:spPr>
        <p:txBody>
          <a:bodyPr vert="horz" lIns="91440" tIns="45720" rIns="91440" bIns="45720" rtlCol="0" anchor="t">
            <a:normAutofit/>
          </a:bodyPr>
          <a:lstStyle/>
          <a:p>
            <a:r>
              <a:rPr lang="en-US" b="1" kern="1200">
                <a:solidFill>
                  <a:schemeClr val="tx1"/>
                </a:solidFill>
                <a:latin typeface="+mj-lt"/>
                <a:ea typeface="+mj-ea"/>
                <a:cs typeface="+mj-cs"/>
              </a:rPr>
              <a:t>Presentation Overview</a:t>
            </a:r>
          </a:p>
        </p:txBody>
      </p:sp>
      <p:sp>
        <p:nvSpPr>
          <p:cNvPr id="4" name="Content Placeholder 3">
            <a:extLst>
              <a:ext uri="{FF2B5EF4-FFF2-40B4-BE49-F238E27FC236}">
                <a16:creationId xmlns:a16="http://schemas.microsoft.com/office/drawing/2014/main" id="{4D4FBFE8-1F71-0AD8-726D-701B0B513B3F}"/>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30551" y="548638"/>
            <a:ext cx="5546770" cy="5760721"/>
          </a:xfrm>
        </p:spPr>
        <p:txBody>
          <a:bodyPr>
            <a:normAutofit/>
          </a:bodyPr>
          <a:lstStyle/>
          <a:p>
            <a:pPr marL="0" indent="0">
              <a:spcBef>
                <a:spcPts val="2500"/>
              </a:spcBef>
              <a:buNone/>
            </a:pPr>
            <a:r>
              <a:rPr lang="en-US" sz="1400" b="1"/>
              <a:t>Basics of Data Extraction</a:t>
            </a:r>
          </a:p>
          <a:p>
            <a:pPr marL="0" lvl="1" indent="0">
              <a:buNone/>
            </a:pPr>
            <a:r>
              <a:rPr lang="en-US" sz="1400"/>
              <a:t>We will discuss the fundamental concepts of data extraction, including its role in the data lifecycle, the challenges it poses, and the various techniques used to overcome them.</a:t>
            </a:r>
          </a:p>
          <a:p>
            <a:pPr marL="0" indent="0">
              <a:spcBef>
                <a:spcPts val="2500"/>
              </a:spcBef>
              <a:buNone/>
            </a:pPr>
            <a:r>
              <a:rPr lang="en-US" sz="1400" b="1"/>
              <a:t>Data Sources and Integration Challenges</a:t>
            </a:r>
          </a:p>
          <a:p>
            <a:pPr marL="0" lvl="1" indent="0">
              <a:buNone/>
            </a:pPr>
            <a:r>
              <a:rPr lang="en-US" sz="1400"/>
              <a:t>We will explore the different types of data sources and common data source systems, as well as the data flow and integration challenges that arise when working with them.</a:t>
            </a:r>
          </a:p>
          <a:p>
            <a:pPr marL="0" indent="0">
              <a:spcBef>
                <a:spcPts val="2500"/>
              </a:spcBef>
              <a:buNone/>
            </a:pPr>
            <a:r>
              <a:rPr lang="en-US" sz="1400" b="1"/>
              <a:t>Impact of IoT on Data Extraction</a:t>
            </a:r>
          </a:p>
          <a:p>
            <a:pPr marL="0" lvl="1" indent="0">
              <a:buNone/>
            </a:pPr>
            <a:r>
              <a:rPr lang="en-US" sz="1400"/>
              <a:t>We will dive into the topic of IoT and its impact on data extraction, including its key components, data sources, and extraction challenges.</a:t>
            </a:r>
          </a:p>
          <a:p>
            <a:pPr marL="0" indent="0">
              <a:spcBef>
                <a:spcPts val="2500"/>
              </a:spcBef>
              <a:buNone/>
            </a:pPr>
            <a:r>
              <a:rPr lang="en-US" sz="1400" b="1"/>
              <a:t>Tools and Techniques for Data Extraction from IoT Devices</a:t>
            </a:r>
          </a:p>
          <a:p>
            <a:pPr marL="0" lvl="1" indent="0">
              <a:buNone/>
            </a:pPr>
            <a:r>
              <a:rPr lang="en-US" sz="1400"/>
              <a:t>We will examine the various tools and techniques used to extract data from IoT devices, including data extraction software, APIs, and data integration platforms.</a:t>
            </a:r>
            <a:endParaRPr lang="en-IN" sz="1400"/>
          </a:p>
        </p:txBody>
      </p:sp>
      <p:sp>
        <p:nvSpPr>
          <p:cNvPr id="3" name="Slide Number Placeholder 2">
            <a:extLst>
              <a:ext uri="{FF2B5EF4-FFF2-40B4-BE49-F238E27FC236}">
                <a16:creationId xmlns:a16="http://schemas.microsoft.com/office/drawing/2014/main" id="{675F2E60-5968-4D5E-AEA2-EE2FD792C23D}"/>
              </a:ext>
            </a:extLst>
          </p:cNvPr>
          <p:cNvSpPr>
            <a:spLocks noGrp="1"/>
          </p:cNvSpPr>
          <p:nvPr>
            <p:ph type="sldNum" sz="quarter" idx="12"/>
          </p:nvPr>
        </p:nvSpPr>
        <p:spPr/>
        <p:txBody>
          <a:bodyPr/>
          <a:lstStyle/>
          <a:p>
            <a:fld id="{CC057153-B650-4DEB-B370-79DDCFDCE934}" type="slidenum">
              <a:rPr lang="en-US" smtClean="0"/>
              <a:t>2</a:t>
            </a:fld>
            <a:endParaRPr lang="en-US"/>
          </a:p>
        </p:txBody>
      </p:sp>
    </p:spTree>
    <p:extLst>
      <p:ext uri="{BB962C8B-B14F-4D97-AF65-F5344CB8AC3E}">
        <p14:creationId xmlns:p14="http://schemas.microsoft.com/office/powerpoint/2010/main" val="31189838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20CE451-818C-E63D-258B-234B6C543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bstract programm binary code  and colored array cube Database">
            <a:extLst>
              <a:ext uri="{FF2B5EF4-FFF2-40B4-BE49-F238E27FC236}">
                <a16:creationId xmlns:a16="http://schemas.microsoft.com/office/drawing/2014/main" id="{976EE36F-1D34-4EDA-A673-D52C37DB8007}"/>
              </a:ext>
            </a:extLst>
          </p:cNvPr>
          <p:cNvPicPr>
            <a:picLocks noGrp="1" noChangeAspect="1"/>
          </p:cNvPicPr>
          <p:nvPr>
            <p:ph sz="half" idx="1"/>
          </p:nvPr>
        </p:nvPicPr>
        <p:blipFill>
          <a:blip r:embed="rId3"/>
          <a:srcRect l="43310" r="2" b="2"/>
          <a:stretch/>
        </p:blipFill>
        <p:spPr>
          <a:xfrm>
            <a:off x="5818632" y="-1"/>
            <a:ext cx="6373368" cy="6857999"/>
          </a:xfrm>
          <a:prstGeom prst="rect">
            <a:avLst/>
          </a:prstGeom>
        </p:spPr>
      </p:pic>
      <p:sp>
        <p:nvSpPr>
          <p:cNvPr id="2" name="Title 1">
            <a:extLst>
              <a:ext uri="{FF2B5EF4-FFF2-40B4-BE49-F238E27FC236}">
                <a16:creationId xmlns:a16="http://schemas.microsoft.com/office/drawing/2014/main" id="{AF0C7B9E-0321-6741-0C49-F753D6DE9663}"/>
              </a:ext>
            </a:extLst>
          </p:cNvPr>
          <p:cNvSpPr>
            <a:spLocks noGrp="1"/>
          </p:cNvSpPr>
          <p:nvPr>
            <p:ph type="title"/>
          </p:nvPr>
        </p:nvSpPr>
        <p:spPr>
          <a:xfrm>
            <a:off x="614680" y="603504"/>
            <a:ext cx="4361688" cy="1527048"/>
          </a:xfrm>
        </p:spPr>
        <p:txBody>
          <a:bodyPr vert="horz" lIns="91440" tIns="45720" rIns="91440" bIns="45720" rtlCol="0" anchor="b">
            <a:normAutofit/>
          </a:bodyPr>
          <a:lstStyle/>
          <a:p>
            <a:r>
              <a:rPr lang="en-US" b="1" kern="1200">
                <a:solidFill>
                  <a:schemeClr val="tx1"/>
                </a:solidFill>
                <a:latin typeface="+mj-lt"/>
                <a:ea typeface="+mj-ea"/>
                <a:cs typeface="+mj-cs"/>
              </a:rPr>
              <a:t>Introduction to Data Extraction</a:t>
            </a:r>
          </a:p>
        </p:txBody>
      </p:sp>
      <p:sp>
        <p:nvSpPr>
          <p:cNvPr id="4" name="Content Placeholder 3">
            <a:extLst>
              <a:ext uri="{FF2B5EF4-FFF2-40B4-BE49-F238E27FC236}">
                <a16:creationId xmlns:a16="http://schemas.microsoft.com/office/drawing/2014/main" id="{5EDF1AD2-0102-44AB-C700-F9F70F0B3CE4}"/>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4679" y="2212848"/>
            <a:ext cx="4361688" cy="4096512"/>
          </a:xfrm>
        </p:spPr>
        <p:txBody>
          <a:bodyPr>
            <a:normAutofit/>
          </a:bodyPr>
          <a:lstStyle/>
          <a:p>
            <a:pPr marL="0" indent="0">
              <a:spcBef>
                <a:spcPts val="2500"/>
              </a:spcBef>
              <a:buNone/>
            </a:pPr>
            <a:r>
              <a:rPr lang="en-US" sz="1400" b="1"/>
              <a:t>Data Extraction Process</a:t>
            </a:r>
          </a:p>
          <a:p>
            <a:pPr marL="0" lvl="1" indent="0">
              <a:buNone/>
            </a:pPr>
            <a:r>
              <a:rPr lang="en-US" sz="1400"/>
              <a:t>Data extraction involves retrieving data from various sources and transforming it into a format suitable for analysis. It is a critical step in the data lifecycle, enabling organizations to gather insights and make informed decisions.</a:t>
            </a:r>
          </a:p>
          <a:p>
            <a:pPr marL="0" indent="0">
              <a:spcBef>
                <a:spcPts val="2500"/>
              </a:spcBef>
              <a:buNone/>
            </a:pPr>
            <a:r>
              <a:rPr lang="en-US" sz="1400" b="1"/>
              <a:t>Challenges in Data Extraction</a:t>
            </a:r>
          </a:p>
          <a:p>
            <a:pPr marL="0" lvl="1" indent="0">
              <a:buNone/>
            </a:pPr>
            <a:r>
              <a:rPr lang="en-US" sz="1400"/>
              <a:t>Data extraction can be challenging due to the variety of sources and formats, as well as data quality issues. Ensuring data accuracy and completeness is crucial in the data extraction process.</a:t>
            </a:r>
            <a:endParaRPr lang="en-IN" sz="1400"/>
          </a:p>
        </p:txBody>
      </p:sp>
      <p:sp>
        <p:nvSpPr>
          <p:cNvPr id="3" name="Slide Number Placeholder 2">
            <a:extLst>
              <a:ext uri="{FF2B5EF4-FFF2-40B4-BE49-F238E27FC236}">
                <a16:creationId xmlns:a16="http://schemas.microsoft.com/office/drawing/2014/main" id="{C10586F3-59D3-87CE-0697-57BA24E08CFB}"/>
              </a:ext>
            </a:extLst>
          </p:cNvPr>
          <p:cNvSpPr>
            <a:spLocks noGrp="1"/>
          </p:cNvSpPr>
          <p:nvPr>
            <p:ph type="sldNum" sz="quarter" idx="12"/>
          </p:nvPr>
        </p:nvSpPr>
        <p:spPr/>
        <p:txBody>
          <a:bodyPr/>
          <a:lstStyle/>
          <a:p>
            <a:fld id="{CC057153-B650-4DEB-B370-79DDCFDCE934}" type="slidenum">
              <a:rPr lang="en-US" smtClean="0"/>
              <a:t>3</a:t>
            </a:fld>
            <a:endParaRPr lang="en-US"/>
          </a:p>
        </p:txBody>
      </p:sp>
    </p:spTree>
    <p:extLst>
      <p:ext uri="{BB962C8B-B14F-4D97-AF65-F5344CB8AC3E}">
        <p14:creationId xmlns:p14="http://schemas.microsoft.com/office/powerpoint/2010/main" val="1766440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20CE451-818C-E63D-258B-234B6C543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Idea light bulb success inspiration crumpled paper">
            <a:extLst>
              <a:ext uri="{FF2B5EF4-FFF2-40B4-BE49-F238E27FC236}">
                <a16:creationId xmlns:a16="http://schemas.microsoft.com/office/drawing/2014/main" id="{50D9750A-85DF-4A41-B529-6BAAB1678C20}"/>
              </a:ext>
            </a:extLst>
          </p:cNvPr>
          <p:cNvPicPr>
            <a:picLocks noGrp="1" noChangeAspect="1"/>
          </p:cNvPicPr>
          <p:nvPr>
            <p:ph sz="half" idx="1"/>
          </p:nvPr>
        </p:nvPicPr>
        <p:blipFill>
          <a:blip r:embed="rId3"/>
          <a:srcRect l="8152" r="22148"/>
          <a:stretch/>
        </p:blipFill>
        <p:spPr>
          <a:xfrm>
            <a:off x="5818632" y="-1"/>
            <a:ext cx="6373368" cy="6857999"/>
          </a:xfrm>
          <a:prstGeom prst="rect">
            <a:avLst/>
          </a:prstGeom>
        </p:spPr>
      </p:pic>
      <p:sp>
        <p:nvSpPr>
          <p:cNvPr id="2" name="Title 1">
            <a:extLst>
              <a:ext uri="{FF2B5EF4-FFF2-40B4-BE49-F238E27FC236}">
                <a16:creationId xmlns:a16="http://schemas.microsoft.com/office/drawing/2014/main" id="{AC53CE0D-B7F4-9F47-B56C-0DE51855D38A}"/>
              </a:ext>
            </a:extLst>
          </p:cNvPr>
          <p:cNvSpPr>
            <a:spLocks noGrp="1"/>
          </p:cNvSpPr>
          <p:nvPr>
            <p:ph type="title"/>
          </p:nvPr>
        </p:nvSpPr>
        <p:spPr>
          <a:xfrm>
            <a:off x="614680" y="603504"/>
            <a:ext cx="4361688" cy="1527048"/>
          </a:xfrm>
        </p:spPr>
        <p:txBody>
          <a:bodyPr vert="horz" lIns="91440" tIns="45720" rIns="91440" bIns="45720" rtlCol="0" anchor="b">
            <a:normAutofit/>
          </a:bodyPr>
          <a:lstStyle/>
          <a:p>
            <a:r>
              <a:rPr lang="en-US" b="1" kern="1200">
                <a:solidFill>
                  <a:schemeClr val="tx1"/>
                </a:solidFill>
                <a:latin typeface="+mj-lt"/>
                <a:ea typeface="+mj-ea"/>
                <a:cs typeface="+mj-cs"/>
              </a:rPr>
              <a:t>Overview of Data Extraction</a:t>
            </a:r>
          </a:p>
        </p:txBody>
      </p:sp>
      <p:sp>
        <p:nvSpPr>
          <p:cNvPr id="4" name="Content Placeholder 3">
            <a:extLst>
              <a:ext uri="{FF2B5EF4-FFF2-40B4-BE49-F238E27FC236}">
                <a16:creationId xmlns:a16="http://schemas.microsoft.com/office/drawing/2014/main" id="{9DDA1F8C-51F0-0BFF-2B61-53C7DB89B56C}"/>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4679" y="2212848"/>
            <a:ext cx="4361688" cy="4096512"/>
          </a:xfrm>
        </p:spPr>
        <p:txBody>
          <a:bodyPr>
            <a:normAutofit/>
          </a:bodyPr>
          <a:lstStyle/>
          <a:p>
            <a:pPr marL="0" indent="0">
              <a:spcBef>
                <a:spcPts val="2500"/>
              </a:spcBef>
              <a:buNone/>
            </a:pPr>
            <a:r>
              <a:rPr lang="en-US" sz="1400" b="1"/>
              <a:t>Data Collection</a:t>
            </a:r>
          </a:p>
          <a:p>
            <a:pPr marL="0" lvl="1" indent="0">
              <a:buNone/>
            </a:pPr>
            <a:r>
              <a:rPr lang="en-US" sz="1400"/>
              <a:t>Data extraction involves collecting data from various sources, such as databases, files, and APIs, and transforming it into a format that can be used for data analysis and visualization.</a:t>
            </a:r>
          </a:p>
          <a:p>
            <a:pPr marL="0" indent="0">
              <a:spcBef>
                <a:spcPts val="2500"/>
              </a:spcBef>
              <a:buNone/>
            </a:pPr>
            <a:r>
              <a:rPr lang="en-US" sz="1400" b="1"/>
              <a:t>Data Transformation</a:t>
            </a:r>
          </a:p>
          <a:p>
            <a:pPr marL="0" lvl="1" indent="0">
              <a:buNone/>
            </a:pPr>
            <a:r>
              <a:rPr lang="en-US" sz="1400"/>
              <a:t>Data extraction involves transforming raw data into a structured format that can be used for analysis and visualization. This involves cleaning, sorting, and filtering data to create meaningful insights.</a:t>
            </a:r>
            <a:endParaRPr lang="en-IN" sz="1400"/>
          </a:p>
        </p:txBody>
      </p:sp>
      <p:sp>
        <p:nvSpPr>
          <p:cNvPr id="3" name="Slide Number Placeholder 2">
            <a:extLst>
              <a:ext uri="{FF2B5EF4-FFF2-40B4-BE49-F238E27FC236}">
                <a16:creationId xmlns:a16="http://schemas.microsoft.com/office/drawing/2014/main" id="{DB57DC74-39F5-C0DF-A66C-AAD3E1564020}"/>
              </a:ext>
            </a:extLst>
          </p:cNvPr>
          <p:cNvSpPr>
            <a:spLocks noGrp="1"/>
          </p:cNvSpPr>
          <p:nvPr>
            <p:ph type="sldNum" sz="quarter" idx="12"/>
          </p:nvPr>
        </p:nvSpPr>
        <p:spPr/>
        <p:txBody>
          <a:bodyPr/>
          <a:lstStyle/>
          <a:p>
            <a:fld id="{CC057153-B650-4DEB-B370-79DDCFDCE934}" type="slidenum">
              <a:rPr lang="en-US" smtClean="0"/>
              <a:t>4</a:t>
            </a:fld>
            <a:endParaRPr lang="en-US"/>
          </a:p>
        </p:txBody>
      </p:sp>
    </p:spTree>
    <p:extLst>
      <p:ext uri="{BB962C8B-B14F-4D97-AF65-F5344CB8AC3E}">
        <p14:creationId xmlns:p14="http://schemas.microsoft.com/office/powerpoint/2010/main" val="7343424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2CC1E4F-F1F0-B945-BE50-C72A7103E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5" name="Content Placeholder 4" descr="3d illustration">
            <a:extLst>
              <a:ext uri="{FF2B5EF4-FFF2-40B4-BE49-F238E27FC236}">
                <a16:creationId xmlns:a16="http://schemas.microsoft.com/office/drawing/2014/main" id="{0AE633DC-595A-474A-A2F7-D21265DFB19C}"/>
              </a:ext>
            </a:extLst>
          </p:cNvPr>
          <p:cNvPicPr>
            <a:picLocks noGrp="1" noChangeAspect="1"/>
          </p:cNvPicPr>
          <p:nvPr>
            <p:ph sz="half" idx="1"/>
          </p:nvPr>
        </p:nvPicPr>
        <p:blipFill>
          <a:blip r:embed="rId3"/>
          <a:srcRect r="-2" b="11203"/>
          <a:stretch/>
        </p:blipFill>
        <p:spPr>
          <a:xfrm>
            <a:off x="20" y="10"/>
            <a:ext cx="7723393" cy="6857990"/>
          </a:xfrm>
          <a:prstGeom prst="rect">
            <a:avLst/>
          </a:prstGeom>
        </p:spPr>
      </p:pic>
      <p:sp>
        <p:nvSpPr>
          <p:cNvPr id="2" name="Title 1">
            <a:extLst>
              <a:ext uri="{FF2B5EF4-FFF2-40B4-BE49-F238E27FC236}">
                <a16:creationId xmlns:a16="http://schemas.microsoft.com/office/drawing/2014/main" id="{E7F7CDC4-68E4-BA27-5D16-D2942D6E9644}"/>
              </a:ext>
            </a:extLst>
          </p:cNvPr>
          <p:cNvSpPr>
            <a:spLocks noGrp="1"/>
          </p:cNvSpPr>
          <p:nvPr>
            <p:ph type="title"/>
          </p:nvPr>
        </p:nvSpPr>
        <p:spPr>
          <a:xfrm>
            <a:off x="8270421" y="1387929"/>
            <a:ext cx="3212502" cy="1942773"/>
          </a:xfrm>
        </p:spPr>
        <p:txBody>
          <a:bodyPr vert="horz" lIns="91440" tIns="45720" rIns="91440" bIns="45720" rtlCol="0" anchor="b">
            <a:normAutofit/>
          </a:bodyPr>
          <a:lstStyle/>
          <a:p>
            <a:r>
              <a:rPr lang="en-US" sz="3100" b="1" kern="1200">
                <a:solidFill>
                  <a:schemeClr val="tx1"/>
                </a:solidFill>
                <a:latin typeface="+mj-lt"/>
                <a:ea typeface="+mj-ea"/>
                <a:cs typeface="+mj-cs"/>
              </a:rPr>
              <a:t>The Role of Data Extraction in the Data Lifecycle</a:t>
            </a:r>
          </a:p>
        </p:txBody>
      </p:sp>
      <p:sp>
        <p:nvSpPr>
          <p:cNvPr id="4" name="Content Placeholder 3">
            <a:extLst>
              <a:ext uri="{FF2B5EF4-FFF2-40B4-BE49-F238E27FC236}">
                <a16:creationId xmlns:a16="http://schemas.microsoft.com/office/drawing/2014/main" id="{2E84BC82-D4BB-8A2F-A1DC-A329DC90A191}"/>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270421" y="3412998"/>
            <a:ext cx="3212502" cy="2767366"/>
          </a:xfrm>
        </p:spPr>
        <p:txBody>
          <a:bodyPr>
            <a:normAutofit/>
          </a:bodyPr>
          <a:lstStyle/>
          <a:p>
            <a:pPr marL="0" indent="0">
              <a:spcBef>
                <a:spcPts val="2500"/>
              </a:spcBef>
              <a:buNone/>
            </a:pPr>
            <a:endParaRPr lang="en-US" sz="1400" b="1"/>
          </a:p>
          <a:p>
            <a:pPr marL="0" lvl="1" indent="0">
              <a:buNone/>
            </a:pPr>
            <a:r>
              <a:rPr lang="en-US" sz="1400"/>
              <a:t>Data extraction is a critical step in the data lifecycle, as it enables organizations to collect and transform raw data into meaningful insights that aid in decision-making processes.</a:t>
            </a:r>
            <a:endParaRPr lang="en-IN" sz="1400"/>
          </a:p>
        </p:txBody>
      </p:sp>
      <p:sp>
        <p:nvSpPr>
          <p:cNvPr id="3" name="Slide Number Placeholder 2">
            <a:extLst>
              <a:ext uri="{FF2B5EF4-FFF2-40B4-BE49-F238E27FC236}">
                <a16:creationId xmlns:a16="http://schemas.microsoft.com/office/drawing/2014/main" id="{CA461DFA-5AE8-07D7-808B-CC9C3EB46F7C}"/>
              </a:ext>
            </a:extLst>
          </p:cNvPr>
          <p:cNvSpPr>
            <a:spLocks noGrp="1"/>
          </p:cNvSpPr>
          <p:nvPr>
            <p:ph type="sldNum" sz="quarter" idx="12"/>
          </p:nvPr>
        </p:nvSpPr>
        <p:spPr/>
        <p:txBody>
          <a:bodyPr/>
          <a:lstStyle/>
          <a:p>
            <a:fld id="{CC057153-B650-4DEB-B370-79DDCFDCE934}" type="slidenum">
              <a:rPr lang="en-US" smtClean="0"/>
              <a:t>5</a:t>
            </a:fld>
            <a:endParaRPr lang="en-US"/>
          </a:p>
        </p:txBody>
      </p:sp>
    </p:spTree>
    <p:extLst>
      <p:ext uri="{BB962C8B-B14F-4D97-AF65-F5344CB8AC3E}">
        <p14:creationId xmlns:p14="http://schemas.microsoft.com/office/powerpoint/2010/main" val="37729022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ACA6F80-D392-A64E-3CF8-F28F1CCEE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5" name="Content Placeholder 4" descr="A stock photo of Binary Code in blue with the words &quot;Personal Data&quot; highlighted in red. Photographed with the Canon EOS 5DSR at 50mp. Perfect for designs or articles about hacking, personal data, digital privacy and computers.">
            <a:extLst>
              <a:ext uri="{FF2B5EF4-FFF2-40B4-BE49-F238E27FC236}">
                <a16:creationId xmlns:a16="http://schemas.microsoft.com/office/drawing/2014/main" id="{FAC11C05-6E69-496F-83E5-B0E83E69395B}"/>
              </a:ext>
            </a:extLst>
          </p:cNvPr>
          <p:cNvPicPr>
            <a:picLocks noGrp="1" noChangeAspect="1"/>
          </p:cNvPicPr>
          <p:nvPr>
            <p:ph sz="half" idx="1"/>
          </p:nvPr>
        </p:nvPicPr>
        <p:blipFill>
          <a:blip r:embed="rId3"/>
          <a:srcRect l="9169" r="18074" b="-1"/>
          <a:stretch/>
        </p:blipFill>
        <p:spPr>
          <a:xfrm>
            <a:off x="731521" y="2011679"/>
            <a:ext cx="4684352" cy="4297680"/>
          </a:xfrm>
          <a:prstGeom prst="rect">
            <a:avLst/>
          </a:prstGeom>
        </p:spPr>
      </p:pic>
      <p:sp>
        <p:nvSpPr>
          <p:cNvPr id="2" name="Title 1">
            <a:extLst>
              <a:ext uri="{FF2B5EF4-FFF2-40B4-BE49-F238E27FC236}">
                <a16:creationId xmlns:a16="http://schemas.microsoft.com/office/drawing/2014/main" id="{AA200F21-25D2-8C04-5914-79727D4138B5}"/>
              </a:ext>
            </a:extLst>
          </p:cNvPr>
          <p:cNvSpPr>
            <a:spLocks noGrp="1"/>
          </p:cNvSpPr>
          <p:nvPr>
            <p:ph type="title"/>
          </p:nvPr>
        </p:nvSpPr>
        <p:spPr>
          <a:xfrm>
            <a:off x="614679" y="548641"/>
            <a:ext cx="4779572" cy="1298448"/>
          </a:xfrm>
        </p:spPr>
        <p:txBody>
          <a:bodyPr vert="horz" lIns="91440" tIns="45720" rIns="91440" bIns="45720" rtlCol="0" anchor="t">
            <a:normAutofit/>
          </a:bodyPr>
          <a:lstStyle/>
          <a:p>
            <a:r>
              <a:rPr lang="en-US" b="1" kern="1200">
                <a:solidFill>
                  <a:schemeClr val="tx1"/>
                </a:solidFill>
                <a:latin typeface="+mj-lt"/>
                <a:ea typeface="+mj-ea"/>
                <a:cs typeface="+mj-cs"/>
              </a:rPr>
              <a:t>Key Challenges in Data Extraction</a:t>
            </a:r>
          </a:p>
        </p:txBody>
      </p:sp>
      <p:sp>
        <p:nvSpPr>
          <p:cNvPr id="4" name="Content Placeholder 3">
            <a:extLst>
              <a:ext uri="{FF2B5EF4-FFF2-40B4-BE49-F238E27FC236}">
                <a16:creationId xmlns:a16="http://schemas.microsoft.com/office/drawing/2014/main" id="{0761B5C1-727E-549B-4AC9-ED9B017B2618}"/>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30551" y="548638"/>
            <a:ext cx="5546770" cy="5760721"/>
          </a:xfrm>
        </p:spPr>
        <p:txBody>
          <a:bodyPr>
            <a:normAutofit/>
          </a:bodyPr>
          <a:lstStyle/>
          <a:p>
            <a:pPr marL="0" indent="0">
              <a:spcBef>
                <a:spcPts val="2500"/>
              </a:spcBef>
              <a:buNone/>
            </a:pPr>
            <a:r>
              <a:rPr lang="en-US" sz="1400" b="1"/>
              <a:t>Variety of Data Sources</a:t>
            </a:r>
          </a:p>
          <a:p>
            <a:pPr marL="0" lvl="1" indent="0">
              <a:buNone/>
            </a:pPr>
            <a:r>
              <a:rPr lang="en-US" sz="1400"/>
              <a:t>Data extraction can be challenging due to the variety of sources. Organizations need to ensure that the data they extract is accurate, complete, and consistent, which can be a difficult task when dealing with data from multiple sources.</a:t>
            </a:r>
          </a:p>
          <a:p>
            <a:pPr marL="0" indent="0">
              <a:spcBef>
                <a:spcPts val="2500"/>
              </a:spcBef>
              <a:buNone/>
            </a:pPr>
            <a:r>
              <a:rPr lang="en-US" sz="1400" b="1"/>
              <a:t>Data Quality Issues</a:t>
            </a:r>
          </a:p>
          <a:p>
            <a:pPr marL="0" lvl="1" indent="0">
              <a:buNone/>
            </a:pPr>
            <a:r>
              <a:rPr lang="en-US" sz="1400"/>
              <a:t>Data quality issues can pose a major challenge to data extraction. Organizations need to ensure that the data they extract is accurate, complete, and consistent, which can be difficult when dealing with data that is inconsistent, missing, or contains errors.</a:t>
            </a:r>
          </a:p>
          <a:p>
            <a:pPr marL="0" indent="0">
              <a:spcBef>
                <a:spcPts val="2500"/>
              </a:spcBef>
              <a:buNone/>
            </a:pPr>
            <a:r>
              <a:rPr lang="en-US" sz="1400" b="1"/>
              <a:t>Large and Complex Data Sets</a:t>
            </a:r>
          </a:p>
          <a:p>
            <a:pPr marL="0" lvl="1" indent="0">
              <a:buNone/>
            </a:pPr>
            <a:r>
              <a:rPr lang="en-US" sz="1400"/>
              <a:t>Data extraction can be a difficult task when dealing with large and complex data sets. Organizations need to ensure that the data they extract is accurate, complete, and consistent, which can be challenging given data sets that contain a large amount of data or are structured in a complex way.</a:t>
            </a:r>
            <a:endParaRPr lang="en-IN" sz="1400"/>
          </a:p>
        </p:txBody>
      </p:sp>
      <p:sp>
        <p:nvSpPr>
          <p:cNvPr id="3" name="Slide Number Placeholder 2">
            <a:extLst>
              <a:ext uri="{FF2B5EF4-FFF2-40B4-BE49-F238E27FC236}">
                <a16:creationId xmlns:a16="http://schemas.microsoft.com/office/drawing/2014/main" id="{C8273050-8688-D949-DB7D-D445E1E18F45}"/>
              </a:ext>
            </a:extLst>
          </p:cNvPr>
          <p:cNvSpPr>
            <a:spLocks noGrp="1"/>
          </p:cNvSpPr>
          <p:nvPr>
            <p:ph type="sldNum" sz="quarter" idx="12"/>
          </p:nvPr>
        </p:nvSpPr>
        <p:spPr/>
        <p:txBody>
          <a:bodyPr/>
          <a:lstStyle/>
          <a:p>
            <a:fld id="{CC057153-B650-4DEB-B370-79DDCFDCE934}" type="slidenum">
              <a:rPr lang="en-US" smtClean="0"/>
              <a:t>6</a:t>
            </a:fld>
            <a:endParaRPr lang="en-US"/>
          </a:p>
        </p:txBody>
      </p:sp>
    </p:spTree>
    <p:extLst>
      <p:ext uri="{BB962C8B-B14F-4D97-AF65-F5344CB8AC3E}">
        <p14:creationId xmlns:p14="http://schemas.microsoft.com/office/powerpoint/2010/main" val="35517932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Files and folders communication concept. Folders network on digital screen.">
            <a:extLst>
              <a:ext uri="{FF2B5EF4-FFF2-40B4-BE49-F238E27FC236}">
                <a16:creationId xmlns:a16="http://schemas.microsoft.com/office/drawing/2014/main" id="{6382CE3E-C8FF-4009-BA7D-1F2BAC17CFF2}"/>
              </a:ext>
            </a:extLst>
          </p:cNvPr>
          <p:cNvPicPr>
            <a:picLocks noGrp="1" noChangeAspect="1"/>
          </p:cNvPicPr>
          <p:nvPr>
            <p:ph sz="half" idx="1"/>
          </p:nvPr>
        </p:nvPicPr>
        <p:blipFill>
          <a:blip r:embed="rId3"/>
          <a:srcRect l="31127" r="28598"/>
          <a:stretch/>
        </p:blipFill>
        <p:spPr>
          <a:xfrm>
            <a:off x="20" y="10"/>
            <a:ext cx="4910308" cy="6857990"/>
          </a:xfrm>
          <a:prstGeom prst="rect">
            <a:avLst/>
          </a:prstGeom>
        </p:spPr>
      </p:pic>
      <p:sp>
        <p:nvSpPr>
          <p:cNvPr id="2" name="Title 1">
            <a:extLst>
              <a:ext uri="{FF2B5EF4-FFF2-40B4-BE49-F238E27FC236}">
                <a16:creationId xmlns:a16="http://schemas.microsoft.com/office/drawing/2014/main" id="{4B1F8308-B196-D4BB-602A-C70B2A145A0A}"/>
              </a:ext>
            </a:extLst>
          </p:cNvPr>
          <p:cNvSpPr>
            <a:spLocks noGrp="1"/>
          </p:cNvSpPr>
          <p:nvPr>
            <p:ph type="title"/>
          </p:nvPr>
        </p:nvSpPr>
        <p:spPr>
          <a:xfrm>
            <a:off x="5568537" y="603504"/>
            <a:ext cx="5916168" cy="1527048"/>
          </a:xfrm>
        </p:spPr>
        <p:txBody>
          <a:bodyPr vert="horz" lIns="91440" tIns="45720" rIns="91440" bIns="45720" rtlCol="0" anchor="b">
            <a:normAutofit/>
          </a:bodyPr>
          <a:lstStyle/>
          <a:p>
            <a:r>
              <a:rPr lang="en-US" b="1" kern="1200">
                <a:solidFill>
                  <a:schemeClr val="tx1"/>
                </a:solidFill>
                <a:latin typeface="+mj-lt"/>
                <a:ea typeface="+mj-ea"/>
                <a:cs typeface="+mj-cs"/>
              </a:rPr>
              <a:t>Understanding Data Sources in Greater Detail</a:t>
            </a:r>
          </a:p>
        </p:txBody>
      </p:sp>
      <p:sp>
        <p:nvSpPr>
          <p:cNvPr id="4" name="Content Placeholder 3">
            <a:extLst>
              <a:ext uri="{FF2B5EF4-FFF2-40B4-BE49-F238E27FC236}">
                <a16:creationId xmlns:a16="http://schemas.microsoft.com/office/drawing/2014/main" id="{87EB3A8A-67F8-4C84-CE22-A608B82CBD4E}"/>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7" y="2214282"/>
            <a:ext cx="5916168" cy="4095078"/>
          </a:xfrm>
        </p:spPr>
        <p:txBody>
          <a:bodyPr>
            <a:normAutofit/>
          </a:bodyPr>
          <a:lstStyle/>
          <a:p>
            <a:pPr marL="0" indent="0">
              <a:spcBef>
                <a:spcPts val="2500"/>
              </a:spcBef>
              <a:buNone/>
            </a:pPr>
            <a:r>
              <a:rPr lang="en-US" sz="1400" b="1"/>
              <a:t>Data Sources</a:t>
            </a:r>
          </a:p>
          <a:p>
            <a:pPr marL="0" lvl="1" indent="0">
              <a:buNone/>
            </a:pPr>
            <a:r>
              <a:rPr lang="en-US" sz="1400"/>
              <a:t>To extract data effectively, it is important to understand the different types of data sources, such as databases, APIs, cloud storage, and file systems.</a:t>
            </a:r>
          </a:p>
          <a:p>
            <a:pPr marL="0" indent="0">
              <a:spcBef>
                <a:spcPts val="2500"/>
              </a:spcBef>
              <a:buNone/>
            </a:pPr>
            <a:r>
              <a:rPr lang="en-US" sz="1400" b="1"/>
              <a:t>Data Source Systems</a:t>
            </a:r>
          </a:p>
          <a:p>
            <a:pPr marL="0" lvl="1" indent="0">
              <a:buNone/>
            </a:pPr>
            <a:r>
              <a:rPr lang="en-US" sz="1400"/>
              <a:t>Common data source systems include relational database management systems (RDBMS), NoSQL databases, and search engines.</a:t>
            </a:r>
          </a:p>
          <a:p>
            <a:pPr marL="0" indent="0">
              <a:spcBef>
                <a:spcPts val="2500"/>
              </a:spcBef>
              <a:buNone/>
            </a:pPr>
            <a:r>
              <a:rPr lang="en-US" sz="1400" b="1"/>
              <a:t>Data Flow Across Platforms</a:t>
            </a:r>
          </a:p>
          <a:p>
            <a:pPr marL="0" lvl="1" indent="0">
              <a:buNone/>
            </a:pPr>
            <a:r>
              <a:rPr lang="en-US" sz="1400"/>
              <a:t>Data flows across platforms through various methods such as batch processing, real-time streaming, and message queuing systems.</a:t>
            </a:r>
            <a:endParaRPr lang="en-IN" sz="1400"/>
          </a:p>
        </p:txBody>
      </p:sp>
      <p:sp>
        <p:nvSpPr>
          <p:cNvPr id="3" name="Slide Number Placeholder 2">
            <a:extLst>
              <a:ext uri="{FF2B5EF4-FFF2-40B4-BE49-F238E27FC236}">
                <a16:creationId xmlns:a16="http://schemas.microsoft.com/office/drawing/2014/main" id="{2E4175C2-2EAA-32A2-900F-CBCBEFA4C8E4}"/>
              </a:ext>
            </a:extLst>
          </p:cNvPr>
          <p:cNvSpPr>
            <a:spLocks noGrp="1"/>
          </p:cNvSpPr>
          <p:nvPr>
            <p:ph type="sldNum" sz="quarter" idx="12"/>
          </p:nvPr>
        </p:nvSpPr>
        <p:spPr/>
        <p:txBody>
          <a:bodyPr/>
          <a:lstStyle/>
          <a:p>
            <a:fld id="{CC057153-B650-4DEB-B370-79DDCFDCE934}" type="slidenum">
              <a:rPr lang="en-US" smtClean="0"/>
              <a:t>7</a:t>
            </a:fld>
            <a:endParaRPr lang="en-US"/>
          </a:p>
        </p:txBody>
      </p:sp>
    </p:spTree>
    <p:extLst>
      <p:ext uri="{BB962C8B-B14F-4D97-AF65-F5344CB8AC3E}">
        <p14:creationId xmlns:p14="http://schemas.microsoft.com/office/powerpoint/2010/main" val="39569371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ACA6F80-D392-A64E-3CF8-F28F1CCEE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5" name="Content Placeholder 4" descr="Big data internet technology">
            <a:extLst>
              <a:ext uri="{FF2B5EF4-FFF2-40B4-BE49-F238E27FC236}">
                <a16:creationId xmlns:a16="http://schemas.microsoft.com/office/drawing/2014/main" id="{5EFDA7F4-52CE-41ED-BABB-704A48FB7158}"/>
              </a:ext>
            </a:extLst>
          </p:cNvPr>
          <p:cNvPicPr>
            <a:picLocks noGrp="1" noChangeAspect="1"/>
          </p:cNvPicPr>
          <p:nvPr>
            <p:ph sz="half" idx="1"/>
          </p:nvPr>
        </p:nvPicPr>
        <p:blipFill>
          <a:blip r:embed="rId3"/>
          <a:srcRect t="4797" r="1" b="3458"/>
          <a:stretch/>
        </p:blipFill>
        <p:spPr>
          <a:xfrm>
            <a:off x="731521" y="2011679"/>
            <a:ext cx="4684352" cy="4297680"/>
          </a:xfrm>
          <a:prstGeom prst="rect">
            <a:avLst/>
          </a:prstGeom>
        </p:spPr>
      </p:pic>
      <p:sp>
        <p:nvSpPr>
          <p:cNvPr id="2" name="Title 1">
            <a:extLst>
              <a:ext uri="{FF2B5EF4-FFF2-40B4-BE49-F238E27FC236}">
                <a16:creationId xmlns:a16="http://schemas.microsoft.com/office/drawing/2014/main" id="{2A1312D0-94F4-25DA-E5E4-AAD9F493699F}"/>
              </a:ext>
            </a:extLst>
          </p:cNvPr>
          <p:cNvSpPr>
            <a:spLocks noGrp="1"/>
          </p:cNvSpPr>
          <p:nvPr>
            <p:ph type="title"/>
          </p:nvPr>
        </p:nvSpPr>
        <p:spPr>
          <a:xfrm>
            <a:off x="614679" y="548641"/>
            <a:ext cx="4779572" cy="1298448"/>
          </a:xfrm>
        </p:spPr>
        <p:txBody>
          <a:bodyPr vert="horz" lIns="91440" tIns="45720" rIns="91440" bIns="45720" rtlCol="0" anchor="t">
            <a:normAutofit/>
          </a:bodyPr>
          <a:lstStyle/>
          <a:p>
            <a:r>
              <a:rPr lang="en-US" b="1" kern="1200">
                <a:solidFill>
                  <a:schemeClr val="tx1"/>
                </a:solidFill>
                <a:latin typeface="+mj-lt"/>
                <a:ea typeface="+mj-ea"/>
                <a:cs typeface="+mj-cs"/>
              </a:rPr>
              <a:t>Types of Data Sources</a:t>
            </a:r>
          </a:p>
        </p:txBody>
      </p:sp>
      <p:sp>
        <p:nvSpPr>
          <p:cNvPr id="4" name="Content Placeholder 3">
            <a:extLst>
              <a:ext uri="{FF2B5EF4-FFF2-40B4-BE49-F238E27FC236}">
                <a16:creationId xmlns:a16="http://schemas.microsoft.com/office/drawing/2014/main" id="{4E4C8A2F-A7F3-8EE7-AD80-6501CC549E78}"/>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30551" y="548638"/>
            <a:ext cx="5546770" cy="5760721"/>
          </a:xfrm>
        </p:spPr>
        <p:txBody>
          <a:bodyPr>
            <a:normAutofit/>
          </a:bodyPr>
          <a:lstStyle/>
          <a:p>
            <a:pPr marL="0" indent="0">
              <a:lnSpc>
                <a:spcPct val="110000"/>
              </a:lnSpc>
              <a:spcBef>
                <a:spcPts val="2500"/>
              </a:spcBef>
              <a:buNone/>
            </a:pPr>
            <a:r>
              <a:rPr lang="en-US" sz="1400" b="1"/>
              <a:t>Internal and External Sources</a:t>
            </a:r>
          </a:p>
          <a:p>
            <a:pPr marL="0" lvl="1" indent="0">
              <a:lnSpc>
                <a:spcPct val="110000"/>
              </a:lnSpc>
              <a:buNone/>
            </a:pPr>
            <a:r>
              <a:rPr lang="en-US" sz="1400"/>
              <a:t>Data sources can be internal or external. Internal sources include data from within an organization, while external sources include data from outside an organization such as public data, social media, and customer data.</a:t>
            </a:r>
          </a:p>
          <a:p>
            <a:pPr marL="0" indent="0">
              <a:lnSpc>
                <a:spcPct val="110000"/>
              </a:lnSpc>
              <a:spcBef>
                <a:spcPts val="2500"/>
              </a:spcBef>
              <a:buNone/>
            </a:pPr>
            <a:r>
              <a:rPr lang="en-US" sz="1400" b="1"/>
              <a:t>Structured and Semi-Structured Data</a:t>
            </a:r>
          </a:p>
          <a:p>
            <a:pPr marL="0" lvl="1" indent="0">
              <a:lnSpc>
                <a:spcPct val="110000"/>
              </a:lnSpc>
              <a:buNone/>
            </a:pPr>
            <a:r>
              <a:rPr lang="en-US" sz="1400"/>
              <a:t>Data sources can be structured or semi-structured. Structured data is highly organized and formatted, while semi-structured data is partially organized and formatted.</a:t>
            </a:r>
          </a:p>
          <a:p>
            <a:pPr marL="0" indent="0">
              <a:lnSpc>
                <a:spcPct val="110000"/>
              </a:lnSpc>
              <a:spcBef>
                <a:spcPts val="2500"/>
              </a:spcBef>
              <a:buNone/>
            </a:pPr>
            <a:r>
              <a:rPr lang="en-US" sz="1400" b="1"/>
              <a:t>Unstructured Data</a:t>
            </a:r>
          </a:p>
          <a:p>
            <a:pPr marL="0" lvl="1" indent="0">
              <a:lnSpc>
                <a:spcPct val="110000"/>
              </a:lnSpc>
              <a:buNone/>
            </a:pPr>
            <a:r>
              <a:rPr lang="en-US" sz="1400"/>
              <a:t>Data sources can also be unstructured, which means the data is not organized or formatted in a specific way. Examples of unstructured data include email, text documents, and social media posts.</a:t>
            </a:r>
          </a:p>
          <a:p>
            <a:pPr marL="0" indent="0">
              <a:lnSpc>
                <a:spcPct val="110000"/>
              </a:lnSpc>
              <a:spcBef>
                <a:spcPts val="2500"/>
              </a:spcBef>
              <a:buNone/>
            </a:pPr>
            <a:r>
              <a:rPr lang="en-US" sz="1400" b="1"/>
              <a:t>Real-Time and Batch Processing</a:t>
            </a:r>
          </a:p>
          <a:p>
            <a:pPr marL="0" lvl="1" indent="0">
              <a:lnSpc>
                <a:spcPct val="110000"/>
              </a:lnSpc>
              <a:buNone/>
            </a:pPr>
            <a:r>
              <a:rPr lang="en-US" sz="1400"/>
              <a:t>Data sources can be processed in real-time or in batches. Real-time processing means data is processed as soon as it is received, while batch processing means data is processed in batches at specific intervals.</a:t>
            </a:r>
            <a:endParaRPr lang="en-IN" sz="1400"/>
          </a:p>
        </p:txBody>
      </p:sp>
      <p:sp>
        <p:nvSpPr>
          <p:cNvPr id="3" name="Slide Number Placeholder 2">
            <a:extLst>
              <a:ext uri="{FF2B5EF4-FFF2-40B4-BE49-F238E27FC236}">
                <a16:creationId xmlns:a16="http://schemas.microsoft.com/office/drawing/2014/main" id="{6ECF3050-BAA1-06D2-1C41-BBA22ABDCF62}"/>
              </a:ext>
            </a:extLst>
          </p:cNvPr>
          <p:cNvSpPr>
            <a:spLocks noGrp="1"/>
          </p:cNvSpPr>
          <p:nvPr>
            <p:ph type="sldNum" sz="quarter" idx="12"/>
          </p:nvPr>
        </p:nvSpPr>
        <p:spPr/>
        <p:txBody>
          <a:bodyPr/>
          <a:lstStyle/>
          <a:p>
            <a:fld id="{CC057153-B650-4DEB-B370-79DDCFDCE934}" type="slidenum">
              <a:rPr lang="en-US" smtClean="0"/>
              <a:t>8</a:t>
            </a:fld>
            <a:endParaRPr lang="en-US"/>
          </a:p>
        </p:txBody>
      </p:sp>
    </p:spTree>
    <p:extLst>
      <p:ext uri="{BB962C8B-B14F-4D97-AF65-F5344CB8AC3E}">
        <p14:creationId xmlns:p14="http://schemas.microsoft.com/office/powerpoint/2010/main" val="1229610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ACA6F80-D392-A64E-3CF8-F28F1CCEE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5" name="Content Placeholder 4" descr="Cloud computing concept isolated on white background">
            <a:extLst>
              <a:ext uri="{FF2B5EF4-FFF2-40B4-BE49-F238E27FC236}">
                <a16:creationId xmlns:a16="http://schemas.microsoft.com/office/drawing/2014/main" id="{97EBC622-F45A-4FB0-AA94-580733230008}"/>
              </a:ext>
            </a:extLst>
          </p:cNvPr>
          <p:cNvPicPr>
            <a:picLocks noGrp="1" noChangeAspect="1"/>
          </p:cNvPicPr>
          <p:nvPr>
            <p:ph sz="half" idx="1"/>
          </p:nvPr>
        </p:nvPicPr>
        <p:blipFill>
          <a:blip r:embed="rId3"/>
          <a:srcRect l="8116" r="10139" b="3"/>
          <a:stretch/>
        </p:blipFill>
        <p:spPr>
          <a:xfrm>
            <a:off x="731521" y="2011679"/>
            <a:ext cx="4684352" cy="4297680"/>
          </a:xfrm>
          <a:prstGeom prst="rect">
            <a:avLst/>
          </a:prstGeom>
        </p:spPr>
      </p:pic>
      <p:sp>
        <p:nvSpPr>
          <p:cNvPr id="2" name="Title 1">
            <a:extLst>
              <a:ext uri="{FF2B5EF4-FFF2-40B4-BE49-F238E27FC236}">
                <a16:creationId xmlns:a16="http://schemas.microsoft.com/office/drawing/2014/main" id="{4CFD0600-52A5-6E9F-C5AA-30DA43E7A21D}"/>
              </a:ext>
            </a:extLst>
          </p:cNvPr>
          <p:cNvSpPr>
            <a:spLocks noGrp="1"/>
          </p:cNvSpPr>
          <p:nvPr>
            <p:ph type="title"/>
          </p:nvPr>
        </p:nvSpPr>
        <p:spPr>
          <a:xfrm>
            <a:off x="614679" y="548641"/>
            <a:ext cx="4779572" cy="1298448"/>
          </a:xfrm>
        </p:spPr>
        <p:txBody>
          <a:bodyPr vert="horz" lIns="91440" tIns="45720" rIns="91440" bIns="45720" rtlCol="0" anchor="t">
            <a:normAutofit/>
          </a:bodyPr>
          <a:lstStyle/>
          <a:p>
            <a:r>
              <a:rPr lang="en-US" b="1" kern="1200">
                <a:solidFill>
                  <a:schemeClr val="tx1"/>
                </a:solidFill>
                <a:latin typeface="+mj-lt"/>
                <a:ea typeface="+mj-ea"/>
                <a:cs typeface="+mj-cs"/>
              </a:rPr>
              <a:t>Common Data Source Systems</a:t>
            </a:r>
          </a:p>
        </p:txBody>
      </p:sp>
      <p:sp>
        <p:nvSpPr>
          <p:cNvPr id="4" name="Content Placeholder 3">
            <a:extLst>
              <a:ext uri="{FF2B5EF4-FFF2-40B4-BE49-F238E27FC236}">
                <a16:creationId xmlns:a16="http://schemas.microsoft.com/office/drawing/2014/main" id="{AF0C6159-6793-F388-4972-905D0728E0F1}"/>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30551" y="548638"/>
            <a:ext cx="5546770" cy="5760721"/>
          </a:xfrm>
        </p:spPr>
        <p:txBody>
          <a:bodyPr>
            <a:normAutofit/>
          </a:bodyPr>
          <a:lstStyle/>
          <a:p>
            <a:pPr marL="0" indent="0">
              <a:spcBef>
                <a:spcPts val="2500"/>
              </a:spcBef>
              <a:buNone/>
            </a:pPr>
            <a:r>
              <a:rPr lang="en-US" sz="1400" b="1"/>
              <a:t>Transactional Systems</a:t>
            </a:r>
          </a:p>
          <a:p>
            <a:pPr marL="0" lvl="1" indent="0">
              <a:buNone/>
            </a:pPr>
            <a:r>
              <a:rPr lang="en-US" sz="1400"/>
              <a:t>Transactional systems like ERP and CRM are common data source systems that organizations use to manage their core business processes and data.</a:t>
            </a:r>
          </a:p>
          <a:p>
            <a:pPr marL="0" indent="0">
              <a:spcBef>
                <a:spcPts val="2500"/>
              </a:spcBef>
              <a:buNone/>
            </a:pPr>
            <a:r>
              <a:rPr lang="en-US" sz="1400" b="1"/>
              <a:t>Legacy Systems</a:t>
            </a:r>
          </a:p>
          <a:p>
            <a:pPr marL="0" lvl="1" indent="0">
              <a:buNone/>
            </a:pPr>
            <a:r>
              <a:rPr lang="en-US" sz="1400"/>
              <a:t>Legacy systems are older, often outdated computer systems that are still in use by organizations. They can be challenging to integrate with modern data source systems.</a:t>
            </a:r>
          </a:p>
          <a:p>
            <a:pPr marL="0" indent="0">
              <a:spcBef>
                <a:spcPts val="2500"/>
              </a:spcBef>
              <a:buNone/>
            </a:pPr>
            <a:r>
              <a:rPr lang="en-US" sz="1400" b="1"/>
              <a:t>Modern Applications and APIs</a:t>
            </a:r>
          </a:p>
          <a:p>
            <a:pPr marL="0" lvl="1" indent="0">
              <a:buNone/>
            </a:pPr>
            <a:r>
              <a:rPr lang="en-US" sz="1400"/>
              <a:t>Modern applications and APIs are becoming increasingly important as data source systems, as more business processes move to the cloud and require integration with other systems.</a:t>
            </a:r>
          </a:p>
          <a:p>
            <a:pPr marL="0" indent="0">
              <a:spcBef>
                <a:spcPts val="2500"/>
              </a:spcBef>
              <a:buNone/>
            </a:pPr>
            <a:r>
              <a:rPr lang="en-US" sz="1400" b="1"/>
              <a:t>Sensors, IoT Devices, and Social Media Platforms</a:t>
            </a:r>
          </a:p>
          <a:p>
            <a:pPr marL="0" lvl="1" indent="0">
              <a:buNone/>
            </a:pPr>
            <a:r>
              <a:rPr lang="en-US" sz="1400"/>
              <a:t>Sensors, IoT devices, and social media platforms are newer sources of data that are growing in importance for organizations as they look to collect data from a wide range of sources.</a:t>
            </a:r>
            <a:endParaRPr lang="en-IN" sz="1400"/>
          </a:p>
        </p:txBody>
      </p:sp>
      <p:sp>
        <p:nvSpPr>
          <p:cNvPr id="3" name="Slide Number Placeholder 2">
            <a:extLst>
              <a:ext uri="{FF2B5EF4-FFF2-40B4-BE49-F238E27FC236}">
                <a16:creationId xmlns:a16="http://schemas.microsoft.com/office/drawing/2014/main" id="{00C6DAAB-B28E-89B5-248D-E5E520344716}"/>
              </a:ext>
            </a:extLst>
          </p:cNvPr>
          <p:cNvSpPr>
            <a:spLocks noGrp="1"/>
          </p:cNvSpPr>
          <p:nvPr>
            <p:ph type="sldNum" sz="quarter" idx="12"/>
          </p:nvPr>
        </p:nvSpPr>
        <p:spPr/>
        <p:txBody>
          <a:bodyPr/>
          <a:lstStyle/>
          <a:p>
            <a:fld id="{CC057153-B650-4DEB-B370-79DDCFDCE934}" type="slidenum">
              <a:rPr lang="en-US" smtClean="0"/>
              <a:t>9</a:t>
            </a:fld>
            <a:endParaRPr lang="en-US"/>
          </a:p>
        </p:txBody>
      </p:sp>
    </p:spTree>
    <p:extLst>
      <p:ext uri="{BB962C8B-B14F-4D97-AF65-F5344CB8AC3E}">
        <p14:creationId xmlns:p14="http://schemas.microsoft.com/office/powerpoint/2010/main" val="39368079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2CC1E4F-F1F0-B945-BE50-C72A7103E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Digital network communication">
            <a:extLst>
              <a:ext uri="{FF2B5EF4-FFF2-40B4-BE49-F238E27FC236}">
                <a16:creationId xmlns:a16="http://schemas.microsoft.com/office/drawing/2014/main" id="{F3F82F62-619F-4F21-AAAC-70C6F2AC404E}"/>
              </a:ext>
            </a:extLst>
          </p:cNvPr>
          <p:cNvPicPr>
            <a:picLocks noGrp="1" noChangeAspect="1"/>
          </p:cNvPicPr>
          <p:nvPr>
            <p:ph sz="half" idx="1"/>
          </p:nvPr>
        </p:nvPicPr>
        <p:blipFill>
          <a:blip r:embed="rId3"/>
          <a:srcRect l="13807" r="16493"/>
          <a:stretch/>
        </p:blipFill>
        <p:spPr>
          <a:xfrm>
            <a:off x="1" y="10"/>
            <a:ext cx="6373368" cy="6857990"/>
          </a:xfrm>
          <a:prstGeom prst="rect">
            <a:avLst/>
          </a:prstGeom>
        </p:spPr>
      </p:pic>
      <p:sp>
        <p:nvSpPr>
          <p:cNvPr id="2" name="Title 1">
            <a:extLst>
              <a:ext uri="{FF2B5EF4-FFF2-40B4-BE49-F238E27FC236}">
                <a16:creationId xmlns:a16="http://schemas.microsoft.com/office/drawing/2014/main" id="{51DBB276-8EAD-9299-C57D-393DE093EC62}"/>
              </a:ext>
            </a:extLst>
          </p:cNvPr>
          <p:cNvSpPr>
            <a:spLocks noGrp="1"/>
          </p:cNvSpPr>
          <p:nvPr>
            <p:ph type="title"/>
          </p:nvPr>
        </p:nvSpPr>
        <p:spPr>
          <a:xfrm>
            <a:off x="7123015" y="603504"/>
            <a:ext cx="4361689" cy="1527048"/>
          </a:xfrm>
        </p:spPr>
        <p:txBody>
          <a:bodyPr vert="horz" lIns="91440" tIns="45720" rIns="91440" bIns="45720" rtlCol="0" anchor="b">
            <a:normAutofit/>
          </a:bodyPr>
          <a:lstStyle/>
          <a:p>
            <a:r>
              <a:rPr lang="en-US" b="1" kern="1200">
                <a:solidFill>
                  <a:schemeClr val="tx1"/>
                </a:solidFill>
                <a:latin typeface="+mj-lt"/>
                <a:ea typeface="+mj-ea"/>
                <a:cs typeface="+mj-cs"/>
              </a:rPr>
              <a:t>Data Flow and Integration</a:t>
            </a:r>
          </a:p>
        </p:txBody>
      </p:sp>
      <p:sp>
        <p:nvSpPr>
          <p:cNvPr id="4" name="Content Placeholder 3">
            <a:extLst>
              <a:ext uri="{FF2B5EF4-FFF2-40B4-BE49-F238E27FC236}">
                <a16:creationId xmlns:a16="http://schemas.microsoft.com/office/drawing/2014/main" id="{0EA5E05E-C40F-C2DF-1C85-F44E8440EA77}"/>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123017" y="2212848"/>
            <a:ext cx="4361688" cy="4096512"/>
          </a:xfrm>
        </p:spPr>
        <p:txBody>
          <a:bodyPr>
            <a:normAutofit/>
          </a:bodyPr>
          <a:lstStyle/>
          <a:p>
            <a:pPr marL="0" indent="0">
              <a:spcBef>
                <a:spcPts val="2500"/>
              </a:spcBef>
              <a:buNone/>
            </a:pPr>
            <a:r>
              <a:rPr lang="en-US" sz="1400" b="1"/>
              <a:t>Data Silos</a:t>
            </a:r>
          </a:p>
          <a:p>
            <a:pPr marL="0" lvl="1" indent="0">
              <a:buNone/>
            </a:pPr>
            <a:r>
              <a:rPr lang="en-US" sz="1400"/>
              <a:t>Data silos are a common problem in organizations where data is stored in different systems and platforms, making it difficult to extract and analyze. Integration of data across platforms can help overcome this problem.</a:t>
            </a:r>
          </a:p>
          <a:p>
            <a:pPr marL="0" indent="0">
              <a:spcBef>
                <a:spcPts val="2500"/>
              </a:spcBef>
              <a:buNone/>
            </a:pPr>
            <a:r>
              <a:rPr lang="en-US" sz="1400" b="1"/>
              <a:t>Data Integration</a:t>
            </a:r>
          </a:p>
          <a:p>
            <a:pPr marL="0" lvl="1" indent="0">
              <a:buNone/>
            </a:pPr>
            <a:r>
              <a:rPr lang="en-US" sz="1400"/>
              <a:t>Data integration is the process of combining data from different sources and platforms into a single, unified view. This helps organizations to extract and analyze data more effectively.</a:t>
            </a:r>
            <a:endParaRPr lang="en-IN" sz="1400"/>
          </a:p>
        </p:txBody>
      </p:sp>
      <p:sp>
        <p:nvSpPr>
          <p:cNvPr id="3" name="Slide Number Placeholder 2">
            <a:extLst>
              <a:ext uri="{FF2B5EF4-FFF2-40B4-BE49-F238E27FC236}">
                <a16:creationId xmlns:a16="http://schemas.microsoft.com/office/drawing/2014/main" id="{55AA0D25-660E-1B3B-C70C-B2EF4CCF7EAF}"/>
              </a:ext>
            </a:extLst>
          </p:cNvPr>
          <p:cNvSpPr>
            <a:spLocks noGrp="1"/>
          </p:cNvSpPr>
          <p:nvPr>
            <p:ph type="sldNum" sz="quarter" idx="12"/>
          </p:nvPr>
        </p:nvSpPr>
        <p:spPr/>
        <p:txBody>
          <a:bodyPr/>
          <a:lstStyle/>
          <a:p>
            <a:fld id="{CC057153-B650-4DEB-B370-79DDCFDCE934}" type="slidenum">
              <a:rPr lang="en-US" smtClean="0"/>
              <a:t>10</a:t>
            </a:fld>
            <a:endParaRPr lang="en-US"/>
          </a:p>
        </p:txBody>
      </p:sp>
    </p:spTree>
    <p:extLst>
      <p:ext uri="{BB962C8B-B14F-4D97-AF65-F5344CB8AC3E}">
        <p14:creationId xmlns:p14="http://schemas.microsoft.com/office/powerpoint/2010/main" val="19646221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2CC1E4F-F1F0-B945-BE50-C72A7103E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5" name="Content Placeholder 4" descr="Cloud computing network security technology">
            <a:extLst>
              <a:ext uri="{FF2B5EF4-FFF2-40B4-BE49-F238E27FC236}">
                <a16:creationId xmlns:a16="http://schemas.microsoft.com/office/drawing/2014/main" id="{CB8E938C-F073-43BC-A89F-1B813C3698DD}"/>
              </a:ext>
            </a:extLst>
          </p:cNvPr>
          <p:cNvPicPr>
            <a:picLocks noGrp="1" noChangeAspect="1"/>
          </p:cNvPicPr>
          <p:nvPr>
            <p:ph sz="half" idx="1"/>
          </p:nvPr>
        </p:nvPicPr>
        <p:blipFill>
          <a:blip r:embed="rId3"/>
          <a:srcRect l="8789" r="6747"/>
          <a:stretch/>
        </p:blipFill>
        <p:spPr>
          <a:xfrm>
            <a:off x="20" y="10"/>
            <a:ext cx="7723393" cy="6857990"/>
          </a:xfrm>
          <a:prstGeom prst="rect">
            <a:avLst/>
          </a:prstGeom>
        </p:spPr>
      </p:pic>
      <p:sp>
        <p:nvSpPr>
          <p:cNvPr id="2" name="Title 1">
            <a:extLst>
              <a:ext uri="{FF2B5EF4-FFF2-40B4-BE49-F238E27FC236}">
                <a16:creationId xmlns:a16="http://schemas.microsoft.com/office/drawing/2014/main" id="{71290843-20C5-43EF-4314-7E8F7CEEDCEF}"/>
              </a:ext>
            </a:extLst>
          </p:cNvPr>
          <p:cNvSpPr>
            <a:spLocks noGrp="1"/>
          </p:cNvSpPr>
          <p:nvPr>
            <p:ph type="title"/>
          </p:nvPr>
        </p:nvSpPr>
        <p:spPr>
          <a:xfrm>
            <a:off x="8270421" y="1387929"/>
            <a:ext cx="3212502" cy="1942773"/>
          </a:xfrm>
        </p:spPr>
        <p:txBody>
          <a:bodyPr vert="horz" lIns="91440" tIns="45720" rIns="91440" bIns="45720" rtlCol="0" anchor="b">
            <a:normAutofit/>
          </a:bodyPr>
          <a:lstStyle/>
          <a:p>
            <a:r>
              <a:rPr lang="en-US" sz="3300" b="1" kern="1200">
                <a:solidFill>
                  <a:schemeClr val="tx1"/>
                </a:solidFill>
                <a:latin typeface="+mj-lt"/>
                <a:ea typeface="+mj-ea"/>
                <a:cs typeface="+mj-cs"/>
              </a:rPr>
              <a:t>Internet of Things (IoT) and Data Extraction</a:t>
            </a:r>
          </a:p>
        </p:txBody>
      </p:sp>
      <p:sp>
        <p:nvSpPr>
          <p:cNvPr id="4" name="Content Placeholder 3">
            <a:extLst>
              <a:ext uri="{FF2B5EF4-FFF2-40B4-BE49-F238E27FC236}">
                <a16:creationId xmlns:a16="http://schemas.microsoft.com/office/drawing/2014/main" id="{F1C6421A-9696-7C0B-8206-F2AA65F8DBE1}"/>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270421" y="3412998"/>
            <a:ext cx="3212502" cy="2767366"/>
          </a:xfrm>
        </p:spPr>
        <p:txBody>
          <a:bodyPr>
            <a:normAutofit/>
          </a:bodyPr>
          <a:lstStyle/>
          <a:p>
            <a:pPr marL="0" indent="0">
              <a:spcBef>
                <a:spcPts val="2500"/>
              </a:spcBef>
              <a:buNone/>
            </a:pPr>
            <a:endParaRPr lang="en-US" sz="1400" b="1"/>
          </a:p>
          <a:p>
            <a:pPr marL="0" lvl="1" indent="0">
              <a:buNone/>
            </a:pPr>
            <a:r>
              <a:rPr lang="en-US" sz="1400"/>
              <a:t>IoT devices are transforming data extraction by providing real-time data from a variety of sources, enabling organizations to make better decisions, optimize resources, and improve operational efficiencies.</a:t>
            </a:r>
            <a:endParaRPr lang="en-IN" sz="1400"/>
          </a:p>
        </p:txBody>
      </p:sp>
      <p:sp>
        <p:nvSpPr>
          <p:cNvPr id="3" name="Slide Number Placeholder 2">
            <a:extLst>
              <a:ext uri="{FF2B5EF4-FFF2-40B4-BE49-F238E27FC236}">
                <a16:creationId xmlns:a16="http://schemas.microsoft.com/office/drawing/2014/main" id="{BD62988B-F2CD-D6F0-9720-81C1550BF003}"/>
              </a:ext>
            </a:extLst>
          </p:cNvPr>
          <p:cNvSpPr>
            <a:spLocks noGrp="1"/>
          </p:cNvSpPr>
          <p:nvPr>
            <p:ph type="sldNum" sz="quarter" idx="12"/>
          </p:nvPr>
        </p:nvSpPr>
        <p:spPr/>
        <p:txBody>
          <a:bodyPr/>
          <a:lstStyle/>
          <a:p>
            <a:fld id="{CC057153-B650-4DEB-B370-79DDCFDCE934}" type="slidenum">
              <a:rPr lang="en-US" smtClean="0"/>
              <a:t>11</a:t>
            </a:fld>
            <a:endParaRPr lang="en-US"/>
          </a:p>
        </p:txBody>
      </p:sp>
    </p:spTree>
    <p:extLst>
      <p:ext uri="{BB962C8B-B14F-4D97-AF65-F5344CB8AC3E}">
        <p14:creationId xmlns:p14="http://schemas.microsoft.com/office/powerpoint/2010/main" val="53544268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2CC1E4F-F1F0-B945-BE50-C72A7103E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5" name="Content Placeholder 4" descr="Smart home mobile application internet technology">
            <a:extLst>
              <a:ext uri="{FF2B5EF4-FFF2-40B4-BE49-F238E27FC236}">
                <a16:creationId xmlns:a16="http://schemas.microsoft.com/office/drawing/2014/main" id="{32313021-3BAD-44AB-B3BA-D1E76CF03229}"/>
              </a:ext>
            </a:extLst>
          </p:cNvPr>
          <p:cNvPicPr>
            <a:picLocks noGrp="1" noChangeAspect="1"/>
          </p:cNvPicPr>
          <p:nvPr>
            <p:ph sz="half" idx="1"/>
          </p:nvPr>
        </p:nvPicPr>
        <p:blipFill>
          <a:blip r:embed="rId3"/>
          <a:srcRect l="8415" r="16411" b="-1"/>
          <a:stretch/>
        </p:blipFill>
        <p:spPr>
          <a:xfrm>
            <a:off x="20" y="10"/>
            <a:ext cx="7723393" cy="6857990"/>
          </a:xfrm>
          <a:prstGeom prst="rect">
            <a:avLst/>
          </a:prstGeom>
        </p:spPr>
      </p:pic>
      <p:sp>
        <p:nvSpPr>
          <p:cNvPr id="2" name="Title 1">
            <a:extLst>
              <a:ext uri="{FF2B5EF4-FFF2-40B4-BE49-F238E27FC236}">
                <a16:creationId xmlns:a16="http://schemas.microsoft.com/office/drawing/2014/main" id="{CD167CA9-BDB4-023F-F6CE-2B65C8DE0344}"/>
              </a:ext>
            </a:extLst>
          </p:cNvPr>
          <p:cNvSpPr>
            <a:spLocks noGrp="1"/>
          </p:cNvSpPr>
          <p:nvPr>
            <p:ph type="title"/>
          </p:nvPr>
        </p:nvSpPr>
        <p:spPr>
          <a:xfrm>
            <a:off x="8270421" y="1387929"/>
            <a:ext cx="3212502" cy="1942773"/>
          </a:xfrm>
        </p:spPr>
        <p:txBody>
          <a:bodyPr vert="horz" lIns="91440" tIns="45720" rIns="91440" bIns="45720" rtlCol="0" anchor="b">
            <a:normAutofit/>
          </a:bodyPr>
          <a:lstStyle/>
          <a:p>
            <a:r>
              <a:rPr lang="en-US" sz="3300" b="1" kern="1200">
                <a:solidFill>
                  <a:schemeClr val="tx1"/>
                </a:solidFill>
                <a:latin typeface="+mj-lt"/>
                <a:ea typeface="+mj-ea"/>
                <a:cs typeface="+mj-cs"/>
              </a:rPr>
              <a:t>Understanding IoT</a:t>
            </a:r>
          </a:p>
        </p:txBody>
      </p:sp>
      <p:sp>
        <p:nvSpPr>
          <p:cNvPr id="4" name="Content Placeholder 3">
            <a:extLst>
              <a:ext uri="{FF2B5EF4-FFF2-40B4-BE49-F238E27FC236}">
                <a16:creationId xmlns:a16="http://schemas.microsoft.com/office/drawing/2014/main" id="{C2291008-FD90-40F4-831D-B25145AC70E0}"/>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270421" y="3412998"/>
            <a:ext cx="3212502" cy="2767366"/>
          </a:xfrm>
        </p:spPr>
        <p:txBody>
          <a:bodyPr>
            <a:normAutofit/>
          </a:bodyPr>
          <a:lstStyle/>
          <a:p>
            <a:pPr marL="0" indent="0">
              <a:spcBef>
                <a:spcPts val="2500"/>
              </a:spcBef>
              <a:buNone/>
            </a:pPr>
            <a:endParaRPr lang="en-US" sz="1400" b="1"/>
          </a:p>
          <a:p>
            <a:pPr marL="0" lvl="1" indent="0">
              <a:buNone/>
            </a:pPr>
            <a:r>
              <a:rPr lang="en-US" sz="1400"/>
              <a:t>The Internet of Things (IoT) is a network of interconnected devices that use sensors, software and network connectivity to improve efficiency and automate processes in various industries and applications.</a:t>
            </a:r>
            <a:endParaRPr lang="en-IN" sz="1400"/>
          </a:p>
        </p:txBody>
      </p:sp>
      <p:sp>
        <p:nvSpPr>
          <p:cNvPr id="3" name="Slide Number Placeholder 2">
            <a:extLst>
              <a:ext uri="{FF2B5EF4-FFF2-40B4-BE49-F238E27FC236}">
                <a16:creationId xmlns:a16="http://schemas.microsoft.com/office/drawing/2014/main" id="{4EBD2570-C0EF-F8EC-4980-1C81278B0F00}"/>
              </a:ext>
            </a:extLst>
          </p:cNvPr>
          <p:cNvSpPr>
            <a:spLocks noGrp="1"/>
          </p:cNvSpPr>
          <p:nvPr>
            <p:ph type="sldNum" sz="quarter" idx="12"/>
          </p:nvPr>
        </p:nvSpPr>
        <p:spPr/>
        <p:txBody>
          <a:bodyPr/>
          <a:lstStyle/>
          <a:p>
            <a:fld id="{CC057153-B650-4DEB-B370-79DDCFDCE934}" type="slidenum">
              <a:rPr lang="en-US" smtClean="0"/>
              <a:t>12</a:t>
            </a:fld>
            <a:endParaRPr lang="en-US"/>
          </a:p>
        </p:txBody>
      </p:sp>
    </p:spTree>
    <p:extLst>
      <p:ext uri="{BB962C8B-B14F-4D97-AF65-F5344CB8AC3E}">
        <p14:creationId xmlns:p14="http://schemas.microsoft.com/office/powerpoint/2010/main" val="13156117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bstract Technology Background">
            <a:extLst>
              <a:ext uri="{FF2B5EF4-FFF2-40B4-BE49-F238E27FC236}">
                <a16:creationId xmlns:a16="http://schemas.microsoft.com/office/drawing/2014/main" id="{F0DA7569-2130-45A1-BA72-9F6A8078B527}"/>
              </a:ext>
            </a:extLst>
          </p:cNvPr>
          <p:cNvPicPr>
            <a:picLocks noGrp="1" noChangeAspect="1"/>
          </p:cNvPicPr>
          <p:nvPr>
            <p:ph sz="half" idx="1"/>
          </p:nvPr>
        </p:nvPicPr>
        <p:blipFill>
          <a:blip r:embed="rId3"/>
          <a:srcRect l="44168" r="16082"/>
          <a:stretch/>
        </p:blipFill>
        <p:spPr>
          <a:xfrm>
            <a:off x="7345680" y="10"/>
            <a:ext cx="4846320" cy="6857990"/>
          </a:xfrm>
          <a:prstGeom prst="rect">
            <a:avLst/>
          </a:prstGeom>
        </p:spPr>
      </p:pic>
      <p:sp>
        <p:nvSpPr>
          <p:cNvPr id="2" name="Title 1">
            <a:extLst>
              <a:ext uri="{FF2B5EF4-FFF2-40B4-BE49-F238E27FC236}">
                <a16:creationId xmlns:a16="http://schemas.microsoft.com/office/drawing/2014/main" id="{FD877579-0AFB-8464-F740-D22474D2D8F1}"/>
              </a:ext>
            </a:extLst>
          </p:cNvPr>
          <p:cNvSpPr>
            <a:spLocks noGrp="1"/>
          </p:cNvSpPr>
          <p:nvPr>
            <p:ph type="title"/>
          </p:nvPr>
        </p:nvSpPr>
        <p:spPr>
          <a:xfrm>
            <a:off x="612648" y="600075"/>
            <a:ext cx="6035040" cy="1529932"/>
          </a:xfrm>
        </p:spPr>
        <p:txBody>
          <a:bodyPr vert="horz" lIns="91440" tIns="45720" rIns="91440" bIns="45720" rtlCol="0" anchor="b">
            <a:normAutofit/>
          </a:bodyPr>
          <a:lstStyle/>
          <a:p>
            <a:r>
              <a:rPr lang="en-US" b="1" kern="1200">
                <a:solidFill>
                  <a:schemeClr val="tx1"/>
                </a:solidFill>
                <a:latin typeface="+mj-lt"/>
                <a:ea typeface="+mj-ea"/>
                <a:cs typeface="+mj-cs"/>
              </a:rPr>
              <a:t>IoT Data Sources</a:t>
            </a:r>
          </a:p>
        </p:txBody>
      </p:sp>
      <p:sp>
        <p:nvSpPr>
          <p:cNvPr id="4" name="Content Placeholder 3">
            <a:extLst>
              <a:ext uri="{FF2B5EF4-FFF2-40B4-BE49-F238E27FC236}">
                <a16:creationId xmlns:a16="http://schemas.microsoft.com/office/drawing/2014/main" id="{114C09C8-9909-CCDA-99FB-08A990E918C4}"/>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8" y="2212848"/>
            <a:ext cx="6035040" cy="4096512"/>
          </a:xfrm>
        </p:spPr>
        <p:txBody>
          <a:bodyPr>
            <a:normAutofit/>
          </a:bodyPr>
          <a:lstStyle/>
          <a:p>
            <a:pPr marL="0" indent="0">
              <a:spcBef>
                <a:spcPts val="2500"/>
              </a:spcBef>
              <a:buNone/>
            </a:pPr>
            <a:r>
              <a:rPr lang="en-US" sz="1400" b="1"/>
              <a:t>Real-time Data Streams</a:t>
            </a:r>
          </a:p>
          <a:p>
            <a:pPr marL="0" lvl="1" indent="0">
              <a:buNone/>
            </a:pPr>
            <a:r>
              <a:rPr lang="en-US" sz="1400"/>
              <a:t>IoT devices generate real-time data streams that are used as a data source for IoT applications. These data streams are used to monitor and control the devices in real-time and provide valuable insights into device performance and usage patterns.</a:t>
            </a:r>
          </a:p>
          <a:p>
            <a:pPr marL="0" indent="0">
              <a:spcBef>
                <a:spcPts val="2500"/>
              </a:spcBef>
              <a:buNone/>
            </a:pPr>
            <a:r>
              <a:rPr lang="en-US" sz="1400" b="1"/>
              <a:t>Data Extraction from IoT Sensors</a:t>
            </a:r>
          </a:p>
          <a:p>
            <a:pPr marL="0" lvl="1" indent="0">
              <a:buNone/>
            </a:pPr>
            <a:r>
              <a:rPr lang="en-US" sz="1400"/>
              <a:t>IoT sensors generate data that is extracted using protocols like MQTT and CoAP. This data is used to monitor and control various aspects of the environment and provide valuable insights into usage patterns and environmental conditions.</a:t>
            </a:r>
            <a:endParaRPr lang="en-IN" sz="1400"/>
          </a:p>
        </p:txBody>
      </p:sp>
      <p:sp>
        <p:nvSpPr>
          <p:cNvPr id="3" name="Slide Number Placeholder 2">
            <a:extLst>
              <a:ext uri="{FF2B5EF4-FFF2-40B4-BE49-F238E27FC236}">
                <a16:creationId xmlns:a16="http://schemas.microsoft.com/office/drawing/2014/main" id="{7854083A-478A-2613-26AF-0595220DE40E}"/>
              </a:ext>
            </a:extLst>
          </p:cNvPr>
          <p:cNvSpPr>
            <a:spLocks noGrp="1"/>
          </p:cNvSpPr>
          <p:nvPr>
            <p:ph type="sldNum" sz="quarter" idx="12"/>
          </p:nvPr>
        </p:nvSpPr>
        <p:spPr/>
        <p:txBody>
          <a:bodyPr/>
          <a:lstStyle/>
          <a:p>
            <a:fld id="{CC057153-B650-4DEB-B370-79DDCFDCE934}" type="slidenum">
              <a:rPr lang="en-US" smtClean="0"/>
              <a:t>13</a:t>
            </a:fld>
            <a:endParaRPr lang="en-US"/>
          </a:p>
        </p:txBody>
      </p:sp>
    </p:spTree>
    <p:extLst>
      <p:ext uri="{BB962C8B-B14F-4D97-AF65-F5344CB8AC3E}">
        <p14:creationId xmlns:p14="http://schemas.microsoft.com/office/powerpoint/2010/main" val="40136851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Computer Network optimization and internet technology abstract digital concept">
            <a:extLst>
              <a:ext uri="{FF2B5EF4-FFF2-40B4-BE49-F238E27FC236}">
                <a16:creationId xmlns:a16="http://schemas.microsoft.com/office/drawing/2014/main" id="{5F392EA4-6E53-4CD5-8D47-85620BAE3D2C}"/>
              </a:ext>
            </a:extLst>
          </p:cNvPr>
          <p:cNvPicPr>
            <a:picLocks noGrp="1" noChangeAspect="1"/>
          </p:cNvPicPr>
          <p:nvPr>
            <p:ph sz="half" idx="1"/>
          </p:nvPr>
        </p:nvPicPr>
        <p:blipFill>
          <a:blip r:embed="rId3"/>
          <a:srcRect l="25929" r="20371"/>
          <a:stretch/>
        </p:blipFill>
        <p:spPr>
          <a:xfrm>
            <a:off x="20" y="10"/>
            <a:ext cx="4910308" cy="6857990"/>
          </a:xfrm>
          <a:prstGeom prst="rect">
            <a:avLst/>
          </a:prstGeom>
        </p:spPr>
      </p:pic>
      <p:sp>
        <p:nvSpPr>
          <p:cNvPr id="2" name="Title 1">
            <a:extLst>
              <a:ext uri="{FF2B5EF4-FFF2-40B4-BE49-F238E27FC236}">
                <a16:creationId xmlns:a16="http://schemas.microsoft.com/office/drawing/2014/main" id="{E0F8AFBB-1BDF-359E-8BE7-D27D164562F3}"/>
              </a:ext>
            </a:extLst>
          </p:cNvPr>
          <p:cNvSpPr>
            <a:spLocks noGrp="1"/>
          </p:cNvSpPr>
          <p:nvPr>
            <p:ph type="title"/>
          </p:nvPr>
        </p:nvSpPr>
        <p:spPr>
          <a:xfrm>
            <a:off x="5568537" y="603504"/>
            <a:ext cx="5916168" cy="1527048"/>
          </a:xfrm>
        </p:spPr>
        <p:txBody>
          <a:bodyPr vert="horz" lIns="91440" tIns="45720" rIns="91440" bIns="45720" rtlCol="0" anchor="b">
            <a:normAutofit/>
          </a:bodyPr>
          <a:lstStyle/>
          <a:p>
            <a:r>
              <a:rPr lang="en-US" b="1" kern="1200">
                <a:solidFill>
                  <a:schemeClr val="tx1"/>
                </a:solidFill>
                <a:latin typeface="+mj-lt"/>
                <a:ea typeface="+mj-ea"/>
                <a:cs typeface="+mj-cs"/>
              </a:rPr>
              <a:t>Challenges in Extracting IoT Data</a:t>
            </a:r>
          </a:p>
        </p:txBody>
      </p:sp>
      <p:sp>
        <p:nvSpPr>
          <p:cNvPr id="4" name="Content Placeholder 3">
            <a:extLst>
              <a:ext uri="{FF2B5EF4-FFF2-40B4-BE49-F238E27FC236}">
                <a16:creationId xmlns:a16="http://schemas.microsoft.com/office/drawing/2014/main" id="{E75AF2DB-E151-7519-A230-9DBC3C6721D0}"/>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7" y="2214282"/>
            <a:ext cx="5916168" cy="4095078"/>
          </a:xfrm>
        </p:spPr>
        <p:txBody>
          <a:bodyPr>
            <a:normAutofit/>
          </a:bodyPr>
          <a:lstStyle/>
          <a:p>
            <a:pPr marL="0" indent="0">
              <a:spcBef>
                <a:spcPts val="2500"/>
              </a:spcBef>
              <a:buNone/>
            </a:pPr>
            <a:r>
              <a:rPr lang="en-US" sz="1400" b="1"/>
              <a:t>Continuous Data Streams</a:t>
            </a:r>
          </a:p>
          <a:p>
            <a:pPr marL="0" lvl="1" indent="0">
              <a:buNone/>
            </a:pPr>
            <a:r>
              <a:rPr lang="en-US" sz="1400"/>
              <a:t>IoT devices generate continuous data streams, which can make it difficult to extract and analyze the data effectively and efficiently.</a:t>
            </a:r>
          </a:p>
          <a:p>
            <a:pPr marL="0" indent="0">
              <a:spcBef>
                <a:spcPts val="2500"/>
              </a:spcBef>
              <a:buNone/>
            </a:pPr>
            <a:r>
              <a:rPr lang="en-US" sz="1400" b="1"/>
              <a:t>Volume of Data</a:t>
            </a:r>
          </a:p>
          <a:p>
            <a:pPr marL="0" lvl="1" indent="0">
              <a:buNone/>
            </a:pPr>
            <a:r>
              <a:rPr lang="en-US" sz="1400"/>
              <a:t>The volume of data generated by IoT devices can be enormous, making it challenging to store and process the data efficiently.</a:t>
            </a:r>
          </a:p>
          <a:p>
            <a:pPr marL="0" indent="0">
              <a:spcBef>
                <a:spcPts val="2500"/>
              </a:spcBef>
              <a:buNone/>
            </a:pPr>
            <a:r>
              <a:rPr lang="en-US" sz="1400" b="1"/>
              <a:t>Data Quality and Reliability</a:t>
            </a:r>
          </a:p>
          <a:p>
            <a:pPr marL="0" lvl="1" indent="0">
              <a:buNone/>
            </a:pPr>
            <a:r>
              <a:rPr lang="en-US" sz="1400"/>
              <a:t>Data quality and reliability can be a challenge when extracting data from IoT devices, as the data may be incomplete, inaccurate, or inconsistent.</a:t>
            </a:r>
            <a:endParaRPr lang="en-IN" sz="1400"/>
          </a:p>
        </p:txBody>
      </p:sp>
      <p:sp>
        <p:nvSpPr>
          <p:cNvPr id="3" name="Slide Number Placeholder 2">
            <a:extLst>
              <a:ext uri="{FF2B5EF4-FFF2-40B4-BE49-F238E27FC236}">
                <a16:creationId xmlns:a16="http://schemas.microsoft.com/office/drawing/2014/main" id="{3CBE122A-F1D5-812A-ED98-FE26FF9125A6}"/>
              </a:ext>
            </a:extLst>
          </p:cNvPr>
          <p:cNvSpPr>
            <a:spLocks noGrp="1"/>
          </p:cNvSpPr>
          <p:nvPr>
            <p:ph type="sldNum" sz="quarter" idx="12"/>
          </p:nvPr>
        </p:nvSpPr>
        <p:spPr/>
        <p:txBody>
          <a:bodyPr/>
          <a:lstStyle/>
          <a:p>
            <a:fld id="{CC057153-B650-4DEB-B370-79DDCFDCE934}" type="slidenum">
              <a:rPr lang="en-US" smtClean="0"/>
              <a:t>14</a:t>
            </a:fld>
            <a:endParaRPr lang="en-US"/>
          </a:p>
        </p:txBody>
      </p:sp>
    </p:spTree>
    <p:extLst>
      <p:ext uri="{BB962C8B-B14F-4D97-AF65-F5344CB8AC3E}">
        <p14:creationId xmlns:p14="http://schemas.microsoft.com/office/powerpoint/2010/main" val="40969663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4D2207-AA67-DAD1-D42E-7A07328CA8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5" name="Content Placeholder 4" descr="Smart technology in modern">
            <a:extLst>
              <a:ext uri="{FF2B5EF4-FFF2-40B4-BE49-F238E27FC236}">
                <a16:creationId xmlns:a16="http://schemas.microsoft.com/office/drawing/2014/main" id="{B5B9360B-789B-4EAB-9BF5-715083C47FD2}"/>
              </a:ext>
            </a:extLst>
          </p:cNvPr>
          <p:cNvPicPr>
            <a:picLocks noGrp="1" noChangeAspect="1"/>
          </p:cNvPicPr>
          <p:nvPr>
            <p:ph sz="half" idx="1"/>
          </p:nvPr>
        </p:nvPicPr>
        <p:blipFill>
          <a:blip r:embed="rId3"/>
          <a:srcRect l="35865" r="9909" b="2"/>
          <a:stretch/>
        </p:blipFill>
        <p:spPr>
          <a:xfrm>
            <a:off x="727382" y="2008094"/>
            <a:ext cx="3494314" cy="4301265"/>
          </a:xfrm>
          <a:prstGeom prst="rect">
            <a:avLst/>
          </a:prstGeom>
        </p:spPr>
      </p:pic>
      <p:sp>
        <p:nvSpPr>
          <p:cNvPr id="2" name="Title 1">
            <a:extLst>
              <a:ext uri="{FF2B5EF4-FFF2-40B4-BE49-F238E27FC236}">
                <a16:creationId xmlns:a16="http://schemas.microsoft.com/office/drawing/2014/main" id="{4794FDAC-9E52-D22D-CC3D-2B405770A851}"/>
              </a:ext>
            </a:extLst>
          </p:cNvPr>
          <p:cNvSpPr>
            <a:spLocks noGrp="1"/>
          </p:cNvSpPr>
          <p:nvPr>
            <p:ph type="title"/>
          </p:nvPr>
        </p:nvSpPr>
        <p:spPr>
          <a:xfrm>
            <a:off x="614681" y="548639"/>
            <a:ext cx="3657600" cy="1294379"/>
          </a:xfrm>
        </p:spPr>
        <p:txBody>
          <a:bodyPr vert="horz" lIns="91440" tIns="45720" rIns="91440" bIns="45720" rtlCol="0" anchor="t">
            <a:normAutofit/>
          </a:bodyPr>
          <a:lstStyle/>
          <a:p>
            <a:r>
              <a:rPr lang="en-US" sz="2800" b="1" kern="1200">
                <a:solidFill>
                  <a:schemeClr val="tx1"/>
                </a:solidFill>
                <a:latin typeface="+mj-lt"/>
                <a:ea typeface="+mj-ea"/>
                <a:cs typeface="+mj-cs"/>
              </a:rPr>
              <a:t>Tools for Extracting IoT Data</a:t>
            </a:r>
          </a:p>
        </p:txBody>
      </p:sp>
      <p:sp>
        <p:nvSpPr>
          <p:cNvPr id="4" name="Content Placeholder 3">
            <a:extLst>
              <a:ext uri="{FF2B5EF4-FFF2-40B4-BE49-F238E27FC236}">
                <a16:creationId xmlns:a16="http://schemas.microsoft.com/office/drawing/2014/main" id="{62F65E94-B688-E43C-6B44-A9C51F2F9868}"/>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15885" y="548638"/>
            <a:ext cx="6561437" cy="5760721"/>
          </a:xfrm>
        </p:spPr>
        <p:txBody>
          <a:bodyPr>
            <a:normAutofit/>
          </a:bodyPr>
          <a:lstStyle/>
          <a:p>
            <a:pPr marL="0" indent="0">
              <a:lnSpc>
                <a:spcPct val="110000"/>
              </a:lnSpc>
              <a:spcBef>
                <a:spcPts val="2500"/>
              </a:spcBef>
              <a:buNone/>
            </a:pPr>
            <a:r>
              <a:rPr lang="en-US" sz="1400" b="1"/>
              <a:t>AWS IoT</a:t>
            </a:r>
          </a:p>
          <a:p>
            <a:pPr marL="0" lvl="1" indent="0">
              <a:lnSpc>
                <a:spcPct val="110000"/>
              </a:lnSpc>
              <a:buNone/>
            </a:pPr>
            <a:r>
              <a:rPr lang="en-US" sz="1400"/>
              <a:t>AWS IoT is a platform that enables users to easily and securely connect and manage IoT devices and extract data from them. It provides features like device management, security, and integration with other AWS services.</a:t>
            </a:r>
          </a:p>
          <a:p>
            <a:pPr marL="0" indent="0">
              <a:lnSpc>
                <a:spcPct val="110000"/>
              </a:lnSpc>
              <a:spcBef>
                <a:spcPts val="2500"/>
              </a:spcBef>
              <a:buNone/>
            </a:pPr>
            <a:r>
              <a:rPr lang="en-US" sz="1400" b="1"/>
              <a:t>Google IoT Core</a:t>
            </a:r>
          </a:p>
          <a:p>
            <a:pPr marL="0" lvl="1" indent="0">
              <a:lnSpc>
                <a:spcPct val="110000"/>
              </a:lnSpc>
              <a:buNone/>
            </a:pPr>
            <a:r>
              <a:rPr lang="en-US" sz="1400"/>
              <a:t>Google IoT Core is a fully-managed service that allows users to securely connect, manage, and ingest data from IoT devices. It provides features like device management, security, and integration with other Google Cloud services.</a:t>
            </a:r>
          </a:p>
          <a:p>
            <a:pPr marL="0" indent="0">
              <a:lnSpc>
                <a:spcPct val="110000"/>
              </a:lnSpc>
              <a:spcBef>
                <a:spcPts val="2500"/>
              </a:spcBef>
              <a:buNone/>
            </a:pPr>
            <a:r>
              <a:rPr lang="en-US" sz="1400" b="1"/>
              <a:t>Apache Kafka</a:t>
            </a:r>
          </a:p>
          <a:p>
            <a:pPr marL="0" lvl="1" indent="0">
              <a:lnSpc>
                <a:spcPct val="110000"/>
              </a:lnSpc>
              <a:buNone/>
            </a:pPr>
            <a:r>
              <a:rPr lang="en-US" sz="1400"/>
              <a:t>Apache Kafka is an open-source streaming platform that is widely used for building real-time data pipelines and streaming applications. It provides features like scalability, fault-tolerance, and integration with other big data tools.</a:t>
            </a:r>
          </a:p>
          <a:p>
            <a:pPr marL="0" indent="0">
              <a:lnSpc>
                <a:spcPct val="110000"/>
              </a:lnSpc>
              <a:spcBef>
                <a:spcPts val="2500"/>
              </a:spcBef>
              <a:buNone/>
            </a:pPr>
            <a:r>
              <a:rPr lang="en-US" sz="1400" b="1"/>
              <a:t>Apache Spark</a:t>
            </a:r>
          </a:p>
          <a:p>
            <a:pPr marL="0" lvl="1" indent="0">
              <a:lnSpc>
                <a:spcPct val="110000"/>
              </a:lnSpc>
              <a:buNone/>
            </a:pPr>
            <a:r>
              <a:rPr lang="en-US" sz="1400"/>
              <a:t>Apache Spark is an open-source distributed computing system that is used for processing large-scale data sets. It provides features like in-memory processing, fault-tolerance, and integration with other big data tools.</a:t>
            </a:r>
            <a:endParaRPr lang="en-IN" sz="1400"/>
          </a:p>
        </p:txBody>
      </p:sp>
      <p:sp>
        <p:nvSpPr>
          <p:cNvPr id="3" name="Slide Number Placeholder 2">
            <a:extLst>
              <a:ext uri="{FF2B5EF4-FFF2-40B4-BE49-F238E27FC236}">
                <a16:creationId xmlns:a16="http://schemas.microsoft.com/office/drawing/2014/main" id="{B6516059-EF32-F617-ECBD-09E7E970FD61}"/>
              </a:ext>
            </a:extLst>
          </p:cNvPr>
          <p:cNvSpPr>
            <a:spLocks noGrp="1"/>
          </p:cNvSpPr>
          <p:nvPr>
            <p:ph type="sldNum" sz="quarter" idx="12"/>
          </p:nvPr>
        </p:nvSpPr>
        <p:spPr/>
        <p:txBody>
          <a:bodyPr/>
          <a:lstStyle/>
          <a:p>
            <a:fld id="{CC057153-B650-4DEB-B370-79DDCFDCE934}" type="slidenum">
              <a:rPr lang="en-US" smtClean="0"/>
              <a:t>15</a:t>
            </a:fld>
            <a:endParaRPr lang="en-US"/>
          </a:p>
        </p:txBody>
      </p:sp>
    </p:spTree>
    <p:extLst>
      <p:ext uri="{BB962C8B-B14F-4D97-AF65-F5344CB8AC3E}">
        <p14:creationId xmlns:p14="http://schemas.microsoft.com/office/powerpoint/2010/main" val="40406358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Monitor screen with stock market graphs&#10;&#10;Note for inspector:&#10;This appliction interface is made by me. See attached release, please.">
            <a:extLst>
              <a:ext uri="{FF2B5EF4-FFF2-40B4-BE49-F238E27FC236}">
                <a16:creationId xmlns:a16="http://schemas.microsoft.com/office/drawing/2014/main" id="{D649D172-749E-4F2B-8744-71BA0801AABA}"/>
              </a:ext>
            </a:extLst>
          </p:cNvPr>
          <p:cNvPicPr>
            <a:picLocks noGrp="1" noChangeAspect="1"/>
          </p:cNvPicPr>
          <p:nvPr>
            <p:ph sz="half" idx="1"/>
          </p:nvPr>
        </p:nvPicPr>
        <p:blipFill>
          <a:blip r:embed="rId3"/>
          <a:srcRect l="30941" r="21265" b="-1"/>
          <a:stretch/>
        </p:blipFill>
        <p:spPr>
          <a:xfrm>
            <a:off x="20" y="10"/>
            <a:ext cx="4910308" cy="6857990"/>
          </a:xfrm>
          <a:prstGeom prst="rect">
            <a:avLst/>
          </a:prstGeom>
        </p:spPr>
      </p:pic>
      <p:sp>
        <p:nvSpPr>
          <p:cNvPr id="2" name="Title 1">
            <a:extLst>
              <a:ext uri="{FF2B5EF4-FFF2-40B4-BE49-F238E27FC236}">
                <a16:creationId xmlns:a16="http://schemas.microsoft.com/office/drawing/2014/main" id="{12CAF379-8C20-1335-161A-AC31D1D6E61E}"/>
              </a:ext>
            </a:extLst>
          </p:cNvPr>
          <p:cNvSpPr>
            <a:spLocks noGrp="1"/>
          </p:cNvSpPr>
          <p:nvPr>
            <p:ph type="title"/>
          </p:nvPr>
        </p:nvSpPr>
        <p:spPr>
          <a:xfrm>
            <a:off x="5568537" y="603504"/>
            <a:ext cx="5916168" cy="1527048"/>
          </a:xfrm>
        </p:spPr>
        <p:txBody>
          <a:bodyPr vert="horz" lIns="91440" tIns="45720" rIns="91440" bIns="45720" rtlCol="0" anchor="b">
            <a:normAutofit/>
          </a:bodyPr>
          <a:lstStyle/>
          <a:p>
            <a:r>
              <a:rPr lang="en-US" b="1" kern="1200">
                <a:solidFill>
                  <a:schemeClr val="tx1"/>
                </a:solidFill>
                <a:latin typeface="+mj-lt"/>
                <a:ea typeface="+mj-ea"/>
                <a:cs typeface="+mj-cs"/>
              </a:rPr>
              <a:t>Conclusion</a:t>
            </a:r>
          </a:p>
        </p:txBody>
      </p:sp>
      <p:sp>
        <p:nvSpPr>
          <p:cNvPr id="4" name="Content Placeholder 3">
            <a:extLst>
              <a:ext uri="{FF2B5EF4-FFF2-40B4-BE49-F238E27FC236}">
                <a16:creationId xmlns:a16="http://schemas.microsoft.com/office/drawing/2014/main" id="{0BBBB14E-2A80-2E66-58AE-96FB132AE3ED}"/>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7" y="2214282"/>
            <a:ext cx="5916168" cy="4095078"/>
          </a:xfrm>
        </p:spPr>
        <p:txBody>
          <a:bodyPr>
            <a:normAutofit/>
          </a:bodyPr>
          <a:lstStyle/>
          <a:p>
            <a:pPr marL="0" indent="0">
              <a:spcBef>
                <a:spcPts val="2500"/>
              </a:spcBef>
              <a:buNone/>
            </a:pPr>
            <a:r>
              <a:rPr lang="en-US" sz="1400" b="1"/>
              <a:t>Importance of Data Extraction</a:t>
            </a:r>
          </a:p>
          <a:p>
            <a:pPr marL="0" lvl="1" indent="0">
              <a:buNone/>
            </a:pPr>
            <a:r>
              <a:rPr lang="en-US" sz="1400"/>
              <a:t>Data extraction is a critical step in the data lifecycle, allowing organizations to extract valuable insights and make informed decisions. Organizations must understand the key concepts and techniques for extracting data effectively.</a:t>
            </a:r>
          </a:p>
          <a:p>
            <a:pPr marL="0" indent="0">
              <a:spcBef>
                <a:spcPts val="2500"/>
              </a:spcBef>
              <a:buNone/>
            </a:pPr>
            <a:r>
              <a:rPr lang="en-US" sz="1400" b="1"/>
              <a:t>IoT Data Extraction</a:t>
            </a:r>
          </a:p>
          <a:p>
            <a:pPr marL="0" lvl="1" indent="0">
              <a:buNone/>
            </a:pPr>
            <a:r>
              <a:rPr lang="en-US" sz="1400"/>
              <a:t>With the growing importance of IoT, organizations need to be able to extract and analyze data from a variety of sources, including sensors, devices, and machines, and use the right tools and techniques to gain insights and make informed decisions.</a:t>
            </a:r>
            <a:endParaRPr lang="en-IN" sz="1400"/>
          </a:p>
        </p:txBody>
      </p:sp>
      <p:sp>
        <p:nvSpPr>
          <p:cNvPr id="3" name="Slide Number Placeholder 2">
            <a:extLst>
              <a:ext uri="{FF2B5EF4-FFF2-40B4-BE49-F238E27FC236}">
                <a16:creationId xmlns:a16="http://schemas.microsoft.com/office/drawing/2014/main" id="{84F6A77C-6C29-9278-3FCB-2F70D171707B}"/>
              </a:ext>
            </a:extLst>
          </p:cNvPr>
          <p:cNvSpPr>
            <a:spLocks noGrp="1"/>
          </p:cNvSpPr>
          <p:nvPr>
            <p:ph type="sldNum" sz="quarter" idx="12"/>
          </p:nvPr>
        </p:nvSpPr>
        <p:spPr/>
        <p:txBody>
          <a:bodyPr/>
          <a:lstStyle/>
          <a:p>
            <a:fld id="{CC057153-B650-4DEB-B370-79DDCFDCE934}" type="slidenum">
              <a:rPr lang="en-US" smtClean="0"/>
              <a:t>16</a:t>
            </a:fld>
            <a:endParaRPr lang="en-US"/>
          </a:p>
        </p:txBody>
      </p:sp>
    </p:spTree>
    <p:extLst>
      <p:ext uri="{BB962C8B-B14F-4D97-AF65-F5344CB8AC3E}">
        <p14:creationId xmlns:p14="http://schemas.microsoft.com/office/powerpoint/2010/main" val="394614780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VanillaVTI">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2145</Words>
  <Application>Microsoft Office PowerPoint</Application>
  <PresentationFormat>Widescreen</PresentationFormat>
  <Paragraphs>141</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Arial</vt:lpstr>
      <vt:lpstr>Neue Haas Grotesk Text Pro</vt:lpstr>
      <vt:lpstr>VanillaVTI</vt:lpstr>
      <vt:lpstr>Comprehensive Guide to Data Extraction</vt:lpstr>
      <vt:lpstr>Presentation Overview</vt:lpstr>
      <vt:lpstr>Introduction to Data Extraction</vt:lpstr>
      <vt:lpstr>Overview of Data Extraction</vt:lpstr>
      <vt:lpstr>The Role of Data Extraction in the Data Lifecycle</vt:lpstr>
      <vt:lpstr>Key Challenges in Data Extraction</vt:lpstr>
      <vt:lpstr>Understanding Data Sources in Greater Detail</vt:lpstr>
      <vt:lpstr>Types of Data Sources</vt:lpstr>
      <vt:lpstr>Common Data Source Systems</vt:lpstr>
      <vt:lpstr>Data Flow and Integration</vt:lpstr>
      <vt:lpstr>Internet of Things (IoT) and Data Extraction</vt:lpstr>
      <vt:lpstr>Understanding IoT</vt:lpstr>
      <vt:lpstr>IoT Data Sources</vt:lpstr>
      <vt:lpstr>Challenges in Extracting IoT Data</vt:lpstr>
      <vt:lpstr>Tools for Extracting IoT Data</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Arnab Chakraborty</dc:creator>
  <cp:lastModifiedBy>Arnab Chakraborty</cp:lastModifiedBy>
  <cp:revision>2</cp:revision>
  <dcterms:created xsi:type="dcterms:W3CDTF">2024-10-03T12:14:07Z</dcterms:created>
  <dcterms:modified xsi:type="dcterms:W3CDTF">2024-10-03T13:24:43Z</dcterms:modified>
</cp:coreProperties>
</file>