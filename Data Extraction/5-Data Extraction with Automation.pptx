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Extraction with Automation: A Comprehensive Guide" id="{261AC43D-1049-4B3E-AD73-FA51E8CFFF4F}">
          <p14:sldIdLst>
            <p14:sldId id="2561"/>
            <p14:sldId id="2562"/>
          </p14:sldIdLst>
        </p14:section>
        <p14:section name="Data Extraction from APIs" id="{D8731E3B-E435-43E1-8FC9-986456F46A01}">
          <p14:sldIdLst>
            <p14:sldId id="2563"/>
            <p14:sldId id="2564"/>
            <p14:sldId id="2565"/>
            <p14:sldId id="2566"/>
            <p14:sldId id="2567"/>
          </p14:sldIdLst>
        </p14:section>
        <p14:section name="Automating Data Extraction" id="{544D482E-DCA3-4D7B-B94F-9BB3A5275812}">
          <p14:sldIdLst>
            <p14:sldId id="2568"/>
            <p14:sldId id="2569"/>
            <p14:sldId id="2570"/>
          </p14:sldIdLst>
        </p14:section>
        <p14:section name="Case Studies and Applications of Data Extraction" id="{3171133D-E6AB-4A92-AAB3-5C7FAE73283D}">
          <p14:sldIdLst>
            <p14:sldId id="2571"/>
            <p14:sldId id="2572"/>
            <p14:sldId id="2573"/>
          </p14:sldIdLst>
        </p14:section>
        <p14:section name="Conclusion" id="{E31985DA-726B-40B7-BD60-CC809987BE8F}">
          <p14:sldIdLst>
            <p14:sldId id="25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87" autoAdjust="0"/>
    <p:restoredTop sz="94994" autoAdjust="0"/>
  </p:normalViewPr>
  <p:slideViewPr>
    <p:cSldViewPr snapToGrid="0">
      <p:cViewPr varScale="1">
        <p:scale>
          <a:sx n="89" d="100"/>
          <a:sy n="89" d="100"/>
        </p:scale>
        <p:origin x="346" y="230"/>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D2F83C-AAC2-4E33-9A5F-70E88C0A9522}" type="datetimeFigureOut">
              <a:rPr lang="en-IN" smtClean="0"/>
              <a:t>04-Oct-2024 Fri</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5B6CEA-0EC2-4C2D-8861-600122F63098}" type="slidenum">
              <a:rPr lang="en-IN" smtClean="0"/>
              <a:t>‹#›</a:t>
            </a:fld>
            <a:endParaRPr lang="en-IN"/>
          </a:p>
        </p:txBody>
      </p:sp>
    </p:spTree>
    <p:extLst>
      <p:ext uri="{BB962C8B-B14F-4D97-AF65-F5344CB8AC3E}">
        <p14:creationId xmlns:p14="http://schemas.microsoft.com/office/powerpoint/2010/main" val="616586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presentation, we will explore the latest trends in data extraction with automation. We will start with an overview of APIs, how to extract data from them and then move on to automating data extraction. Finally, we will look at case studies and applications of data extraction.</a:t>
            </a:r>
          </a:p>
        </p:txBody>
      </p:sp>
      <p:sp>
        <p:nvSpPr>
          <p:cNvPr id="4" name="Slide Number Placeholder 3"/>
          <p:cNvSpPr>
            <a:spLocks noGrp="1"/>
          </p:cNvSpPr>
          <p:nvPr>
            <p:ph type="sldNum" sz="quarter" idx="5"/>
          </p:nvPr>
        </p:nvSpPr>
        <p:spPr/>
        <p:txBody>
          <a:bodyPr/>
          <a:lstStyle/>
          <a:p>
            <a:fld id="{1112FD8A-B880-49A6-A6AC-194F83B4D5A9}" type="slidenum">
              <a:rPr lang="en-IN" smtClean="0"/>
              <a:t>1</a:t>
            </a:fld>
            <a:endParaRPr lang="en-IN"/>
          </a:p>
        </p:txBody>
      </p:sp>
    </p:spTree>
    <p:extLst>
      <p:ext uri="{BB962C8B-B14F-4D97-AF65-F5344CB8AC3E}">
        <p14:creationId xmlns:p14="http://schemas.microsoft.com/office/powerpoint/2010/main" val="2450590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 will start by exploring the basics of extracting data from APIs. We will then move on to automating data extraction and explore the tools and techniques that can be used. Finally, we will look at some real-world examples of large-scale data extraction projects.</a:t>
            </a:r>
          </a:p>
        </p:txBody>
      </p:sp>
      <p:sp>
        <p:nvSpPr>
          <p:cNvPr id="4" name="Slide Number Placeholder 3"/>
          <p:cNvSpPr>
            <a:spLocks noGrp="1"/>
          </p:cNvSpPr>
          <p:nvPr>
            <p:ph type="sldNum" sz="quarter" idx="5"/>
          </p:nvPr>
        </p:nvSpPr>
        <p:spPr/>
        <p:txBody>
          <a:bodyPr/>
          <a:lstStyle/>
          <a:p>
            <a:fld id="{1112FD8A-B880-49A6-A6AC-194F83B4D5A9}" type="slidenum">
              <a:rPr lang="en-IN" smtClean="0"/>
              <a:t>2</a:t>
            </a:fld>
            <a:endParaRPr lang="en-IN"/>
          </a:p>
        </p:txBody>
      </p:sp>
    </p:spTree>
    <p:extLst>
      <p:ext uri="{BB962C8B-B14F-4D97-AF65-F5344CB8AC3E}">
        <p14:creationId xmlns:p14="http://schemas.microsoft.com/office/powerpoint/2010/main" val="2682240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APIs are used by many organizations to provide access to their data. In this section, we will explore how to extract data from APIs, including an introduction to APIs, how to extract data via REST APIs, and tools that can be used for API data extraction. We will also discuss the challenges that can be encountered in API data extraction.</a:t>
            </a:r>
          </a:p>
        </p:txBody>
      </p:sp>
      <p:sp>
        <p:nvSpPr>
          <p:cNvPr id="4" name="Slide Number Placeholder 3"/>
          <p:cNvSpPr>
            <a:spLocks noGrp="1"/>
          </p:cNvSpPr>
          <p:nvPr>
            <p:ph type="sldNum" sz="quarter" idx="5"/>
          </p:nvPr>
        </p:nvSpPr>
        <p:spPr/>
        <p:txBody>
          <a:bodyPr/>
          <a:lstStyle/>
          <a:p>
            <a:fld id="{1112FD8A-B880-49A6-A6AC-194F83B4D5A9}" type="slidenum">
              <a:rPr lang="en-IN" smtClean="0"/>
              <a:t>3</a:t>
            </a:fld>
            <a:endParaRPr lang="en-IN"/>
          </a:p>
        </p:txBody>
      </p:sp>
    </p:spTree>
    <p:extLst>
      <p:ext uri="{BB962C8B-B14F-4D97-AF65-F5344CB8AC3E}">
        <p14:creationId xmlns:p14="http://schemas.microsoft.com/office/powerpoint/2010/main" val="125559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APIs, or Application Programming Interfaces, provide a way for applications to communicate with each other and exchange data. In this slide, we will provide an overview of what APIs are and how they work.</a:t>
            </a:r>
          </a:p>
        </p:txBody>
      </p:sp>
      <p:sp>
        <p:nvSpPr>
          <p:cNvPr id="4" name="Slide Number Placeholder 3"/>
          <p:cNvSpPr>
            <a:spLocks noGrp="1"/>
          </p:cNvSpPr>
          <p:nvPr>
            <p:ph type="sldNum" sz="quarter" idx="5"/>
          </p:nvPr>
        </p:nvSpPr>
        <p:spPr/>
        <p:txBody>
          <a:bodyPr/>
          <a:lstStyle/>
          <a:p>
            <a:fld id="{1112FD8A-B880-49A6-A6AC-194F83B4D5A9}" type="slidenum">
              <a:rPr lang="en-IN" smtClean="0"/>
              <a:t>4</a:t>
            </a:fld>
            <a:endParaRPr lang="en-IN"/>
          </a:p>
        </p:txBody>
      </p:sp>
    </p:spTree>
    <p:extLst>
      <p:ext uri="{BB962C8B-B14F-4D97-AF65-F5344CB8AC3E}">
        <p14:creationId xmlns:p14="http://schemas.microsoft.com/office/powerpoint/2010/main" val="177977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REST APIs are one of the most common types of APIs used for data extraction. In this slide, we will explore how to extract data via REST APIs and the tools that can be used for this purpose.</a:t>
            </a:r>
          </a:p>
        </p:txBody>
      </p:sp>
      <p:sp>
        <p:nvSpPr>
          <p:cNvPr id="4" name="Slide Number Placeholder 3"/>
          <p:cNvSpPr>
            <a:spLocks noGrp="1"/>
          </p:cNvSpPr>
          <p:nvPr>
            <p:ph type="sldNum" sz="quarter" idx="5"/>
          </p:nvPr>
        </p:nvSpPr>
        <p:spPr/>
        <p:txBody>
          <a:bodyPr/>
          <a:lstStyle/>
          <a:p>
            <a:fld id="{1112FD8A-B880-49A6-A6AC-194F83B4D5A9}" type="slidenum">
              <a:rPr lang="en-IN" smtClean="0"/>
              <a:t>5</a:t>
            </a:fld>
            <a:endParaRPr lang="en-IN"/>
          </a:p>
        </p:txBody>
      </p:sp>
    </p:spTree>
    <p:extLst>
      <p:ext uri="{BB962C8B-B14F-4D97-AF65-F5344CB8AC3E}">
        <p14:creationId xmlns:p14="http://schemas.microsoft.com/office/powerpoint/2010/main" val="661868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There are various tools that can be used for API data extraction, including Python libraries like Requests and Beautiful Soup, and commercial tools like Postman and SoapUI. In this slide, we will explore some of the most popular tools for API data extraction.</a:t>
            </a:r>
          </a:p>
        </p:txBody>
      </p:sp>
      <p:sp>
        <p:nvSpPr>
          <p:cNvPr id="4" name="Slide Number Placeholder 3"/>
          <p:cNvSpPr>
            <a:spLocks noGrp="1"/>
          </p:cNvSpPr>
          <p:nvPr>
            <p:ph type="sldNum" sz="quarter" idx="5"/>
          </p:nvPr>
        </p:nvSpPr>
        <p:spPr/>
        <p:txBody>
          <a:bodyPr/>
          <a:lstStyle/>
          <a:p>
            <a:fld id="{1112FD8A-B880-49A6-A6AC-194F83B4D5A9}" type="slidenum">
              <a:rPr lang="en-IN" smtClean="0"/>
              <a:t>6</a:t>
            </a:fld>
            <a:endParaRPr lang="en-IN"/>
          </a:p>
        </p:txBody>
      </p:sp>
    </p:spTree>
    <p:extLst>
      <p:ext uri="{BB962C8B-B14F-4D97-AF65-F5344CB8AC3E}">
        <p14:creationId xmlns:p14="http://schemas.microsoft.com/office/powerpoint/2010/main" val="3626354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While APIs provide a convenient way to access data, there can be challenges in extracting data from them. In this slide, we will discuss some of the challenges that can be encountered in API data extraction, such as rate limiting, authentication, and handling errors.</a:t>
            </a:r>
          </a:p>
        </p:txBody>
      </p:sp>
      <p:sp>
        <p:nvSpPr>
          <p:cNvPr id="4" name="Slide Number Placeholder 3"/>
          <p:cNvSpPr>
            <a:spLocks noGrp="1"/>
          </p:cNvSpPr>
          <p:nvPr>
            <p:ph type="sldNum" sz="quarter" idx="5"/>
          </p:nvPr>
        </p:nvSpPr>
        <p:spPr/>
        <p:txBody>
          <a:bodyPr/>
          <a:lstStyle/>
          <a:p>
            <a:fld id="{1112FD8A-B880-49A6-A6AC-194F83B4D5A9}" type="slidenum">
              <a:rPr lang="en-IN" smtClean="0"/>
              <a:t>7</a:t>
            </a:fld>
            <a:endParaRPr lang="en-IN"/>
          </a:p>
        </p:txBody>
      </p:sp>
    </p:spTree>
    <p:extLst>
      <p:ext uri="{BB962C8B-B14F-4D97-AF65-F5344CB8AC3E}">
        <p14:creationId xmlns:p14="http://schemas.microsoft.com/office/powerpoint/2010/main" val="3858284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Automating data extraction can save time and reduce the risk of errors. In this section, we will explore the tools and techniques that can be used for automating data extraction. We will also discuss the challenges that can be encountered in automation.</a:t>
            </a:r>
          </a:p>
        </p:txBody>
      </p:sp>
      <p:sp>
        <p:nvSpPr>
          <p:cNvPr id="4" name="Slide Number Placeholder 3"/>
          <p:cNvSpPr>
            <a:spLocks noGrp="1"/>
          </p:cNvSpPr>
          <p:nvPr>
            <p:ph type="sldNum" sz="quarter" idx="5"/>
          </p:nvPr>
        </p:nvSpPr>
        <p:spPr/>
        <p:txBody>
          <a:bodyPr/>
          <a:lstStyle/>
          <a:p>
            <a:fld id="{1112FD8A-B880-49A6-A6AC-194F83B4D5A9}" type="slidenum">
              <a:rPr lang="en-IN" smtClean="0"/>
              <a:t>8</a:t>
            </a:fld>
            <a:endParaRPr lang="en-IN"/>
          </a:p>
        </p:txBody>
      </p:sp>
    </p:spTree>
    <p:extLst>
      <p:ext uri="{BB962C8B-B14F-4D97-AF65-F5344CB8AC3E}">
        <p14:creationId xmlns:p14="http://schemas.microsoft.com/office/powerpoint/2010/main" val="1275785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There are various tools that can be used for automating data extraction, including web scraping tools like Selenium, Python libraries like BeautifulSoup and Scrapy, and commercial tools like UiPath and Automation Anywhere. In this slide, we will explore some of the most popular tools for automation.</a:t>
            </a:r>
          </a:p>
        </p:txBody>
      </p:sp>
      <p:sp>
        <p:nvSpPr>
          <p:cNvPr id="4" name="Slide Number Placeholder 3"/>
          <p:cNvSpPr>
            <a:spLocks noGrp="1"/>
          </p:cNvSpPr>
          <p:nvPr>
            <p:ph type="sldNum" sz="quarter" idx="5"/>
          </p:nvPr>
        </p:nvSpPr>
        <p:spPr/>
        <p:txBody>
          <a:bodyPr/>
          <a:lstStyle/>
          <a:p>
            <a:fld id="{1112FD8A-B880-49A6-A6AC-194F83B4D5A9}" type="slidenum">
              <a:rPr lang="en-IN" smtClean="0"/>
              <a:t>9</a:t>
            </a:fld>
            <a:endParaRPr lang="en-IN"/>
          </a:p>
        </p:txBody>
      </p:sp>
    </p:spTree>
    <p:extLst>
      <p:ext uri="{BB962C8B-B14F-4D97-AF65-F5344CB8AC3E}">
        <p14:creationId xmlns:p14="http://schemas.microsoft.com/office/powerpoint/2010/main" val="3544788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While automation can save time and reduce errors, there can be challenges in automating data extraction. In this slide, we will discuss some of the challenges that can be encountered in automation, such as handling complex websites, managing cookies and sessions, and avoiding detection.</a:t>
            </a:r>
          </a:p>
        </p:txBody>
      </p:sp>
      <p:sp>
        <p:nvSpPr>
          <p:cNvPr id="4" name="Slide Number Placeholder 3"/>
          <p:cNvSpPr>
            <a:spLocks noGrp="1"/>
          </p:cNvSpPr>
          <p:nvPr>
            <p:ph type="sldNum" sz="quarter" idx="5"/>
          </p:nvPr>
        </p:nvSpPr>
        <p:spPr/>
        <p:txBody>
          <a:bodyPr/>
          <a:lstStyle/>
          <a:p>
            <a:fld id="{1112FD8A-B880-49A6-A6AC-194F83B4D5A9}" type="slidenum">
              <a:rPr lang="en-IN" smtClean="0"/>
              <a:t>10</a:t>
            </a:fld>
            <a:endParaRPr lang="en-IN"/>
          </a:p>
        </p:txBody>
      </p:sp>
    </p:spTree>
    <p:extLst>
      <p:ext uri="{BB962C8B-B14F-4D97-AF65-F5344CB8AC3E}">
        <p14:creationId xmlns:p14="http://schemas.microsoft.com/office/powerpoint/2010/main" val="255198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section, we will look at some real-world examples of large-scale data extraction projects. We will explore the challenges faced and the lessons learned from these projects.</a:t>
            </a:r>
          </a:p>
        </p:txBody>
      </p:sp>
      <p:sp>
        <p:nvSpPr>
          <p:cNvPr id="4" name="Slide Number Placeholder 3"/>
          <p:cNvSpPr>
            <a:spLocks noGrp="1"/>
          </p:cNvSpPr>
          <p:nvPr>
            <p:ph type="sldNum" sz="quarter" idx="5"/>
          </p:nvPr>
        </p:nvSpPr>
        <p:spPr/>
        <p:txBody>
          <a:bodyPr/>
          <a:lstStyle/>
          <a:p>
            <a:fld id="{1112FD8A-B880-49A6-A6AC-194F83B4D5A9}" type="slidenum">
              <a:rPr lang="en-IN" smtClean="0"/>
              <a:t>11</a:t>
            </a:fld>
            <a:endParaRPr lang="en-IN"/>
          </a:p>
        </p:txBody>
      </p:sp>
    </p:spTree>
    <p:extLst>
      <p:ext uri="{BB962C8B-B14F-4D97-AF65-F5344CB8AC3E}">
        <p14:creationId xmlns:p14="http://schemas.microsoft.com/office/powerpoint/2010/main" val="1010203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There are many applications of data extraction, including price monitoring, lead generation, sentiment analysis, and more. In this slide, we will explore some real-world examples of large-scale data extraction projects.</a:t>
            </a:r>
          </a:p>
        </p:txBody>
      </p:sp>
      <p:sp>
        <p:nvSpPr>
          <p:cNvPr id="4" name="Slide Number Placeholder 3"/>
          <p:cNvSpPr>
            <a:spLocks noGrp="1"/>
          </p:cNvSpPr>
          <p:nvPr>
            <p:ph type="sldNum" sz="quarter" idx="5"/>
          </p:nvPr>
        </p:nvSpPr>
        <p:spPr/>
        <p:txBody>
          <a:bodyPr/>
          <a:lstStyle/>
          <a:p>
            <a:fld id="{1112FD8A-B880-49A6-A6AC-194F83B4D5A9}" type="slidenum">
              <a:rPr lang="en-IN" smtClean="0"/>
              <a:t>12</a:t>
            </a:fld>
            <a:endParaRPr lang="en-IN"/>
          </a:p>
        </p:txBody>
      </p:sp>
    </p:spTree>
    <p:extLst>
      <p:ext uri="{BB962C8B-B14F-4D97-AF65-F5344CB8AC3E}">
        <p14:creationId xmlns:p14="http://schemas.microsoft.com/office/powerpoint/2010/main" val="1621432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Large-scale data extraction projects can present unique challenges, such as managing large volumes of data, dealing with multiple sources, and ensuring data quality. In this slide, we will discuss some of the challenges and lessons learned from large-scale data extraction projects.</a:t>
            </a:r>
          </a:p>
        </p:txBody>
      </p:sp>
      <p:sp>
        <p:nvSpPr>
          <p:cNvPr id="4" name="Slide Number Placeholder 3"/>
          <p:cNvSpPr>
            <a:spLocks noGrp="1"/>
          </p:cNvSpPr>
          <p:nvPr>
            <p:ph type="sldNum" sz="quarter" idx="5"/>
          </p:nvPr>
        </p:nvSpPr>
        <p:spPr/>
        <p:txBody>
          <a:bodyPr/>
          <a:lstStyle/>
          <a:p>
            <a:fld id="{1112FD8A-B880-49A6-A6AC-194F83B4D5A9}" type="slidenum">
              <a:rPr lang="en-IN" smtClean="0"/>
              <a:t>13</a:t>
            </a:fld>
            <a:endParaRPr lang="en-IN"/>
          </a:p>
        </p:txBody>
      </p:sp>
    </p:spTree>
    <p:extLst>
      <p:ext uri="{BB962C8B-B14F-4D97-AF65-F5344CB8AC3E}">
        <p14:creationId xmlns:p14="http://schemas.microsoft.com/office/powerpoint/2010/main" val="490122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extraction with automation is a rapidly-evolving field that offers significant benefits to organizations. By leveraging APIs, automating data extraction, and learning from real-world examples, organizations can gain valuable insights and make more informed decisions.</a:t>
            </a:r>
          </a:p>
        </p:txBody>
      </p:sp>
      <p:sp>
        <p:nvSpPr>
          <p:cNvPr id="4" name="Slide Number Placeholder 3"/>
          <p:cNvSpPr>
            <a:spLocks noGrp="1"/>
          </p:cNvSpPr>
          <p:nvPr>
            <p:ph type="sldNum" sz="quarter" idx="5"/>
          </p:nvPr>
        </p:nvSpPr>
        <p:spPr/>
        <p:txBody>
          <a:bodyPr/>
          <a:lstStyle/>
          <a:p>
            <a:fld id="{1112FD8A-B880-49A6-A6AC-194F83B4D5A9}" type="slidenum">
              <a:rPr lang="en-IN" smtClean="0"/>
              <a:t>14</a:t>
            </a:fld>
            <a:endParaRPr lang="en-IN"/>
          </a:p>
        </p:txBody>
      </p:sp>
    </p:spTree>
    <p:extLst>
      <p:ext uri="{BB962C8B-B14F-4D97-AF65-F5344CB8AC3E}">
        <p14:creationId xmlns:p14="http://schemas.microsoft.com/office/powerpoint/2010/main" val="2484311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9072736C-672D-4DA5-8681-1F9279F49B76}" type="datetime1">
              <a:rPr lang="en-US" smtClean="0"/>
              <a:t>10/4/2024</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13583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F62F8F10-32DF-4533-9FEA-97C16DA6079B}" type="datetime1">
              <a:rPr lang="en-US" smtClean="0"/>
              <a:t>10/4/2024</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86135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9359316D-4CC0-4737-9FA0-BC68C490A4F7}" type="datetime1">
              <a:rPr lang="en-US" smtClean="0"/>
              <a:t>10/4/2024</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7207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2BE423B1-6F2F-48A1-A5FF-9EB90F447804}" type="datetime1">
              <a:rPr lang="en-US" smtClean="0"/>
              <a:t>10/4/2024</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394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0ADCDA4E-47CF-48D6-88F8-C7FBF6C42B94}" type="datetime1">
              <a:rPr lang="en-US" smtClean="0"/>
              <a:t>10/4/2024</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45821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DC8CF005-6140-494E-8656-6A566A673BD4}" type="datetime1">
              <a:rPr lang="en-US" smtClean="0"/>
              <a:t>10/4/2024</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82578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96EA1D32-926E-44E0-A24A-7D8339BBB6AA}" type="datetime1">
              <a:rPr lang="en-US" smtClean="0"/>
              <a:t>10/4/2024</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2489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225237EF-D17C-4C6D-BC27-A17DC359D727}" type="datetime1">
              <a:rPr lang="en-US" smtClean="0"/>
              <a:t>10/4/2024</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04974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6E56F2-B338-4CA0-8246-373893774AF2}" type="datetime1">
              <a:rPr lang="en-US" smtClean="0"/>
              <a:t>10/4/2024</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79013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3EA76179-9E21-4C02-97FF-7CDB04FE9D32}" type="datetime1">
              <a:rPr lang="en-US" smtClean="0"/>
              <a:t>10/4/2024</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83537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B35109AB-F437-4E54-BA81-1B12AF8EBD2B}" type="datetime1">
              <a:rPr lang="en-US" smtClean="0"/>
              <a:t>10/4/2024</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1880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B0079C86-DB2F-43EE-9CA3-C52577D7302F}" type="datetime1">
              <a:rPr lang="en-US" smtClean="0"/>
              <a:t>10/4/2024</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2998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4C0E21A8-A842-BED4-98A0-0C8547A67CD2}"/>
              </a:ext>
            </a:extLst>
          </p:cNvPr>
          <p:cNvSpPr>
            <a:spLocks noGrp="1"/>
          </p:cNvSpPr>
          <p:nvPr>
            <p:ph type="ctrTitle"/>
          </p:nvPr>
        </p:nvSpPr>
        <p:spPr>
          <a:xfrm>
            <a:off x="574400" y="997527"/>
            <a:ext cx="4053018" cy="3505057"/>
          </a:xfrm>
        </p:spPr>
        <p:txBody>
          <a:bodyPr anchor="t">
            <a:normAutofit/>
          </a:bodyPr>
          <a:lstStyle/>
          <a:p>
            <a:pPr>
              <a:lnSpc>
                <a:spcPct val="90000"/>
              </a:lnSpc>
            </a:pPr>
            <a:r>
              <a:rPr lang="en-IN" sz="4400"/>
              <a:t>Data Extraction with Automation: A Comprehensive Guide</a:t>
            </a:r>
          </a:p>
        </p:txBody>
      </p:sp>
      <p:sp>
        <p:nvSpPr>
          <p:cNvPr id="3" name="Subtitle 2">
            <a:extLst>
              <a:ext uri="{FF2B5EF4-FFF2-40B4-BE49-F238E27FC236}">
                <a16:creationId xmlns:a16="http://schemas.microsoft.com/office/drawing/2014/main" id="{4D97F151-BA16-78A9-373B-07D384FFBAF3}"/>
              </a:ext>
            </a:extLst>
          </p:cNvPr>
          <p:cNvSpPr>
            <a:spLocks noGrp="1"/>
          </p:cNvSpPr>
          <p:nvPr>
            <p:ph type="subTitle" idx="1"/>
          </p:nvPr>
        </p:nvSpPr>
        <p:spPr>
          <a:xfrm>
            <a:off x="574399" y="4608945"/>
            <a:ext cx="3919961" cy="1334655"/>
          </a:xfrm>
        </p:spPr>
        <p:txBody>
          <a:bodyPr anchor="b">
            <a:normAutofit/>
          </a:bodyPr>
          <a:lstStyle/>
          <a:p>
            <a:r>
              <a:rPr lang="en-IN"/>
              <a:t>Learn how to extract data and automate the process</a:t>
            </a:r>
          </a:p>
        </p:txBody>
      </p:sp>
      <p:pic>
        <p:nvPicPr>
          <p:cNvPr id="4" name="Picture 3" descr="Robot operating a machine">
            <a:extLst>
              <a:ext uri="{FF2B5EF4-FFF2-40B4-BE49-F238E27FC236}">
                <a16:creationId xmlns:a16="http://schemas.microsoft.com/office/drawing/2014/main" id="{FD8AB3A1-01F9-4DC5-B460-B1B7D10DC500}"/>
              </a:ext>
            </a:extLst>
          </p:cNvPr>
          <p:cNvPicPr>
            <a:picLocks noChangeAspect="1"/>
          </p:cNvPicPr>
          <p:nvPr/>
        </p:nvPicPr>
        <p:blipFill>
          <a:blip r:embed="rId3"/>
          <a:srcRect l="2756" r="1608" b="-2"/>
          <a:stretch/>
        </p:blipFill>
        <p:spPr>
          <a:xfrm>
            <a:off x="5218980" y="672912"/>
            <a:ext cx="6973019" cy="5596128"/>
          </a:xfrm>
          <a:prstGeom prst="rect">
            <a:avLst/>
          </a:prstGeom>
        </p:spPr>
      </p:pic>
      <p:cxnSp>
        <p:nvCxnSpPr>
          <p:cNvPr id="11" name="Straight Connector 10">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215128" y="6274446"/>
            <a:ext cx="697687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47ACC22A-FA05-600B-16D5-43C2B0C689DD}"/>
              </a:ext>
            </a:extLst>
          </p:cNvPr>
          <p:cNvSpPr>
            <a:spLocks noGrp="1"/>
          </p:cNvSpPr>
          <p:nvPr>
            <p:ph type="sldNum" sz="quarter" idx="12"/>
          </p:nvPr>
        </p:nvSpPr>
        <p:spPr/>
        <p:txBody>
          <a:bodyPr/>
          <a:lstStyle/>
          <a:p>
            <a:fld id="{70C12960-6E85-460F-B6E3-5B82CB31AF3D}" type="slidenum">
              <a:rPr lang="en-US" smtClean="0"/>
              <a:t>1</a:t>
            </a:fld>
            <a:endParaRPr lang="en-US"/>
          </a:p>
        </p:txBody>
      </p:sp>
    </p:spTree>
    <p:extLst>
      <p:ext uri="{BB962C8B-B14F-4D97-AF65-F5344CB8AC3E}">
        <p14:creationId xmlns:p14="http://schemas.microsoft.com/office/powerpoint/2010/main" val="131546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Biomedical engineering robot in a lab">
            <a:extLst>
              <a:ext uri="{FF2B5EF4-FFF2-40B4-BE49-F238E27FC236}">
                <a16:creationId xmlns:a16="http://schemas.microsoft.com/office/drawing/2014/main" id="{758C2484-F1C4-4386-A387-A2A13C7C5842}"/>
              </a:ext>
            </a:extLst>
          </p:cNvPr>
          <p:cNvPicPr>
            <a:picLocks noGrp="1" noChangeAspect="1"/>
          </p:cNvPicPr>
          <p:nvPr>
            <p:ph sz="half" idx="1"/>
          </p:nvPr>
        </p:nvPicPr>
        <p:blipFill>
          <a:blip r:embed="rId3"/>
          <a:srcRect r="16996" b="2"/>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9B6E3BF-08F6-822E-4CC1-C8784B9363B8}"/>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600"/>
              <a:t>Agenda Items</a:t>
            </a:r>
          </a:p>
        </p:txBody>
      </p:sp>
      <p:sp>
        <p:nvSpPr>
          <p:cNvPr id="4" name="Content Placeholder 3">
            <a:extLst>
              <a:ext uri="{FF2B5EF4-FFF2-40B4-BE49-F238E27FC236}">
                <a16:creationId xmlns:a16="http://schemas.microsoft.com/office/drawing/2014/main" id="{8E11BC70-6731-DDED-1F30-28136B35D3B5}"/>
              </a:ext>
            </a:extLst>
          </p:cNvPr>
          <p:cNvSpPr>
            <a:spLocks noGrp="1"/>
          </p:cNvSpPr>
          <p:nvPr>
            <p:ph sz="half" idx="2"/>
          </p:nvPr>
        </p:nvSpPr>
        <p:spPr>
          <a:xfrm>
            <a:off x="7269905" y="2176036"/>
            <a:ext cx="4261104" cy="4121887"/>
          </a:xfrm>
        </p:spPr>
        <p:txBody>
          <a:bodyPr vert="horz" lIns="91440" tIns="45720" rIns="91440" bIns="45720" rtlCol="0">
            <a:normAutofit/>
          </a:bodyPr>
          <a:lstStyle/>
          <a:p>
            <a:r>
              <a:rPr lang="en-US"/>
              <a:t>Data Extraction from APIs</a:t>
            </a:r>
          </a:p>
          <a:p>
            <a:r>
              <a:rPr lang="en-US"/>
              <a:t>Automating Data Extraction</a:t>
            </a:r>
          </a:p>
          <a:p>
            <a:r>
              <a:rPr lang="en-US"/>
              <a:t>Case Studies and Applications of Data Extraction</a:t>
            </a:r>
          </a:p>
        </p:txBody>
      </p:sp>
      <p:sp>
        <p:nvSpPr>
          <p:cNvPr id="3" name="Slide Number Placeholder 2">
            <a:extLst>
              <a:ext uri="{FF2B5EF4-FFF2-40B4-BE49-F238E27FC236}">
                <a16:creationId xmlns:a16="http://schemas.microsoft.com/office/drawing/2014/main" id="{22D62C45-AFA9-199D-5554-70345CD087C3}"/>
              </a:ext>
            </a:extLst>
          </p:cNvPr>
          <p:cNvSpPr>
            <a:spLocks noGrp="1"/>
          </p:cNvSpPr>
          <p:nvPr>
            <p:ph type="sldNum" sz="quarter" idx="12"/>
          </p:nvPr>
        </p:nvSpPr>
        <p:spPr/>
        <p:txBody>
          <a:bodyPr/>
          <a:lstStyle/>
          <a:p>
            <a:fld id="{70C12960-6E85-460F-B6E3-5B82CB31AF3D}" type="slidenum">
              <a:rPr lang="en-US" smtClean="0"/>
              <a:t>2</a:t>
            </a:fld>
            <a:endParaRPr lang="en-US"/>
          </a:p>
        </p:txBody>
      </p:sp>
    </p:spTree>
    <p:extLst>
      <p:ext uri="{BB962C8B-B14F-4D97-AF65-F5344CB8AC3E}">
        <p14:creationId xmlns:p14="http://schemas.microsoft.com/office/powerpoint/2010/main" val="851167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C5C8DBC8-43C1-4483-994B-9299AA18DEBA}"/>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Data Extraction from APIs</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08360E6D-B061-7458-C827-B4DC795C846A}"/>
              </a:ext>
            </a:extLst>
          </p:cNvPr>
          <p:cNvSpPr>
            <a:spLocks noGrp="1"/>
          </p:cNvSpPr>
          <p:nvPr>
            <p:ph type="sldNum" sz="quarter" idx="12"/>
          </p:nvPr>
        </p:nvSpPr>
        <p:spPr/>
        <p:txBody>
          <a:bodyPr/>
          <a:lstStyle/>
          <a:p>
            <a:fld id="{70C12960-6E85-460F-B6E3-5B82CB31AF3D}" type="slidenum">
              <a:rPr lang="en-US" smtClean="0"/>
              <a:t>3</a:t>
            </a:fld>
            <a:endParaRPr lang="en-US"/>
          </a:p>
        </p:txBody>
      </p:sp>
    </p:spTree>
    <p:extLst>
      <p:ext uri="{BB962C8B-B14F-4D97-AF65-F5344CB8AC3E}">
        <p14:creationId xmlns:p14="http://schemas.microsoft.com/office/powerpoint/2010/main" val="10984771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esktop computers connected in a network.See all my">
            <a:extLst>
              <a:ext uri="{FF2B5EF4-FFF2-40B4-BE49-F238E27FC236}">
                <a16:creationId xmlns:a16="http://schemas.microsoft.com/office/drawing/2014/main" id="{F30BF28F-5D52-4D2A-B871-E7BEB7FB003E}"/>
              </a:ext>
            </a:extLst>
          </p:cNvPr>
          <p:cNvPicPr>
            <a:picLocks noGrp="1" noChangeAspect="1"/>
          </p:cNvPicPr>
          <p:nvPr>
            <p:ph sz="half" idx="1"/>
          </p:nvPr>
        </p:nvPicPr>
        <p:blipFill>
          <a:blip r:embed="rId3"/>
          <a:srcRect l="2149" r="4586"/>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1B23EB7-9D14-A56C-A6D6-EED219ABE1DC}"/>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600"/>
              <a:t>Introduction to APIs</a:t>
            </a:r>
          </a:p>
        </p:txBody>
      </p:sp>
      <p:sp>
        <p:nvSpPr>
          <p:cNvPr id="4" name="Content Placeholder 3">
            <a:extLst>
              <a:ext uri="{FF2B5EF4-FFF2-40B4-BE49-F238E27FC236}">
                <a16:creationId xmlns:a16="http://schemas.microsoft.com/office/drawing/2014/main" id="{BB9406A0-00C6-EC89-0F62-792E42BC505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What are APIs?</a:t>
            </a:r>
          </a:p>
          <a:p>
            <a:pPr marL="0" lvl="1" indent="0">
              <a:buNone/>
            </a:pPr>
            <a:r>
              <a:rPr lang="en-US" sz="1400"/>
              <a:t>APIs, or Application Programming Interfaces, are a set of protocols, routines, and tools for building software and applications. They allow applications to communicate with each other and exchange data.</a:t>
            </a:r>
          </a:p>
          <a:p>
            <a:pPr marL="0" indent="0">
              <a:spcBef>
                <a:spcPts val="2500"/>
              </a:spcBef>
              <a:buNone/>
            </a:pPr>
            <a:r>
              <a:rPr lang="en-US" sz="1400" b="1"/>
              <a:t>How do APIs work?</a:t>
            </a:r>
          </a:p>
          <a:p>
            <a:pPr marL="0" lvl="1" indent="0">
              <a:buNone/>
            </a:pPr>
            <a:r>
              <a:rPr lang="en-US" sz="1400"/>
              <a:t>APIs work by establishing a connection between two applications and allowing them to exchange data in a standardized format. This connection is usually made using a set of protocols, such as HTTP, REST, or SOAP.</a:t>
            </a:r>
            <a:endParaRPr lang="en-IN" sz="1400"/>
          </a:p>
        </p:txBody>
      </p:sp>
      <p:sp>
        <p:nvSpPr>
          <p:cNvPr id="3" name="Slide Number Placeholder 2">
            <a:extLst>
              <a:ext uri="{FF2B5EF4-FFF2-40B4-BE49-F238E27FC236}">
                <a16:creationId xmlns:a16="http://schemas.microsoft.com/office/drawing/2014/main" id="{BB5205EB-7600-5372-E3B4-DC2743F53A45}"/>
              </a:ext>
            </a:extLst>
          </p:cNvPr>
          <p:cNvSpPr>
            <a:spLocks noGrp="1"/>
          </p:cNvSpPr>
          <p:nvPr>
            <p:ph type="sldNum" sz="quarter" idx="12"/>
          </p:nvPr>
        </p:nvSpPr>
        <p:spPr/>
        <p:txBody>
          <a:bodyPr/>
          <a:lstStyle/>
          <a:p>
            <a:fld id="{70C12960-6E85-460F-B6E3-5B82CB31AF3D}" type="slidenum">
              <a:rPr lang="en-US" smtClean="0"/>
              <a:t>4</a:t>
            </a:fld>
            <a:endParaRPr lang="en-US"/>
          </a:p>
        </p:txBody>
      </p:sp>
    </p:spTree>
    <p:extLst>
      <p:ext uri="{BB962C8B-B14F-4D97-AF65-F5344CB8AC3E}">
        <p14:creationId xmlns:p14="http://schemas.microsoft.com/office/powerpoint/2010/main" val="25773531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mputer Network Cyber Security Concept">
            <a:extLst>
              <a:ext uri="{FF2B5EF4-FFF2-40B4-BE49-F238E27FC236}">
                <a16:creationId xmlns:a16="http://schemas.microsoft.com/office/drawing/2014/main" id="{CC7EB45B-87A0-4DE5-A9D9-A737DC5E1C8C}"/>
              </a:ext>
            </a:extLst>
          </p:cNvPr>
          <p:cNvPicPr>
            <a:picLocks noGrp="1" noChangeAspect="1"/>
          </p:cNvPicPr>
          <p:nvPr>
            <p:ph sz="half" idx="1"/>
          </p:nvPr>
        </p:nvPicPr>
        <p:blipFill>
          <a:blip r:embed="rId3"/>
          <a:srcRect l="21078" r="22266" b="-2"/>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63445AC-338E-5878-7A91-253A33983081}"/>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Extracting data via REST APIs</a:t>
            </a:r>
          </a:p>
        </p:txBody>
      </p:sp>
      <p:sp>
        <p:nvSpPr>
          <p:cNvPr id="4" name="Content Placeholder 3">
            <a:extLst>
              <a:ext uri="{FF2B5EF4-FFF2-40B4-BE49-F238E27FC236}">
                <a16:creationId xmlns:a16="http://schemas.microsoft.com/office/drawing/2014/main" id="{3E6852B1-8A98-0A5B-73D1-DEBF19EB739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What are REST APIs?</a:t>
            </a:r>
          </a:p>
          <a:p>
            <a:pPr marL="0" lvl="1" indent="0">
              <a:buNone/>
            </a:pPr>
            <a:r>
              <a:rPr lang="en-US" sz="1400"/>
              <a:t>REST APIs are a common type of API used for data extraction. They use HTTP requests to communicate with servers and retrieve data in a standardized way.</a:t>
            </a:r>
          </a:p>
          <a:p>
            <a:pPr marL="0" indent="0">
              <a:spcBef>
                <a:spcPts val="2500"/>
              </a:spcBef>
              <a:buNone/>
            </a:pPr>
            <a:r>
              <a:rPr lang="en-US" sz="1400" b="1"/>
              <a:t>Data Extraction via REST APIs</a:t>
            </a:r>
          </a:p>
          <a:p>
            <a:pPr marL="0" lvl="1" indent="0">
              <a:buNone/>
            </a:pPr>
            <a:r>
              <a:rPr lang="en-US" sz="1400"/>
              <a:t>Data can be extracted via REST APIs by making HTTP requests to the server and receiving data in a standardized format such as JSON or XML.</a:t>
            </a:r>
          </a:p>
          <a:p>
            <a:pPr marL="0" indent="0">
              <a:spcBef>
                <a:spcPts val="2500"/>
              </a:spcBef>
              <a:buNone/>
            </a:pPr>
            <a:r>
              <a:rPr lang="en-US" sz="1400" b="1"/>
              <a:t>Tools for Extracting Data via REST APIs</a:t>
            </a:r>
          </a:p>
          <a:p>
            <a:pPr marL="0" lvl="1" indent="0">
              <a:buNone/>
            </a:pPr>
            <a:r>
              <a:rPr lang="en-US" sz="1400"/>
              <a:t>There are several tools available for extracting data via REST APIs, such as Postman, cURL, and Python libraries like Requests and Beautiful Soup.</a:t>
            </a:r>
            <a:endParaRPr lang="en-IN" sz="1400"/>
          </a:p>
        </p:txBody>
      </p:sp>
      <p:sp>
        <p:nvSpPr>
          <p:cNvPr id="3" name="Slide Number Placeholder 2">
            <a:extLst>
              <a:ext uri="{FF2B5EF4-FFF2-40B4-BE49-F238E27FC236}">
                <a16:creationId xmlns:a16="http://schemas.microsoft.com/office/drawing/2014/main" id="{D990F8A2-202D-057C-79AB-273E0408E3DD}"/>
              </a:ext>
            </a:extLst>
          </p:cNvPr>
          <p:cNvSpPr>
            <a:spLocks noGrp="1"/>
          </p:cNvSpPr>
          <p:nvPr>
            <p:ph type="sldNum" sz="quarter" idx="12"/>
          </p:nvPr>
        </p:nvSpPr>
        <p:spPr/>
        <p:txBody>
          <a:bodyPr/>
          <a:lstStyle/>
          <a:p>
            <a:fld id="{70C12960-6E85-460F-B6E3-5B82CB31AF3D}" type="slidenum">
              <a:rPr lang="en-US" smtClean="0"/>
              <a:t>5</a:t>
            </a:fld>
            <a:endParaRPr lang="en-US"/>
          </a:p>
        </p:txBody>
      </p:sp>
    </p:spTree>
    <p:extLst>
      <p:ext uri="{BB962C8B-B14F-4D97-AF65-F5344CB8AC3E}">
        <p14:creationId xmlns:p14="http://schemas.microsoft.com/office/powerpoint/2010/main" val="4280477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4K Resolution">
            <a:extLst>
              <a:ext uri="{FF2B5EF4-FFF2-40B4-BE49-F238E27FC236}">
                <a16:creationId xmlns:a16="http://schemas.microsoft.com/office/drawing/2014/main" id="{E69FDDBB-57EB-45E5-91AC-E2FCD0D3510B}"/>
              </a:ext>
            </a:extLst>
          </p:cNvPr>
          <p:cNvPicPr>
            <a:picLocks noGrp="1" noChangeAspect="1"/>
          </p:cNvPicPr>
          <p:nvPr>
            <p:ph sz="half" idx="1"/>
          </p:nvPr>
        </p:nvPicPr>
        <p:blipFill>
          <a:blip r:embed="rId3"/>
          <a:srcRect l="26662" r="26984" b="-2"/>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A4978FF-3455-10CA-DCBA-269DDDEC41AC}"/>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Using tools for API data extraction</a:t>
            </a:r>
          </a:p>
        </p:txBody>
      </p:sp>
      <p:sp>
        <p:nvSpPr>
          <p:cNvPr id="4" name="Content Placeholder 3">
            <a:extLst>
              <a:ext uri="{FF2B5EF4-FFF2-40B4-BE49-F238E27FC236}">
                <a16:creationId xmlns:a16="http://schemas.microsoft.com/office/drawing/2014/main" id="{71D5D24A-23D1-C264-E4B9-CD5C8FA0059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Requests Library</a:t>
            </a:r>
          </a:p>
          <a:p>
            <a:pPr marL="0" lvl="1" indent="0">
              <a:buNone/>
            </a:pPr>
            <a:r>
              <a:rPr lang="en-US" sz="1400"/>
              <a:t>Requests is a Python library used for making HTTP requests to web services. It is a simple yet powerful tool for API data extraction.</a:t>
            </a:r>
          </a:p>
          <a:p>
            <a:pPr marL="0" indent="0">
              <a:spcBef>
                <a:spcPts val="2500"/>
              </a:spcBef>
              <a:buNone/>
            </a:pPr>
            <a:r>
              <a:rPr lang="en-US" sz="1400" b="1"/>
              <a:t>Beautiful Soup</a:t>
            </a:r>
          </a:p>
          <a:p>
            <a:pPr marL="0" lvl="1" indent="0">
              <a:buNone/>
            </a:pPr>
            <a:r>
              <a:rPr lang="en-US" sz="1400"/>
              <a:t>Beautiful Soup is a Python library used for web scraping and parsing HTML and XML documents. It is commonly used for extracting data from web pages and APIs.</a:t>
            </a:r>
          </a:p>
          <a:p>
            <a:pPr marL="0" indent="0">
              <a:spcBef>
                <a:spcPts val="2500"/>
              </a:spcBef>
              <a:buNone/>
            </a:pPr>
            <a:r>
              <a:rPr lang="en-US" sz="1400" b="1"/>
              <a:t>Postman</a:t>
            </a:r>
          </a:p>
          <a:p>
            <a:pPr marL="0" lvl="1" indent="0">
              <a:buNone/>
            </a:pPr>
            <a:r>
              <a:rPr lang="en-US" sz="1400"/>
              <a:t>Postman is a commercial tool used for testing, documenting, and debugging APIs. It provides a user-friendly interface for making API requests and analyzing responses.</a:t>
            </a:r>
            <a:endParaRPr lang="en-IN" sz="1400"/>
          </a:p>
        </p:txBody>
      </p:sp>
      <p:sp>
        <p:nvSpPr>
          <p:cNvPr id="3" name="Slide Number Placeholder 2">
            <a:extLst>
              <a:ext uri="{FF2B5EF4-FFF2-40B4-BE49-F238E27FC236}">
                <a16:creationId xmlns:a16="http://schemas.microsoft.com/office/drawing/2014/main" id="{6AB12308-DBAF-F635-914A-E72CC4A84C31}"/>
              </a:ext>
            </a:extLst>
          </p:cNvPr>
          <p:cNvSpPr>
            <a:spLocks noGrp="1"/>
          </p:cNvSpPr>
          <p:nvPr>
            <p:ph type="sldNum" sz="quarter" idx="12"/>
          </p:nvPr>
        </p:nvSpPr>
        <p:spPr/>
        <p:txBody>
          <a:bodyPr/>
          <a:lstStyle/>
          <a:p>
            <a:fld id="{70C12960-6E85-460F-B6E3-5B82CB31AF3D}" type="slidenum">
              <a:rPr lang="en-US" smtClean="0"/>
              <a:t>6</a:t>
            </a:fld>
            <a:endParaRPr lang="en-US"/>
          </a:p>
        </p:txBody>
      </p:sp>
    </p:spTree>
    <p:extLst>
      <p:ext uri="{BB962C8B-B14F-4D97-AF65-F5344CB8AC3E}">
        <p14:creationId xmlns:p14="http://schemas.microsoft.com/office/powerpoint/2010/main" val="41937420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gital technology concept">
            <a:extLst>
              <a:ext uri="{FF2B5EF4-FFF2-40B4-BE49-F238E27FC236}">
                <a16:creationId xmlns:a16="http://schemas.microsoft.com/office/drawing/2014/main" id="{06A7C29B-692D-4D2F-93C8-B1DF8A056833}"/>
              </a:ext>
            </a:extLst>
          </p:cNvPr>
          <p:cNvPicPr>
            <a:picLocks noGrp="1" noChangeAspect="1"/>
          </p:cNvPicPr>
          <p:nvPr>
            <p:ph sz="half" idx="1"/>
          </p:nvPr>
        </p:nvPicPr>
        <p:blipFill>
          <a:blip r:embed="rId3"/>
          <a:srcRect l="40154" r="13441" b="-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51A8BD7-42B0-C0F9-2619-F8D4277C47C2}"/>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Challenges in API data extraction</a:t>
            </a:r>
          </a:p>
        </p:txBody>
      </p:sp>
      <p:sp>
        <p:nvSpPr>
          <p:cNvPr id="4" name="Content Placeholder 3">
            <a:extLst>
              <a:ext uri="{FF2B5EF4-FFF2-40B4-BE49-F238E27FC236}">
                <a16:creationId xmlns:a16="http://schemas.microsoft.com/office/drawing/2014/main" id="{A9F7CBD4-0D66-69CA-350A-5F336E264A7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Rate Limiting</a:t>
            </a:r>
          </a:p>
          <a:p>
            <a:pPr marL="0" lvl="1" indent="0">
              <a:buNone/>
            </a:pPr>
            <a:r>
              <a:rPr lang="en-US" sz="1400"/>
              <a:t>APIs can limit the number of requests you can make in a given time period, known as rate limiting. This can slow down data extraction and even cause errors.</a:t>
            </a:r>
          </a:p>
          <a:p>
            <a:pPr marL="0" indent="0">
              <a:spcBef>
                <a:spcPts val="2500"/>
              </a:spcBef>
              <a:buNone/>
            </a:pPr>
            <a:r>
              <a:rPr lang="en-US" sz="1400" b="1"/>
              <a:t>Authentication</a:t>
            </a:r>
          </a:p>
          <a:p>
            <a:pPr marL="0" lvl="1" indent="0">
              <a:buNone/>
            </a:pPr>
            <a:r>
              <a:rPr lang="en-US" sz="1400"/>
              <a:t>APIs often require authentication, which can involve complex processes such as OAuth. Implementing authentication can be challenging, and errors can occur if it is not done correctly.</a:t>
            </a:r>
          </a:p>
          <a:p>
            <a:pPr marL="0" indent="0">
              <a:spcBef>
                <a:spcPts val="2500"/>
              </a:spcBef>
              <a:buNone/>
            </a:pPr>
            <a:r>
              <a:rPr lang="en-US" sz="1400" b="1"/>
              <a:t>Handling Errors</a:t>
            </a:r>
          </a:p>
          <a:p>
            <a:pPr marL="0" lvl="1" indent="0">
              <a:buNone/>
            </a:pPr>
            <a:r>
              <a:rPr lang="en-US" sz="1400"/>
              <a:t>API data extraction can be prone to errors, such as network errors, server errors, and data parsing errors. Proper error handling is necessary to ensure that the data extraction process is reliable and error-free.</a:t>
            </a:r>
            <a:endParaRPr lang="en-IN" sz="1400"/>
          </a:p>
        </p:txBody>
      </p:sp>
      <p:sp>
        <p:nvSpPr>
          <p:cNvPr id="3" name="Slide Number Placeholder 2">
            <a:extLst>
              <a:ext uri="{FF2B5EF4-FFF2-40B4-BE49-F238E27FC236}">
                <a16:creationId xmlns:a16="http://schemas.microsoft.com/office/drawing/2014/main" id="{F95816EA-7FDE-E6D9-AB36-D0A9BEE35B8B}"/>
              </a:ext>
            </a:extLst>
          </p:cNvPr>
          <p:cNvSpPr>
            <a:spLocks noGrp="1"/>
          </p:cNvSpPr>
          <p:nvPr>
            <p:ph type="sldNum" sz="quarter" idx="12"/>
          </p:nvPr>
        </p:nvSpPr>
        <p:spPr/>
        <p:txBody>
          <a:bodyPr/>
          <a:lstStyle/>
          <a:p>
            <a:fld id="{70C12960-6E85-460F-B6E3-5B82CB31AF3D}" type="slidenum">
              <a:rPr lang="en-US" smtClean="0"/>
              <a:t>7</a:t>
            </a:fld>
            <a:endParaRPr lang="en-US"/>
          </a:p>
        </p:txBody>
      </p:sp>
    </p:spTree>
    <p:extLst>
      <p:ext uri="{BB962C8B-B14F-4D97-AF65-F5344CB8AC3E}">
        <p14:creationId xmlns:p14="http://schemas.microsoft.com/office/powerpoint/2010/main" val="14268332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20E8F877-9DB0-6AA5-1B59-415AE307B523}"/>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Automating Data Extraction</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F093374-D1E6-E506-50B0-454C420DBC40}"/>
              </a:ext>
            </a:extLst>
          </p:cNvPr>
          <p:cNvSpPr>
            <a:spLocks noGrp="1"/>
          </p:cNvSpPr>
          <p:nvPr>
            <p:ph type="sldNum" sz="quarter" idx="12"/>
          </p:nvPr>
        </p:nvSpPr>
        <p:spPr/>
        <p:txBody>
          <a:bodyPr/>
          <a:lstStyle/>
          <a:p>
            <a:fld id="{70C12960-6E85-460F-B6E3-5B82CB31AF3D}" type="slidenum">
              <a:rPr lang="en-US" smtClean="0"/>
              <a:t>8</a:t>
            </a:fld>
            <a:endParaRPr lang="en-US"/>
          </a:p>
        </p:txBody>
      </p:sp>
    </p:spTree>
    <p:extLst>
      <p:ext uri="{BB962C8B-B14F-4D97-AF65-F5344CB8AC3E}">
        <p14:creationId xmlns:p14="http://schemas.microsoft.com/office/powerpoint/2010/main" val="32105451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Robotic arms">
            <a:extLst>
              <a:ext uri="{FF2B5EF4-FFF2-40B4-BE49-F238E27FC236}">
                <a16:creationId xmlns:a16="http://schemas.microsoft.com/office/drawing/2014/main" id="{E8849071-D733-4C8C-B617-AC86BE51873A}"/>
              </a:ext>
            </a:extLst>
          </p:cNvPr>
          <p:cNvPicPr>
            <a:picLocks noGrp="1" noChangeAspect="1"/>
          </p:cNvPicPr>
          <p:nvPr>
            <p:ph sz="half" idx="1"/>
          </p:nvPr>
        </p:nvPicPr>
        <p:blipFill>
          <a:blip r:embed="rId3"/>
          <a:srcRect l="14565" r="28306" b="1"/>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D665CE9-01F6-A2F8-B811-882D9CCEF136}"/>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Tools for Automation</a:t>
            </a:r>
          </a:p>
        </p:txBody>
      </p:sp>
      <p:sp>
        <p:nvSpPr>
          <p:cNvPr id="4" name="Content Placeholder 3">
            <a:extLst>
              <a:ext uri="{FF2B5EF4-FFF2-40B4-BE49-F238E27FC236}">
                <a16:creationId xmlns:a16="http://schemas.microsoft.com/office/drawing/2014/main" id="{9695FBE5-0D4D-767E-C676-3182C00A596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lnSpc>
                <a:spcPct val="110000"/>
              </a:lnSpc>
              <a:spcBef>
                <a:spcPts val="2500"/>
              </a:spcBef>
              <a:buNone/>
            </a:pPr>
            <a:r>
              <a:rPr lang="en-US" sz="1400" b="1"/>
              <a:t>Selenium</a:t>
            </a:r>
          </a:p>
          <a:p>
            <a:pPr marL="0" lvl="1" indent="0">
              <a:lnSpc>
                <a:spcPct val="110000"/>
              </a:lnSpc>
              <a:buNone/>
            </a:pPr>
            <a:r>
              <a:rPr lang="en-US" sz="1400"/>
              <a:t>Selenium is a popular web scraping tool for automating data extraction from web pages. It is an open-source tool and supports various programming languages, making it a go-to choice for many developers.</a:t>
            </a:r>
          </a:p>
          <a:p>
            <a:pPr marL="0" indent="0">
              <a:lnSpc>
                <a:spcPct val="110000"/>
              </a:lnSpc>
              <a:spcBef>
                <a:spcPts val="2500"/>
              </a:spcBef>
              <a:buNone/>
            </a:pPr>
            <a:r>
              <a:rPr lang="en-US" sz="1400" b="1"/>
              <a:t>BeautifulSoup and Scrapy</a:t>
            </a:r>
          </a:p>
          <a:p>
            <a:pPr marL="0" lvl="1" indent="0">
              <a:lnSpc>
                <a:spcPct val="110000"/>
              </a:lnSpc>
              <a:buNone/>
            </a:pPr>
            <a:r>
              <a:rPr lang="en-US" sz="1400"/>
              <a:t>BeautifulSoup and Scrapy are Python libraries used for web scraping and data extraction. They are easy to use and provide powerful tools for parsing HTML and XML documents.</a:t>
            </a:r>
          </a:p>
          <a:p>
            <a:pPr marL="0" indent="0">
              <a:lnSpc>
                <a:spcPct val="110000"/>
              </a:lnSpc>
              <a:spcBef>
                <a:spcPts val="2500"/>
              </a:spcBef>
              <a:buNone/>
            </a:pPr>
            <a:r>
              <a:rPr lang="en-US" sz="1400" b="1"/>
              <a:t>UiPath and Automation Anywhere</a:t>
            </a:r>
          </a:p>
          <a:p>
            <a:pPr marL="0" lvl="1" indent="0">
              <a:lnSpc>
                <a:spcPct val="110000"/>
              </a:lnSpc>
              <a:buNone/>
            </a:pPr>
            <a:r>
              <a:rPr lang="en-US" sz="1400"/>
              <a:t>UiPath and Automation Anywhere are popular commercial tools used for automating repetitive tasks. They provide a range of features for automating various processes, including data extraction, data processing, and report generation.</a:t>
            </a:r>
            <a:endParaRPr lang="en-IN" sz="1400"/>
          </a:p>
        </p:txBody>
      </p:sp>
      <p:sp>
        <p:nvSpPr>
          <p:cNvPr id="3" name="Slide Number Placeholder 2">
            <a:extLst>
              <a:ext uri="{FF2B5EF4-FFF2-40B4-BE49-F238E27FC236}">
                <a16:creationId xmlns:a16="http://schemas.microsoft.com/office/drawing/2014/main" id="{97F0AA03-5AFF-C637-E2FE-6A5C686B821D}"/>
              </a:ext>
            </a:extLst>
          </p:cNvPr>
          <p:cNvSpPr>
            <a:spLocks noGrp="1"/>
          </p:cNvSpPr>
          <p:nvPr>
            <p:ph type="sldNum" sz="quarter" idx="12"/>
          </p:nvPr>
        </p:nvSpPr>
        <p:spPr/>
        <p:txBody>
          <a:bodyPr/>
          <a:lstStyle/>
          <a:p>
            <a:fld id="{70C12960-6E85-460F-B6E3-5B82CB31AF3D}" type="slidenum">
              <a:rPr lang="en-US" smtClean="0"/>
              <a:t>9</a:t>
            </a:fld>
            <a:endParaRPr lang="en-US"/>
          </a:p>
        </p:txBody>
      </p:sp>
    </p:spTree>
    <p:extLst>
      <p:ext uri="{BB962C8B-B14F-4D97-AF65-F5344CB8AC3E}">
        <p14:creationId xmlns:p14="http://schemas.microsoft.com/office/powerpoint/2010/main" val="22920321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Illustration of programming code">
            <a:extLst>
              <a:ext uri="{FF2B5EF4-FFF2-40B4-BE49-F238E27FC236}">
                <a16:creationId xmlns:a16="http://schemas.microsoft.com/office/drawing/2014/main" id="{0B77FC74-276A-463C-97C5-E15717624590}"/>
              </a:ext>
            </a:extLst>
          </p:cNvPr>
          <p:cNvPicPr>
            <a:picLocks noGrp="1" noChangeAspect="1"/>
          </p:cNvPicPr>
          <p:nvPr>
            <p:ph sz="half" idx="1"/>
          </p:nvPr>
        </p:nvPicPr>
        <p:blipFill>
          <a:blip r:embed="rId3"/>
          <a:srcRect l="12986" r="19972" b="1"/>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BF64E7F-A95F-4E37-98B3-19F8B0AF1B98}"/>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Challenges in Automation</a:t>
            </a:r>
          </a:p>
        </p:txBody>
      </p:sp>
      <p:sp>
        <p:nvSpPr>
          <p:cNvPr id="4" name="Content Placeholder 3">
            <a:extLst>
              <a:ext uri="{FF2B5EF4-FFF2-40B4-BE49-F238E27FC236}">
                <a16:creationId xmlns:a16="http://schemas.microsoft.com/office/drawing/2014/main" id="{5F9408DF-41E3-73DE-A8FC-2FA07030DE0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Handling Complex Websites</a:t>
            </a:r>
          </a:p>
          <a:p>
            <a:pPr marL="0" lvl="1" indent="0">
              <a:buNone/>
            </a:pPr>
            <a:r>
              <a:rPr lang="en-US" sz="1400"/>
              <a:t>Automating data extraction from complex websites can be challenging due to the complexity of web pages and the variable nature of the data. Some websites may have dynamic content that changes frequently, making it difficult to extract data accurately.</a:t>
            </a:r>
          </a:p>
          <a:p>
            <a:pPr marL="0" indent="0">
              <a:spcBef>
                <a:spcPts val="2500"/>
              </a:spcBef>
              <a:buNone/>
            </a:pPr>
            <a:r>
              <a:rPr lang="en-US" sz="1400" b="1"/>
              <a:t>Managing Cookies and Sessions</a:t>
            </a:r>
          </a:p>
          <a:p>
            <a:pPr marL="0" lvl="1" indent="0">
              <a:buNone/>
            </a:pPr>
            <a:r>
              <a:rPr lang="en-US" sz="1400"/>
              <a:t>Cookies and sessions are used by websites to store user data and maintain session state. When automating data extraction, it is important to manage cookies and sessions properly to avoid detection and ensure that data is extracted accurately.</a:t>
            </a:r>
          </a:p>
          <a:p>
            <a:pPr marL="0" indent="0">
              <a:spcBef>
                <a:spcPts val="2500"/>
              </a:spcBef>
              <a:buNone/>
            </a:pPr>
            <a:r>
              <a:rPr lang="en-US" sz="1400" b="1"/>
              <a:t>Avoiding Detection</a:t>
            </a:r>
          </a:p>
          <a:p>
            <a:pPr marL="0" lvl="1" indent="0">
              <a:buNone/>
            </a:pPr>
            <a:r>
              <a:rPr lang="en-US" sz="1400"/>
              <a:t>Websites may use anti-automation techniques to detect and block automated data extraction. It is important to use techniques such as rotating IP addresses and user agents to avoid detection and ensure that data is extracted accurately.</a:t>
            </a:r>
            <a:endParaRPr lang="en-IN" sz="1400"/>
          </a:p>
        </p:txBody>
      </p:sp>
      <p:sp>
        <p:nvSpPr>
          <p:cNvPr id="3" name="Slide Number Placeholder 2">
            <a:extLst>
              <a:ext uri="{FF2B5EF4-FFF2-40B4-BE49-F238E27FC236}">
                <a16:creationId xmlns:a16="http://schemas.microsoft.com/office/drawing/2014/main" id="{71C014D5-CFB0-61FD-3CFA-913C24E693AC}"/>
              </a:ext>
            </a:extLst>
          </p:cNvPr>
          <p:cNvSpPr>
            <a:spLocks noGrp="1"/>
          </p:cNvSpPr>
          <p:nvPr>
            <p:ph type="sldNum" sz="quarter" idx="12"/>
          </p:nvPr>
        </p:nvSpPr>
        <p:spPr/>
        <p:txBody>
          <a:bodyPr/>
          <a:lstStyle/>
          <a:p>
            <a:fld id="{70C12960-6E85-460F-B6E3-5B82CB31AF3D}" type="slidenum">
              <a:rPr lang="en-US" smtClean="0"/>
              <a:t>10</a:t>
            </a:fld>
            <a:endParaRPr lang="en-US"/>
          </a:p>
        </p:txBody>
      </p:sp>
    </p:spTree>
    <p:extLst>
      <p:ext uri="{BB962C8B-B14F-4D97-AF65-F5344CB8AC3E}">
        <p14:creationId xmlns:p14="http://schemas.microsoft.com/office/powerpoint/2010/main" val="8464547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210B9680-25B8-A15F-32FC-A48ED5508ACA}"/>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Case Studies and Applications of Data Extraction</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67483E37-33F9-5635-7992-1B5EB4F938A8}"/>
              </a:ext>
            </a:extLst>
          </p:cNvPr>
          <p:cNvSpPr>
            <a:spLocks noGrp="1"/>
          </p:cNvSpPr>
          <p:nvPr>
            <p:ph type="sldNum" sz="quarter" idx="12"/>
          </p:nvPr>
        </p:nvSpPr>
        <p:spPr/>
        <p:txBody>
          <a:bodyPr/>
          <a:lstStyle/>
          <a:p>
            <a:fld id="{70C12960-6E85-460F-B6E3-5B82CB31AF3D}" type="slidenum">
              <a:rPr lang="en-US" smtClean="0"/>
              <a:t>11</a:t>
            </a:fld>
            <a:endParaRPr lang="en-US"/>
          </a:p>
        </p:txBody>
      </p:sp>
    </p:spTree>
    <p:extLst>
      <p:ext uri="{BB962C8B-B14F-4D97-AF65-F5344CB8AC3E}">
        <p14:creationId xmlns:p14="http://schemas.microsoft.com/office/powerpoint/2010/main" val="5228296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Big data internet technology">
            <a:extLst>
              <a:ext uri="{FF2B5EF4-FFF2-40B4-BE49-F238E27FC236}">
                <a16:creationId xmlns:a16="http://schemas.microsoft.com/office/drawing/2014/main" id="{72BD50B0-A779-4E2F-86B9-FA6F447FE586}"/>
              </a:ext>
            </a:extLst>
          </p:cNvPr>
          <p:cNvPicPr>
            <a:picLocks noGrp="1" noChangeAspect="1"/>
          </p:cNvPicPr>
          <p:nvPr>
            <p:ph sz="half" idx="1"/>
          </p:nvPr>
        </p:nvPicPr>
        <p:blipFill>
          <a:blip r:embed="rId3"/>
          <a:srcRect l="10427" r="7077" b="1"/>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B1F6C47-41D2-B185-BA00-1DFA6351B63A}"/>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Real-world examples</a:t>
            </a:r>
          </a:p>
        </p:txBody>
      </p:sp>
      <p:sp>
        <p:nvSpPr>
          <p:cNvPr id="4" name="Content Placeholder 3">
            <a:extLst>
              <a:ext uri="{FF2B5EF4-FFF2-40B4-BE49-F238E27FC236}">
                <a16:creationId xmlns:a16="http://schemas.microsoft.com/office/drawing/2014/main" id="{65CF9D5D-2E90-5517-2F8B-6970ACDBCF9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Price Monitoring</a:t>
            </a:r>
          </a:p>
          <a:p>
            <a:pPr marL="0" lvl="1" indent="0">
              <a:buNone/>
            </a:pPr>
            <a:r>
              <a:rPr lang="en-US" sz="1400"/>
              <a:t>Large-scale data extraction can be used to monitor prices in various industries, including e-commerce, retail, and travel, allowing businesses to monitor competitor pricing and adjust their own pricing strategies accordingly.</a:t>
            </a:r>
          </a:p>
          <a:p>
            <a:pPr marL="0" indent="0">
              <a:spcBef>
                <a:spcPts val="2500"/>
              </a:spcBef>
              <a:buNone/>
            </a:pPr>
            <a:r>
              <a:rPr lang="en-US" sz="1400" b="1"/>
              <a:t>Lead Generation</a:t>
            </a:r>
          </a:p>
          <a:p>
            <a:pPr marL="0" lvl="1" indent="0">
              <a:buNone/>
            </a:pPr>
            <a:r>
              <a:rPr lang="en-US" sz="1400"/>
              <a:t>Data extraction can be used to identify potential customers and generate leads for businesses across various industries, including real estate, healthcare, and finance.</a:t>
            </a:r>
          </a:p>
          <a:p>
            <a:pPr marL="0" indent="0">
              <a:spcBef>
                <a:spcPts val="2500"/>
              </a:spcBef>
              <a:buNone/>
            </a:pPr>
            <a:r>
              <a:rPr lang="en-US" sz="1400" b="1"/>
              <a:t>Sentiment Analysis</a:t>
            </a:r>
          </a:p>
          <a:p>
            <a:pPr marL="0" lvl="1" indent="0">
              <a:buNone/>
            </a:pPr>
            <a:r>
              <a:rPr lang="en-US" sz="1400"/>
              <a:t>Data extraction can be used to collect and analyze large amounts of data from social media and other sources to gain insights into customer sentiment and preferences, allowing businesses to make data-driven decisions.</a:t>
            </a:r>
            <a:endParaRPr lang="en-IN" sz="1400"/>
          </a:p>
        </p:txBody>
      </p:sp>
      <p:sp>
        <p:nvSpPr>
          <p:cNvPr id="3" name="Slide Number Placeholder 2">
            <a:extLst>
              <a:ext uri="{FF2B5EF4-FFF2-40B4-BE49-F238E27FC236}">
                <a16:creationId xmlns:a16="http://schemas.microsoft.com/office/drawing/2014/main" id="{81B23D63-A5A1-3952-2293-279A21126B01}"/>
              </a:ext>
            </a:extLst>
          </p:cNvPr>
          <p:cNvSpPr>
            <a:spLocks noGrp="1"/>
          </p:cNvSpPr>
          <p:nvPr>
            <p:ph type="sldNum" sz="quarter" idx="12"/>
          </p:nvPr>
        </p:nvSpPr>
        <p:spPr/>
        <p:txBody>
          <a:bodyPr/>
          <a:lstStyle/>
          <a:p>
            <a:fld id="{70C12960-6E85-460F-B6E3-5B82CB31AF3D}" type="slidenum">
              <a:rPr lang="en-US" smtClean="0"/>
              <a:t>12</a:t>
            </a:fld>
            <a:endParaRPr lang="en-US"/>
          </a:p>
        </p:txBody>
      </p:sp>
    </p:spTree>
    <p:extLst>
      <p:ext uri="{BB962C8B-B14F-4D97-AF65-F5344CB8AC3E}">
        <p14:creationId xmlns:p14="http://schemas.microsoft.com/office/powerpoint/2010/main" val="22585316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atabase Concept Isolated">
            <a:extLst>
              <a:ext uri="{FF2B5EF4-FFF2-40B4-BE49-F238E27FC236}">
                <a16:creationId xmlns:a16="http://schemas.microsoft.com/office/drawing/2014/main" id="{2D0A0B21-48D9-46A0-9215-E14BF8E83626}"/>
              </a:ext>
            </a:extLst>
          </p:cNvPr>
          <p:cNvPicPr>
            <a:picLocks noGrp="1" noChangeAspect="1"/>
          </p:cNvPicPr>
          <p:nvPr>
            <p:ph sz="half" idx="1"/>
          </p:nvPr>
        </p:nvPicPr>
        <p:blipFill>
          <a:blip r:embed="rId3"/>
          <a:srcRect l="26175" r="28039"/>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ED71AF7-4890-D26D-630D-CDD54DF3A4F9}"/>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2800"/>
              <a:t>Challenges and lessons learned from large-scale data extraction projects</a:t>
            </a:r>
          </a:p>
        </p:txBody>
      </p:sp>
      <p:sp>
        <p:nvSpPr>
          <p:cNvPr id="4" name="Content Placeholder 3">
            <a:extLst>
              <a:ext uri="{FF2B5EF4-FFF2-40B4-BE49-F238E27FC236}">
                <a16:creationId xmlns:a16="http://schemas.microsoft.com/office/drawing/2014/main" id="{BF2FF8A8-6B13-63F9-ED7D-4F0430222B2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Managing Large Volumes of Data</a:t>
            </a:r>
          </a:p>
          <a:p>
            <a:pPr marL="0" lvl="1" indent="0">
              <a:buNone/>
            </a:pPr>
            <a:r>
              <a:rPr lang="en-US" sz="1400"/>
              <a:t>One of the main challenges in large-scale data extraction projects is managing large volumes of data. This can include issues with storage, organization, and retrieval of data.</a:t>
            </a:r>
          </a:p>
          <a:p>
            <a:pPr marL="0" indent="0">
              <a:spcBef>
                <a:spcPts val="2500"/>
              </a:spcBef>
              <a:buNone/>
            </a:pPr>
            <a:r>
              <a:rPr lang="en-US" sz="1400" b="1"/>
              <a:t>Dealing with Multiple Sources</a:t>
            </a:r>
          </a:p>
          <a:p>
            <a:pPr marL="0" lvl="1" indent="0">
              <a:buNone/>
            </a:pPr>
            <a:r>
              <a:rPr lang="en-US" sz="1400"/>
              <a:t>Another challenge in large-scale data extraction projects is dealing with multiple sources. This can include issues with data compatibility, data consistency, and data accuracy.</a:t>
            </a:r>
          </a:p>
          <a:p>
            <a:pPr marL="0" indent="0">
              <a:spcBef>
                <a:spcPts val="2500"/>
              </a:spcBef>
              <a:buNone/>
            </a:pPr>
            <a:r>
              <a:rPr lang="en-US" sz="1400" b="1"/>
              <a:t>Ensuring Data Quality</a:t>
            </a:r>
          </a:p>
          <a:p>
            <a:pPr marL="0" lvl="1" indent="0">
              <a:buNone/>
            </a:pPr>
            <a:r>
              <a:rPr lang="en-US" sz="1400"/>
              <a:t>Ensuring data quality is an ongoing challenge in large-scale data extraction projects. This can include issues with data completeness, data accuracy, and data timeliness.</a:t>
            </a:r>
            <a:endParaRPr lang="en-IN" sz="1400"/>
          </a:p>
        </p:txBody>
      </p:sp>
      <p:sp>
        <p:nvSpPr>
          <p:cNvPr id="3" name="Slide Number Placeholder 2">
            <a:extLst>
              <a:ext uri="{FF2B5EF4-FFF2-40B4-BE49-F238E27FC236}">
                <a16:creationId xmlns:a16="http://schemas.microsoft.com/office/drawing/2014/main" id="{C5832515-204C-1323-F48F-0FD5FF9D397D}"/>
              </a:ext>
            </a:extLst>
          </p:cNvPr>
          <p:cNvSpPr>
            <a:spLocks noGrp="1"/>
          </p:cNvSpPr>
          <p:nvPr>
            <p:ph type="sldNum" sz="quarter" idx="12"/>
          </p:nvPr>
        </p:nvSpPr>
        <p:spPr/>
        <p:txBody>
          <a:bodyPr/>
          <a:lstStyle/>
          <a:p>
            <a:fld id="{70C12960-6E85-460F-B6E3-5B82CB31AF3D}" type="slidenum">
              <a:rPr lang="en-US" smtClean="0"/>
              <a:t>13</a:t>
            </a:fld>
            <a:endParaRPr lang="en-US"/>
          </a:p>
        </p:txBody>
      </p:sp>
    </p:spTree>
    <p:extLst>
      <p:ext uri="{BB962C8B-B14F-4D97-AF65-F5344CB8AC3E}">
        <p14:creationId xmlns:p14="http://schemas.microsoft.com/office/powerpoint/2010/main" val="1379249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E271AA-B13D-127B-31C2-070146FFF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61E27A00-3F40-1AF5-4F30-AF7C5F8E248A}"/>
              </a:ext>
            </a:extLst>
          </p:cNvPr>
          <p:cNvSpPr>
            <a:spLocks noGrp="1"/>
          </p:cNvSpPr>
          <p:nvPr>
            <p:ph type="title"/>
          </p:nvPr>
        </p:nvSpPr>
        <p:spPr>
          <a:xfrm>
            <a:off x="1225391" y="2235581"/>
            <a:ext cx="3863845" cy="1290399"/>
          </a:xfrm>
        </p:spPr>
        <p:txBody>
          <a:bodyPr anchor="t">
            <a:normAutofit/>
          </a:bodyPr>
          <a:lstStyle/>
          <a:p>
            <a:r>
              <a:rPr lang="en-IN" sz="5400"/>
              <a:t>Conclusion</a:t>
            </a:r>
          </a:p>
        </p:txBody>
      </p:sp>
      <p:sp>
        <p:nvSpPr>
          <p:cNvPr id="3" name="Content Placeholder 2">
            <a:extLst>
              <a:ext uri="{FF2B5EF4-FFF2-40B4-BE49-F238E27FC236}">
                <a16:creationId xmlns:a16="http://schemas.microsoft.com/office/drawing/2014/main" id="{5D045244-934D-C801-B778-7B09CD2AD26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09641" y="2306956"/>
            <a:ext cx="4864608" cy="2221992"/>
          </a:xfrm>
        </p:spPr>
        <p:txBody>
          <a:bodyPr>
            <a:normAutofit/>
          </a:bodyPr>
          <a:lstStyle/>
          <a:p>
            <a:pPr marL="0" indent="0">
              <a:spcBef>
                <a:spcPts val="2500"/>
              </a:spcBef>
              <a:buNone/>
            </a:pPr>
            <a:endParaRPr lang="en-US" sz="1400" b="1"/>
          </a:p>
          <a:p>
            <a:pPr marL="0" lvl="1" indent="0">
              <a:buNone/>
            </a:pPr>
            <a:r>
              <a:rPr lang="en-US" sz="1400"/>
              <a:t>Data extraction with automation offers significant benefits to organizations, allowing them to gain valuable insights and make more informed decisions by leveraging APIs, automating data extraction, and learning from real-world examples.</a:t>
            </a:r>
            <a:endParaRPr lang="en-IN" sz="1400"/>
          </a:p>
        </p:txBody>
      </p:sp>
      <p:sp>
        <p:nvSpPr>
          <p:cNvPr id="4" name="Slide Number Placeholder 3">
            <a:extLst>
              <a:ext uri="{FF2B5EF4-FFF2-40B4-BE49-F238E27FC236}">
                <a16:creationId xmlns:a16="http://schemas.microsoft.com/office/drawing/2014/main" id="{7997B7A0-ECB3-7110-0555-35A57D0BDD4C}"/>
              </a:ext>
            </a:extLst>
          </p:cNvPr>
          <p:cNvSpPr>
            <a:spLocks noGrp="1"/>
          </p:cNvSpPr>
          <p:nvPr>
            <p:ph type="sldNum" sz="quarter" idx="12"/>
          </p:nvPr>
        </p:nvSpPr>
        <p:spPr/>
        <p:txBody>
          <a:bodyPr/>
          <a:lstStyle/>
          <a:p>
            <a:fld id="{70C12960-6E85-460F-B6E3-5B82CB31AF3D}" type="slidenum">
              <a:rPr lang="en-US" smtClean="0"/>
              <a:t>14</a:t>
            </a:fld>
            <a:endParaRPr lang="en-US"/>
          </a:p>
        </p:txBody>
      </p:sp>
    </p:spTree>
    <p:extLst>
      <p:ext uri="{BB962C8B-B14F-4D97-AF65-F5344CB8AC3E}">
        <p14:creationId xmlns:p14="http://schemas.microsoft.com/office/powerpoint/2010/main" val="24203224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Dash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1620</Words>
  <Application>Microsoft Office PowerPoint</Application>
  <PresentationFormat>Widescreen</PresentationFormat>
  <Paragraphs>108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Grandview Display</vt:lpstr>
      <vt:lpstr>Neue Haas Grotesk Text Pro</vt:lpstr>
      <vt:lpstr>DashVTI</vt:lpstr>
      <vt:lpstr>Data Extraction with Automation: A Comprehensive Guide</vt:lpstr>
      <vt:lpstr>Agenda Items</vt:lpstr>
      <vt:lpstr>Data Extraction from APIs</vt:lpstr>
      <vt:lpstr>Introduction to APIs</vt:lpstr>
      <vt:lpstr>Extracting data via REST APIs</vt:lpstr>
      <vt:lpstr>Using tools for API data extraction</vt:lpstr>
      <vt:lpstr>Challenges in API data extraction</vt:lpstr>
      <vt:lpstr>Automating Data Extraction</vt:lpstr>
      <vt:lpstr>Tools for Automation</vt:lpstr>
      <vt:lpstr>Challenges in Automation</vt:lpstr>
      <vt:lpstr>Case Studies and Applications of Data Extraction</vt:lpstr>
      <vt:lpstr>Real-world examples</vt:lpstr>
      <vt:lpstr>Challenges and lessons learned from large-scale data extraction projects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2</cp:revision>
  <dcterms:created xsi:type="dcterms:W3CDTF">2024-10-03T12:26:54Z</dcterms:created>
  <dcterms:modified xsi:type="dcterms:W3CDTF">2024-10-04T02:36:03Z</dcterms:modified>
</cp:coreProperties>
</file>