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994" autoAdjust="0"/>
  </p:normalViewPr>
  <p:slideViewPr>
    <p:cSldViewPr snapToGrid="0">
      <p:cViewPr varScale="1">
        <p:scale>
          <a:sx n="68" d="100"/>
          <a:sy n="68" d="100"/>
        </p:scale>
        <p:origin x="950" y="245"/>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7935A0-820B-453D-928A-C6118973A911}" type="datetimeFigureOut">
              <a:rPr lang="en-IN" smtClean="0"/>
              <a:t>03-Oct-2024 Thu</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DB5F3C-2CB0-4043-B915-9EF407E7E9CE}" type="slidenum">
              <a:rPr lang="en-IN" smtClean="0"/>
              <a:t>‹#›</a:t>
            </a:fld>
            <a:endParaRPr lang="en-IN"/>
          </a:p>
        </p:txBody>
      </p:sp>
    </p:spTree>
    <p:extLst>
      <p:ext uri="{BB962C8B-B14F-4D97-AF65-F5344CB8AC3E}">
        <p14:creationId xmlns:p14="http://schemas.microsoft.com/office/powerpoint/2010/main" val="1628458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In this presentation, we will explore the data ecosystem and understand the various workflows and storage solutions that enable data-driven insights and decision-making.</a:t>
            </a:r>
          </a:p>
        </p:txBody>
      </p:sp>
      <p:sp>
        <p:nvSpPr>
          <p:cNvPr id="4" name="Slide Number Placeholder 3"/>
          <p:cNvSpPr>
            <a:spLocks noGrp="1"/>
          </p:cNvSpPr>
          <p:nvPr>
            <p:ph type="sldNum" sz="quarter" idx="5"/>
          </p:nvPr>
        </p:nvSpPr>
        <p:spPr/>
        <p:txBody>
          <a:bodyPr/>
          <a:lstStyle/>
          <a:p>
            <a:fld id="{736C9188-2312-4822-929E-1E96A9040FEF}" type="slidenum">
              <a:rPr lang="en-IN" smtClean="0"/>
              <a:t>1</a:t>
            </a:fld>
            <a:endParaRPr lang="en-IN"/>
          </a:p>
        </p:txBody>
      </p:sp>
    </p:spTree>
    <p:extLst>
      <p:ext uri="{BB962C8B-B14F-4D97-AF65-F5344CB8AC3E}">
        <p14:creationId xmlns:p14="http://schemas.microsoft.com/office/powerpoint/2010/main" val="37746352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We will begin by discussing data workflows, which are essential for processing and managing large volumes of data. Then, we will dive into the different stages of a data workflow, including data ingestion, transformation, and processing. We will wrap up by exploring popular storage solutions, such as data warehouses, data marts, and data lakes.</a:t>
            </a:r>
          </a:p>
        </p:txBody>
      </p:sp>
      <p:sp>
        <p:nvSpPr>
          <p:cNvPr id="4" name="Slide Number Placeholder 3"/>
          <p:cNvSpPr>
            <a:spLocks noGrp="1"/>
          </p:cNvSpPr>
          <p:nvPr>
            <p:ph type="sldNum" sz="quarter" idx="5"/>
          </p:nvPr>
        </p:nvSpPr>
        <p:spPr/>
        <p:txBody>
          <a:bodyPr/>
          <a:lstStyle/>
          <a:p>
            <a:fld id="{736C9188-2312-4822-929E-1E96A9040FEF}" type="slidenum">
              <a:rPr lang="en-IN" smtClean="0"/>
              <a:t>2</a:t>
            </a:fld>
            <a:endParaRPr lang="en-IN"/>
          </a:p>
        </p:txBody>
      </p:sp>
    </p:spTree>
    <p:extLst>
      <p:ext uri="{BB962C8B-B14F-4D97-AF65-F5344CB8AC3E}">
        <p14:creationId xmlns:p14="http://schemas.microsoft.com/office/powerpoint/2010/main" val="16099785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A data workflow is a series of steps that a piece of data goes through, from ingestion to storage and analysis. Understanding data workflows is crucial for efficient data management and processing.</a:t>
            </a:r>
          </a:p>
        </p:txBody>
      </p:sp>
      <p:sp>
        <p:nvSpPr>
          <p:cNvPr id="4" name="Slide Number Placeholder 3"/>
          <p:cNvSpPr>
            <a:spLocks noGrp="1"/>
          </p:cNvSpPr>
          <p:nvPr>
            <p:ph type="sldNum" sz="quarter" idx="5"/>
          </p:nvPr>
        </p:nvSpPr>
        <p:spPr/>
        <p:txBody>
          <a:bodyPr/>
          <a:lstStyle/>
          <a:p>
            <a:fld id="{736C9188-2312-4822-929E-1E96A9040FEF}" type="slidenum">
              <a:rPr lang="en-IN" smtClean="0"/>
              <a:t>3</a:t>
            </a:fld>
            <a:endParaRPr lang="en-IN"/>
          </a:p>
        </p:txBody>
      </p:sp>
    </p:spTree>
    <p:extLst>
      <p:ext uri="{BB962C8B-B14F-4D97-AF65-F5344CB8AC3E}">
        <p14:creationId xmlns:p14="http://schemas.microsoft.com/office/powerpoint/2010/main" val="40173588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In the data lifecycle, a data workflow refers to the processes that a piece of data goes through, including ingestion, cleaning, transformation, storage, and analysis. A data workflow is essential for managing and processing large volumes of data.</a:t>
            </a:r>
          </a:p>
        </p:txBody>
      </p:sp>
      <p:sp>
        <p:nvSpPr>
          <p:cNvPr id="4" name="Slide Number Placeholder 3"/>
          <p:cNvSpPr>
            <a:spLocks noGrp="1"/>
          </p:cNvSpPr>
          <p:nvPr>
            <p:ph type="sldNum" sz="quarter" idx="5"/>
          </p:nvPr>
        </p:nvSpPr>
        <p:spPr/>
        <p:txBody>
          <a:bodyPr/>
          <a:lstStyle/>
          <a:p>
            <a:fld id="{736C9188-2312-4822-929E-1E96A9040FEF}" type="slidenum">
              <a:rPr lang="en-IN" smtClean="0"/>
              <a:t>4</a:t>
            </a:fld>
            <a:endParaRPr lang="en-IN"/>
          </a:p>
        </p:txBody>
      </p:sp>
    </p:spTree>
    <p:extLst>
      <p:ext uri="{BB962C8B-B14F-4D97-AF65-F5344CB8AC3E}">
        <p14:creationId xmlns:p14="http://schemas.microsoft.com/office/powerpoint/2010/main" val="931893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Data ingestion refers to the process of importing data from various sources into a data storage system. Data pipelines and ETL (Extract, Transform, Load) processes are commonly used for data ingestion. Batch and real-time data ingestion are two main approaches.</a:t>
            </a:r>
          </a:p>
        </p:txBody>
      </p:sp>
      <p:sp>
        <p:nvSpPr>
          <p:cNvPr id="4" name="Slide Number Placeholder 3"/>
          <p:cNvSpPr>
            <a:spLocks noGrp="1"/>
          </p:cNvSpPr>
          <p:nvPr>
            <p:ph type="sldNum" sz="quarter" idx="5"/>
          </p:nvPr>
        </p:nvSpPr>
        <p:spPr/>
        <p:txBody>
          <a:bodyPr/>
          <a:lstStyle/>
          <a:p>
            <a:fld id="{736C9188-2312-4822-929E-1E96A9040FEF}" type="slidenum">
              <a:rPr lang="en-IN" smtClean="0"/>
              <a:t>5</a:t>
            </a:fld>
            <a:endParaRPr lang="en-IN"/>
          </a:p>
        </p:txBody>
      </p:sp>
    </p:spTree>
    <p:extLst>
      <p:ext uri="{BB962C8B-B14F-4D97-AF65-F5344CB8AC3E}">
        <p14:creationId xmlns:p14="http://schemas.microsoft.com/office/powerpoint/2010/main" val="41351361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Data transformation is the process of cleaning, filtering, and enriching data to make it more suitable for analysis. Data integration from multiple sources is also a part of data transformation. Tools such as Apache NiFi, Talend, and SSIS are commonly used for data transformation.</a:t>
            </a:r>
          </a:p>
        </p:txBody>
      </p:sp>
      <p:sp>
        <p:nvSpPr>
          <p:cNvPr id="4" name="Slide Number Placeholder 3"/>
          <p:cNvSpPr>
            <a:spLocks noGrp="1"/>
          </p:cNvSpPr>
          <p:nvPr>
            <p:ph type="sldNum" sz="quarter" idx="5"/>
          </p:nvPr>
        </p:nvSpPr>
        <p:spPr/>
        <p:txBody>
          <a:bodyPr/>
          <a:lstStyle/>
          <a:p>
            <a:fld id="{736C9188-2312-4822-929E-1E96A9040FEF}" type="slidenum">
              <a:rPr lang="en-IN" smtClean="0"/>
              <a:t>6</a:t>
            </a:fld>
            <a:endParaRPr lang="en-IN"/>
          </a:p>
        </p:txBody>
      </p:sp>
    </p:spTree>
    <p:extLst>
      <p:ext uri="{BB962C8B-B14F-4D97-AF65-F5344CB8AC3E}">
        <p14:creationId xmlns:p14="http://schemas.microsoft.com/office/powerpoint/2010/main" val="4615675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Data processing refers to the manipulation of data to extract insights and useful information. Stream processing and batch processing are two main approaches to data processing. Popular tools for data processing include Apache Kafka, Apache Flink, Spark, and Hive.</a:t>
            </a:r>
          </a:p>
        </p:txBody>
      </p:sp>
      <p:sp>
        <p:nvSpPr>
          <p:cNvPr id="4" name="Slide Number Placeholder 3"/>
          <p:cNvSpPr>
            <a:spLocks noGrp="1"/>
          </p:cNvSpPr>
          <p:nvPr>
            <p:ph type="sldNum" sz="quarter" idx="5"/>
          </p:nvPr>
        </p:nvSpPr>
        <p:spPr/>
        <p:txBody>
          <a:bodyPr/>
          <a:lstStyle/>
          <a:p>
            <a:fld id="{736C9188-2312-4822-929E-1E96A9040FEF}" type="slidenum">
              <a:rPr lang="en-IN" smtClean="0"/>
              <a:t>7</a:t>
            </a:fld>
            <a:endParaRPr lang="en-IN"/>
          </a:p>
        </p:txBody>
      </p:sp>
    </p:spTree>
    <p:extLst>
      <p:ext uri="{BB962C8B-B14F-4D97-AF65-F5344CB8AC3E}">
        <p14:creationId xmlns:p14="http://schemas.microsoft.com/office/powerpoint/2010/main" val="22858874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Automating workflows is essential for streamlining data processing. Scheduling and monitoring workflows are automated using tools like Airflow and Apache Oozie.</a:t>
            </a:r>
          </a:p>
        </p:txBody>
      </p:sp>
      <p:sp>
        <p:nvSpPr>
          <p:cNvPr id="4" name="Slide Number Placeholder 3"/>
          <p:cNvSpPr>
            <a:spLocks noGrp="1"/>
          </p:cNvSpPr>
          <p:nvPr>
            <p:ph type="sldNum" sz="quarter" idx="5"/>
          </p:nvPr>
        </p:nvSpPr>
        <p:spPr/>
        <p:txBody>
          <a:bodyPr/>
          <a:lstStyle/>
          <a:p>
            <a:fld id="{736C9188-2312-4822-929E-1E96A9040FEF}" type="slidenum">
              <a:rPr lang="en-IN" smtClean="0"/>
              <a:t>8</a:t>
            </a:fld>
            <a:endParaRPr lang="en-IN"/>
          </a:p>
        </p:txBody>
      </p:sp>
    </p:spTree>
    <p:extLst>
      <p:ext uri="{BB962C8B-B14F-4D97-AF65-F5344CB8AC3E}">
        <p14:creationId xmlns:p14="http://schemas.microsoft.com/office/powerpoint/2010/main" val="22322228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Data storage solutions play a crucial role in modern data ecosystems. In this section, we will explore popular data warehousing solutions, data marts, and data lakes.</a:t>
            </a:r>
          </a:p>
        </p:txBody>
      </p:sp>
      <p:sp>
        <p:nvSpPr>
          <p:cNvPr id="4" name="Slide Number Placeholder 3"/>
          <p:cNvSpPr>
            <a:spLocks noGrp="1"/>
          </p:cNvSpPr>
          <p:nvPr>
            <p:ph type="sldNum" sz="quarter" idx="5"/>
          </p:nvPr>
        </p:nvSpPr>
        <p:spPr/>
        <p:txBody>
          <a:bodyPr/>
          <a:lstStyle/>
          <a:p>
            <a:fld id="{736C9188-2312-4822-929E-1E96A9040FEF}" type="slidenum">
              <a:rPr lang="en-IN" smtClean="0"/>
              <a:t>9</a:t>
            </a:fld>
            <a:endParaRPr lang="en-IN"/>
          </a:p>
        </p:txBody>
      </p:sp>
    </p:spTree>
    <p:extLst>
      <p:ext uri="{BB962C8B-B14F-4D97-AF65-F5344CB8AC3E}">
        <p14:creationId xmlns:p14="http://schemas.microsoft.com/office/powerpoint/2010/main" val="38843223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A data warehouse is a central repository of integrated data from various sources. It is designed for OLAP (Online Analytical Processing) and supports complex queries and reporting. Popular data warehousing solutions include Snowflake, Amazon Redshift, and Google BigQuery.</a:t>
            </a:r>
          </a:p>
        </p:txBody>
      </p:sp>
      <p:sp>
        <p:nvSpPr>
          <p:cNvPr id="4" name="Slide Number Placeholder 3"/>
          <p:cNvSpPr>
            <a:spLocks noGrp="1"/>
          </p:cNvSpPr>
          <p:nvPr>
            <p:ph type="sldNum" sz="quarter" idx="5"/>
          </p:nvPr>
        </p:nvSpPr>
        <p:spPr/>
        <p:txBody>
          <a:bodyPr/>
          <a:lstStyle/>
          <a:p>
            <a:fld id="{736C9188-2312-4822-929E-1E96A9040FEF}" type="slidenum">
              <a:rPr lang="en-IN" smtClean="0"/>
              <a:t>10</a:t>
            </a:fld>
            <a:endParaRPr lang="en-IN"/>
          </a:p>
        </p:txBody>
      </p:sp>
    </p:spTree>
    <p:extLst>
      <p:ext uri="{BB962C8B-B14F-4D97-AF65-F5344CB8AC3E}">
        <p14:creationId xmlns:p14="http://schemas.microsoft.com/office/powerpoint/2010/main" val="32583175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A data mart is a subset of a data warehouse that is designed for specific business units. It is typically used for departmental analytics and reporting, while a data warehouse is used for enterprise-wide analytics. Popular data marts include those created using Microsoft SQL Server and Oracle.</a:t>
            </a:r>
          </a:p>
        </p:txBody>
      </p:sp>
      <p:sp>
        <p:nvSpPr>
          <p:cNvPr id="4" name="Slide Number Placeholder 3"/>
          <p:cNvSpPr>
            <a:spLocks noGrp="1"/>
          </p:cNvSpPr>
          <p:nvPr>
            <p:ph type="sldNum" sz="quarter" idx="5"/>
          </p:nvPr>
        </p:nvSpPr>
        <p:spPr/>
        <p:txBody>
          <a:bodyPr/>
          <a:lstStyle/>
          <a:p>
            <a:fld id="{736C9188-2312-4822-929E-1E96A9040FEF}" type="slidenum">
              <a:rPr lang="en-IN" smtClean="0"/>
              <a:t>11</a:t>
            </a:fld>
            <a:endParaRPr lang="en-IN"/>
          </a:p>
        </p:txBody>
      </p:sp>
    </p:spTree>
    <p:extLst>
      <p:ext uri="{BB962C8B-B14F-4D97-AF65-F5344CB8AC3E}">
        <p14:creationId xmlns:p14="http://schemas.microsoft.com/office/powerpoint/2010/main" val="35759185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A data lake is a storage solution that can store both structured and unstructured data in raw format. It is designed for big data processing and supports machine learning and advanced analytics. Popular data lake platforms include AWS S3, Azure Data Lake, and Google Cloud Storage.</a:t>
            </a:r>
          </a:p>
        </p:txBody>
      </p:sp>
      <p:sp>
        <p:nvSpPr>
          <p:cNvPr id="4" name="Slide Number Placeholder 3"/>
          <p:cNvSpPr>
            <a:spLocks noGrp="1"/>
          </p:cNvSpPr>
          <p:nvPr>
            <p:ph type="sldNum" sz="quarter" idx="5"/>
          </p:nvPr>
        </p:nvSpPr>
        <p:spPr/>
        <p:txBody>
          <a:bodyPr/>
          <a:lstStyle/>
          <a:p>
            <a:fld id="{736C9188-2312-4822-929E-1E96A9040FEF}" type="slidenum">
              <a:rPr lang="en-IN" smtClean="0"/>
              <a:t>12</a:t>
            </a:fld>
            <a:endParaRPr lang="en-IN"/>
          </a:p>
        </p:txBody>
      </p:sp>
    </p:spTree>
    <p:extLst>
      <p:ext uri="{BB962C8B-B14F-4D97-AF65-F5344CB8AC3E}">
        <p14:creationId xmlns:p14="http://schemas.microsoft.com/office/powerpoint/2010/main" val="4434275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In this section, we will compare and contrast data warehouses, data marts, and data lakes. While each has its own strengths and weaknesses, they complement each other in modern data ecosystems.</a:t>
            </a:r>
          </a:p>
        </p:txBody>
      </p:sp>
      <p:sp>
        <p:nvSpPr>
          <p:cNvPr id="4" name="Slide Number Placeholder 3"/>
          <p:cNvSpPr>
            <a:spLocks noGrp="1"/>
          </p:cNvSpPr>
          <p:nvPr>
            <p:ph type="sldNum" sz="quarter" idx="5"/>
          </p:nvPr>
        </p:nvSpPr>
        <p:spPr/>
        <p:txBody>
          <a:bodyPr/>
          <a:lstStyle/>
          <a:p>
            <a:fld id="{736C9188-2312-4822-929E-1E96A9040FEF}" type="slidenum">
              <a:rPr lang="en-IN" smtClean="0"/>
              <a:t>13</a:t>
            </a:fld>
            <a:endParaRPr lang="en-IN"/>
          </a:p>
        </p:txBody>
      </p:sp>
    </p:spTree>
    <p:extLst>
      <p:ext uri="{BB962C8B-B14F-4D97-AF65-F5344CB8AC3E}">
        <p14:creationId xmlns:p14="http://schemas.microsoft.com/office/powerpoint/2010/main" val="25391279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In conclusion, understanding data workflows and storage solutions is essential for modern data management and processing. By optimizing data workflows and choosing the right storage solution, organizations can derive valuable insights and make informed decisions.</a:t>
            </a:r>
          </a:p>
        </p:txBody>
      </p:sp>
      <p:sp>
        <p:nvSpPr>
          <p:cNvPr id="4" name="Slide Number Placeholder 3"/>
          <p:cNvSpPr>
            <a:spLocks noGrp="1"/>
          </p:cNvSpPr>
          <p:nvPr>
            <p:ph type="sldNum" sz="quarter" idx="5"/>
          </p:nvPr>
        </p:nvSpPr>
        <p:spPr/>
        <p:txBody>
          <a:bodyPr/>
          <a:lstStyle/>
          <a:p>
            <a:fld id="{736C9188-2312-4822-929E-1E96A9040FEF}" type="slidenum">
              <a:rPr lang="en-IN" smtClean="0"/>
              <a:t>14</a:t>
            </a:fld>
            <a:endParaRPr lang="en-IN"/>
          </a:p>
        </p:txBody>
      </p:sp>
    </p:spTree>
    <p:extLst>
      <p:ext uri="{BB962C8B-B14F-4D97-AF65-F5344CB8AC3E}">
        <p14:creationId xmlns:p14="http://schemas.microsoft.com/office/powerpoint/2010/main" val="13371802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95D5328D-DF59-4562-A0D2-D8B63C2AA85A}" type="datetime1">
              <a:rPr lang="en-US" smtClean="0"/>
              <a:t>10/3/2024</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191828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24857C3A-9168-4606-BD45-E65FC5842464}" type="datetime1">
              <a:rPr lang="en-US" smtClean="0"/>
              <a:t>10/3/2024</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757782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2322F168-F4E7-4139-B091-FDCD90A21F6C}" type="datetime1">
              <a:rPr lang="en-US" smtClean="0"/>
              <a:t>10/3/2024</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6542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A6727E9D-D998-4F0A-B0F2-1C91A52ADB46}" type="datetime1">
              <a:rPr lang="en-US" smtClean="0"/>
              <a:t>10/3/2024</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188158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9E72FAA0-7B6F-4136-974C-B6F7A5632AD3}" type="datetime1">
              <a:rPr lang="en-US" smtClean="0"/>
              <a:t>10/3/2024</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2910178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284F3758-B105-4457-9B91-FD812F74CE3F}" type="datetime1">
              <a:rPr lang="en-US" smtClean="0"/>
              <a:t>10/3/2024</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2144546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802846F7-D4FD-4EC2-AC53-F9467AE063AC}" type="datetime1">
              <a:rPr lang="en-US" smtClean="0"/>
              <a:t>10/3/2024</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627356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E80C5DC-B525-40F5-AB59-F1089C9CA34D}" type="datetime1">
              <a:rPr lang="en-US" smtClean="0"/>
              <a:t>10/3/2024</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369053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0E201A0-DABB-4192-A67D-7C88235F863E}" type="datetime1">
              <a:rPr lang="en-US" smtClean="0"/>
              <a:t>10/3/2024</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5738552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E9155782-6162-453A-8A7E-2733FC4B57F4}" type="datetime1">
              <a:rPr lang="en-US" smtClean="0"/>
              <a:t>10/3/2024</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9401398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E71BE1B5-90C2-4B15-A5D8-30B7CBF51772}" type="datetime1">
              <a:rPr lang="en-US" smtClean="0"/>
              <a:t>10/3/2024</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39248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F6D27A31-2CF3-42EC-8113-A1A688E405BE}" type="datetime1">
              <a:rPr lang="en-US" smtClean="0"/>
              <a:t>10/3/2024</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07222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4" name="Picture 3" descr="Background of abstract complex lines. 3D generated image.">
            <a:extLst>
              <a:ext uri="{FF2B5EF4-FFF2-40B4-BE49-F238E27FC236}">
                <a16:creationId xmlns:a16="http://schemas.microsoft.com/office/drawing/2014/main" id="{3AF7BBBC-E15F-4864-BCE0-DAE1155B4FB2}"/>
              </a:ext>
            </a:extLst>
          </p:cNvPr>
          <p:cNvPicPr>
            <a:picLocks noChangeAspect="1"/>
          </p:cNvPicPr>
          <p:nvPr/>
        </p:nvPicPr>
        <p:blipFill>
          <a:blip r:embed="rId3"/>
          <a:srcRect t="6902" b="8828"/>
          <a:stretch/>
        </p:blipFill>
        <p:spPr>
          <a:xfrm>
            <a:off x="1" y="10"/>
            <a:ext cx="12192000" cy="6857990"/>
          </a:xfrm>
          <a:prstGeom prst="rect">
            <a:avLst/>
          </a:prstGeom>
        </p:spPr>
      </p:pic>
      <p:sp>
        <p:nvSpPr>
          <p:cNvPr id="11" name="Rectangle 10">
            <a:extLst>
              <a:ext uri="{FF2B5EF4-FFF2-40B4-BE49-F238E27FC236}">
                <a16:creationId xmlns:a16="http://schemas.microsoft.com/office/drawing/2014/main" id="{36136311-C81B-47C5-AE0A-5641A5A595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76600" y="1066800"/>
            <a:ext cx="4681728" cy="4724400"/>
          </a:xfrm>
          <a:prstGeom prst="rect">
            <a:avLst/>
          </a:prstGeom>
          <a:solidFill>
            <a:schemeClr val="bg1">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39C64000-755B-50CE-C691-51E1E8B2F575}"/>
              </a:ext>
            </a:extLst>
          </p:cNvPr>
          <p:cNvSpPr>
            <a:spLocks noGrp="1"/>
          </p:cNvSpPr>
          <p:nvPr>
            <p:ph type="ctrTitle"/>
          </p:nvPr>
        </p:nvSpPr>
        <p:spPr>
          <a:xfrm>
            <a:off x="7769722" y="1562101"/>
            <a:ext cx="3884568" cy="2738530"/>
          </a:xfrm>
        </p:spPr>
        <p:txBody>
          <a:bodyPr anchor="t">
            <a:normAutofit/>
          </a:bodyPr>
          <a:lstStyle/>
          <a:p>
            <a:pPr>
              <a:lnSpc>
                <a:spcPct val="90000"/>
              </a:lnSpc>
            </a:pPr>
            <a:r>
              <a:rPr lang="en-IN" sz="3000" dirty="0"/>
              <a:t>The Data Ecosystem: Understanding Data Workflows and Storage Solutions</a:t>
            </a:r>
          </a:p>
        </p:txBody>
      </p:sp>
      <p:sp>
        <p:nvSpPr>
          <p:cNvPr id="3" name="Subtitle 2">
            <a:extLst>
              <a:ext uri="{FF2B5EF4-FFF2-40B4-BE49-F238E27FC236}">
                <a16:creationId xmlns:a16="http://schemas.microsoft.com/office/drawing/2014/main" id="{E5C88DB5-693A-F646-3B16-6991C74588EB}"/>
              </a:ext>
            </a:extLst>
          </p:cNvPr>
          <p:cNvSpPr>
            <a:spLocks noGrp="1"/>
          </p:cNvSpPr>
          <p:nvPr>
            <p:ph type="subTitle" idx="1"/>
          </p:nvPr>
        </p:nvSpPr>
        <p:spPr>
          <a:xfrm>
            <a:off x="7769722" y="4321622"/>
            <a:ext cx="3813048" cy="941832"/>
          </a:xfrm>
        </p:spPr>
        <p:txBody>
          <a:bodyPr>
            <a:normAutofit/>
          </a:bodyPr>
          <a:lstStyle/>
          <a:p>
            <a:pPr>
              <a:lnSpc>
                <a:spcPct val="120000"/>
              </a:lnSpc>
            </a:pPr>
            <a:r>
              <a:rPr lang="en-IN" sz="1600"/>
              <a:t>Exploring Data-driven Insights and Decision Making</a:t>
            </a:r>
          </a:p>
        </p:txBody>
      </p:sp>
      <p:cxnSp>
        <p:nvCxnSpPr>
          <p:cNvPr id="13" name="Straight Connector 12">
            <a:extLst>
              <a:ext uri="{FF2B5EF4-FFF2-40B4-BE49-F238E27FC236}">
                <a16:creationId xmlns:a16="http://schemas.microsoft.com/office/drawing/2014/main" id="{7CC73A33-65FF-41A9-A3B0-006753CD102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6200000">
            <a:off x="9619035" y="3435440"/>
            <a:ext cx="0" cy="4690872"/>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E124F141-3982-B53B-CA6B-A9B14E6A7ADF}"/>
              </a:ext>
            </a:extLst>
          </p:cNvPr>
          <p:cNvSpPr>
            <a:spLocks noGrp="1"/>
          </p:cNvSpPr>
          <p:nvPr>
            <p:ph type="sldNum" sz="quarter" idx="12"/>
          </p:nvPr>
        </p:nvSpPr>
        <p:spPr/>
        <p:txBody>
          <a:bodyPr/>
          <a:lstStyle/>
          <a:p>
            <a:fld id="{70C12960-6E85-460F-B6E3-5B82CB31AF3D}" type="slidenum">
              <a:rPr lang="en-US" smtClean="0"/>
              <a:t>1</a:t>
            </a:fld>
            <a:endParaRPr lang="en-US"/>
          </a:p>
        </p:txBody>
      </p:sp>
    </p:spTree>
    <p:extLst>
      <p:ext uri="{BB962C8B-B14F-4D97-AF65-F5344CB8AC3E}">
        <p14:creationId xmlns:p14="http://schemas.microsoft.com/office/powerpoint/2010/main" val="296308751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8FCE029E-5073-4498-8104-8427AA98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5" name="Content Placeholder 4" descr="abstract programm binary code  and colored array cube Database">
            <a:extLst>
              <a:ext uri="{FF2B5EF4-FFF2-40B4-BE49-F238E27FC236}">
                <a16:creationId xmlns:a16="http://schemas.microsoft.com/office/drawing/2014/main" id="{48A28A15-B17E-45E5-80F9-EAD145059FBA}"/>
              </a:ext>
            </a:extLst>
          </p:cNvPr>
          <p:cNvPicPr>
            <a:picLocks noGrp="1" noChangeAspect="1"/>
          </p:cNvPicPr>
          <p:nvPr>
            <p:ph sz="half" idx="1"/>
          </p:nvPr>
        </p:nvPicPr>
        <p:blipFill>
          <a:blip r:embed="rId3"/>
          <a:srcRect l="18208" r="-2" b="-2"/>
          <a:stretch/>
        </p:blipFill>
        <p:spPr>
          <a:xfrm>
            <a:off x="1" y="2613892"/>
            <a:ext cx="4946906" cy="3689359"/>
          </a:xfrm>
          <a:prstGeom prst="rect">
            <a:avLst/>
          </a:prstGeom>
        </p:spPr>
      </p:pic>
      <p:cxnSp>
        <p:nvCxnSpPr>
          <p:cNvPr id="14" name="Straight Connector 13">
            <a:extLst>
              <a:ext uri="{FF2B5EF4-FFF2-40B4-BE49-F238E27FC236}">
                <a16:creationId xmlns:a16="http://schemas.microsoft.com/office/drawing/2014/main" id="{BEFF515C-2521-4964-9DAC-2BFB8EC86A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74446"/>
            <a:ext cx="4946904"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1F052ED-94BA-C42E-2262-546F50D516B1}"/>
              </a:ext>
            </a:extLst>
          </p:cNvPr>
          <p:cNvSpPr>
            <a:spLocks noGrp="1"/>
          </p:cNvSpPr>
          <p:nvPr>
            <p:ph type="title"/>
          </p:nvPr>
        </p:nvSpPr>
        <p:spPr>
          <a:xfrm>
            <a:off x="640080" y="914401"/>
            <a:ext cx="4306824" cy="1477817"/>
          </a:xfrm>
        </p:spPr>
        <p:txBody>
          <a:bodyPr vert="horz" lIns="91440" tIns="45720" rIns="91440" bIns="45720" rtlCol="0" anchor="t">
            <a:normAutofit/>
          </a:bodyPr>
          <a:lstStyle/>
          <a:p>
            <a:r>
              <a:rPr lang="en-US"/>
              <a:t>Presentation Overview</a:t>
            </a:r>
          </a:p>
        </p:txBody>
      </p:sp>
      <p:sp>
        <p:nvSpPr>
          <p:cNvPr id="4" name="Content Placeholder 3">
            <a:extLst>
              <a:ext uri="{FF2B5EF4-FFF2-40B4-BE49-F238E27FC236}">
                <a16:creationId xmlns:a16="http://schemas.microsoft.com/office/drawing/2014/main" id="{F34B35E8-3F33-D40F-AEC3-27F52428064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8" y="1014984"/>
            <a:ext cx="5889161" cy="5288267"/>
          </a:xfrm>
        </p:spPr>
        <p:txBody>
          <a:bodyPr>
            <a:normAutofit/>
          </a:bodyPr>
          <a:lstStyle/>
          <a:p>
            <a:pPr marL="0" indent="0">
              <a:spcBef>
                <a:spcPts val="2500"/>
              </a:spcBef>
              <a:buNone/>
            </a:pPr>
            <a:r>
              <a:rPr lang="en-US" sz="1400" b="1"/>
              <a:t>Data Workflows</a:t>
            </a:r>
          </a:p>
          <a:p>
            <a:pPr marL="0" lvl="1" indent="0">
              <a:buNone/>
            </a:pPr>
            <a:r>
              <a:rPr lang="en-US" sz="1400"/>
              <a:t>Data workflows are essential for processing and managing large volumes of data. We'll discuss what data workflows entail and their importance.</a:t>
            </a:r>
          </a:p>
          <a:p>
            <a:pPr marL="0" indent="0">
              <a:spcBef>
                <a:spcPts val="2500"/>
              </a:spcBef>
              <a:buNone/>
            </a:pPr>
            <a:r>
              <a:rPr lang="en-US" sz="1400" b="1"/>
              <a:t>Data Ingestion</a:t>
            </a:r>
          </a:p>
          <a:p>
            <a:pPr marL="0" lvl="1" indent="0">
              <a:buNone/>
            </a:pPr>
            <a:r>
              <a:rPr lang="en-US" sz="1400"/>
              <a:t>The first stage of a data workflow is data ingestion, which involves acquiring and transferring data from various sources into a storage system. We'll discuss different methods of data ingestion.</a:t>
            </a:r>
          </a:p>
          <a:p>
            <a:pPr marL="0" indent="0">
              <a:spcBef>
                <a:spcPts val="2500"/>
              </a:spcBef>
              <a:buNone/>
            </a:pPr>
            <a:r>
              <a:rPr lang="en-US" sz="1400" b="1"/>
              <a:t>Data Transformation</a:t>
            </a:r>
          </a:p>
          <a:p>
            <a:pPr marL="0" lvl="1" indent="0">
              <a:buNone/>
            </a:pPr>
            <a:r>
              <a:rPr lang="en-US" sz="1400"/>
              <a:t>Data transformation involves cleaning, enriching, and converting data into a format that is suitable for processing. We'll discuss the importance of data transformation and its different stages.</a:t>
            </a:r>
          </a:p>
          <a:p>
            <a:pPr marL="0" indent="0">
              <a:spcBef>
                <a:spcPts val="2500"/>
              </a:spcBef>
              <a:buNone/>
            </a:pPr>
            <a:r>
              <a:rPr lang="en-US" sz="1400" b="1"/>
              <a:t>Storage Solutions</a:t>
            </a:r>
          </a:p>
          <a:p>
            <a:pPr marL="0" lvl="1" indent="0">
              <a:buNone/>
            </a:pPr>
            <a:r>
              <a:rPr lang="en-US" sz="1400"/>
              <a:t>We will explore popular storage solutions for data, including data warehouses, data marts, and data lakes. We'll discuss their differences, similarities, and use cases.</a:t>
            </a:r>
            <a:endParaRPr lang="en-IN" sz="1400"/>
          </a:p>
        </p:txBody>
      </p:sp>
      <p:sp>
        <p:nvSpPr>
          <p:cNvPr id="3" name="Slide Number Placeholder 2">
            <a:extLst>
              <a:ext uri="{FF2B5EF4-FFF2-40B4-BE49-F238E27FC236}">
                <a16:creationId xmlns:a16="http://schemas.microsoft.com/office/drawing/2014/main" id="{983C0A8C-775F-4142-AB4F-5B35436C9C1C}"/>
              </a:ext>
            </a:extLst>
          </p:cNvPr>
          <p:cNvSpPr>
            <a:spLocks noGrp="1"/>
          </p:cNvSpPr>
          <p:nvPr>
            <p:ph type="sldNum" sz="quarter" idx="12"/>
          </p:nvPr>
        </p:nvSpPr>
        <p:spPr/>
        <p:txBody>
          <a:bodyPr/>
          <a:lstStyle/>
          <a:p>
            <a:fld id="{70C12960-6E85-460F-B6E3-5B82CB31AF3D}" type="slidenum">
              <a:rPr lang="en-US" smtClean="0"/>
              <a:t>2</a:t>
            </a:fld>
            <a:endParaRPr lang="en-US"/>
          </a:p>
        </p:txBody>
      </p:sp>
    </p:spTree>
    <p:extLst>
      <p:ext uri="{BB962C8B-B14F-4D97-AF65-F5344CB8AC3E}">
        <p14:creationId xmlns:p14="http://schemas.microsoft.com/office/powerpoint/2010/main" val="13303512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Female drawing flow chart">
            <a:extLst>
              <a:ext uri="{FF2B5EF4-FFF2-40B4-BE49-F238E27FC236}">
                <a16:creationId xmlns:a16="http://schemas.microsoft.com/office/drawing/2014/main" id="{090A491A-715D-442E-8A2B-5C146B6E04DF}"/>
              </a:ext>
            </a:extLst>
          </p:cNvPr>
          <p:cNvPicPr>
            <a:picLocks noGrp="1" noChangeAspect="1"/>
          </p:cNvPicPr>
          <p:nvPr>
            <p:ph sz="half" idx="1"/>
          </p:nvPr>
        </p:nvPicPr>
        <p:blipFill>
          <a:blip r:embed="rId3"/>
          <a:srcRect l="1515" r="5877" b="-1"/>
          <a:stretch/>
        </p:blipFill>
        <p:spPr>
          <a:xfrm>
            <a:off x="20" y="535709"/>
            <a:ext cx="8229580" cy="5820640"/>
          </a:xfrm>
          <a:prstGeom prst="rect">
            <a:avLst/>
          </a:prstGeom>
        </p:spPr>
      </p:pic>
      <p:cxnSp>
        <p:nvCxnSpPr>
          <p:cNvPr id="14" name="Straight Connector 13">
            <a:extLst>
              <a:ext uri="{FF2B5EF4-FFF2-40B4-BE49-F238E27FC236}">
                <a16:creationId xmlns:a16="http://schemas.microsoft.com/office/drawing/2014/main" id="{02C7985C-B0C3-CC50-E86A-B5EBA40E01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 y="6359240"/>
            <a:ext cx="82296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FF5885A-507F-4869-EDB3-F59001EBA052}"/>
              </a:ext>
            </a:extLst>
          </p:cNvPr>
          <p:cNvSpPr>
            <a:spLocks noGrp="1"/>
          </p:cNvSpPr>
          <p:nvPr>
            <p:ph type="title"/>
          </p:nvPr>
        </p:nvSpPr>
        <p:spPr>
          <a:xfrm>
            <a:off x="8719126" y="979051"/>
            <a:ext cx="2811879" cy="1807048"/>
          </a:xfrm>
        </p:spPr>
        <p:txBody>
          <a:bodyPr vert="horz" lIns="91440" tIns="45720" rIns="91440" bIns="45720" rtlCol="0" anchor="b">
            <a:normAutofit/>
          </a:bodyPr>
          <a:lstStyle/>
          <a:p>
            <a:r>
              <a:rPr lang="en-US" sz="3600"/>
              <a:t>Data Workflows</a:t>
            </a:r>
          </a:p>
        </p:txBody>
      </p:sp>
      <p:sp>
        <p:nvSpPr>
          <p:cNvPr id="4" name="Content Placeholder 3">
            <a:extLst>
              <a:ext uri="{FF2B5EF4-FFF2-40B4-BE49-F238E27FC236}">
                <a16:creationId xmlns:a16="http://schemas.microsoft.com/office/drawing/2014/main" id="{9C4ABFE2-9F04-C1CD-B40C-CD9104B6EF5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719128" y="2922624"/>
            <a:ext cx="2811880" cy="3409950"/>
          </a:xfrm>
        </p:spPr>
        <p:txBody>
          <a:bodyPr>
            <a:normAutofit/>
          </a:bodyPr>
          <a:lstStyle/>
          <a:p>
            <a:pPr marL="0" indent="0">
              <a:spcBef>
                <a:spcPts val="2500"/>
              </a:spcBef>
              <a:buNone/>
            </a:pPr>
            <a:endParaRPr lang="en-US" sz="1400" b="1"/>
          </a:p>
          <a:p>
            <a:pPr marL="0" lvl="1" indent="0">
              <a:buNone/>
            </a:pPr>
            <a:r>
              <a:rPr lang="en-US" sz="1400"/>
              <a:t>Data workflows are a series of steps that a piece of data goes through, from ingestion to storage and analysis. Understanding data workflows is crucial for efficient data management and processing.</a:t>
            </a:r>
            <a:endParaRPr lang="en-IN" sz="1400"/>
          </a:p>
        </p:txBody>
      </p:sp>
      <p:sp>
        <p:nvSpPr>
          <p:cNvPr id="3" name="Slide Number Placeholder 2">
            <a:extLst>
              <a:ext uri="{FF2B5EF4-FFF2-40B4-BE49-F238E27FC236}">
                <a16:creationId xmlns:a16="http://schemas.microsoft.com/office/drawing/2014/main" id="{8D4B1C81-57E4-663B-DF3E-4F3749AFC6C7}"/>
              </a:ext>
            </a:extLst>
          </p:cNvPr>
          <p:cNvSpPr>
            <a:spLocks noGrp="1"/>
          </p:cNvSpPr>
          <p:nvPr>
            <p:ph type="sldNum" sz="quarter" idx="12"/>
          </p:nvPr>
        </p:nvSpPr>
        <p:spPr/>
        <p:txBody>
          <a:bodyPr/>
          <a:lstStyle/>
          <a:p>
            <a:fld id="{70C12960-6E85-460F-B6E3-5B82CB31AF3D}" type="slidenum">
              <a:rPr lang="en-US" smtClean="0"/>
              <a:t>3</a:t>
            </a:fld>
            <a:endParaRPr lang="en-US"/>
          </a:p>
        </p:txBody>
      </p:sp>
    </p:spTree>
    <p:extLst>
      <p:ext uri="{BB962C8B-B14F-4D97-AF65-F5344CB8AC3E}">
        <p14:creationId xmlns:p14="http://schemas.microsoft.com/office/powerpoint/2010/main" val="751774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1E742374-DEC8-2FC3-EF58-6CACBF23FCD5}"/>
              </a:ext>
            </a:extLst>
          </p:cNvPr>
          <p:cNvPicPr>
            <a:picLocks noChangeAspect="1"/>
          </p:cNvPicPr>
          <p:nvPr/>
        </p:nvPicPr>
        <p:blipFill>
          <a:blip r:embed="rId3"/>
          <a:srcRect t="10590" b="18682"/>
          <a:stretch/>
        </p:blipFill>
        <p:spPr>
          <a:xfrm>
            <a:off x="20" y="535709"/>
            <a:ext cx="8229580" cy="5820640"/>
          </a:xfrm>
          <a:prstGeom prst="rect">
            <a:avLst/>
          </a:prstGeom>
        </p:spPr>
      </p:pic>
      <p:cxnSp>
        <p:nvCxnSpPr>
          <p:cNvPr id="22" name="Straight Connector 21">
            <a:extLst>
              <a:ext uri="{FF2B5EF4-FFF2-40B4-BE49-F238E27FC236}">
                <a16:creationId xmlns:a16="http://schemas.microsoft.com/office/drawing/2014/main" id="{02C7985C-B0C3-CC50-E86A-B5EBA40E01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 y="6359240"/>
            <a:ext cx="82296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B938CA6-EEDD-0AA4-B154-BD77ECC01D67}"/>
              </a:ext>
            </a:extLst>
          </p:cNvPr>
          <p:cNvSpPr>
            <a:spLocks noGrp="1"/>
          </p:cNvSpPr>
          <p:nvPr>
            <p:ph type="title"/>
          </p:nvPr>
        </p:nvSpPr>
        <p:spPr>
          <a:xfrm>
            <a:off x="8719126" y="979051"/>
            <a:ext cx="2811879" cy="1807048"/>
          </a:xfrm>
        </p:spPr>
        <p:txBody>
          <a:bodyPr anchor="b">
            <a:normAutofit/>
          </a:bodyPr>
          <a:lstStyle/>
          <a:p>
            <a:r>
              <a:rPr lang="en-IN" sz="3600" dirty="0"/>
              <a:t>What is a data workflow?</a:t>
            </a:r>
          </a:p>
        </p:txBody>
      </p:sp>
      <p:sp>
        <p:nvSpPr>
          <p:cNvPr id="3" name="Content Placeholder 2">
            <a:extLst>
              <a:ext uri="{FF2B5EF4-FFF2-40B4-BE49-F238E27FC236}">
                <a16:creationId xmlns:a16="http://schemas.microsoft.com/office/drawing/2014/main" id="{1847785F-1A2C-3360-F0F6-6BB916DBA78C}"/>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719127" y="2922623"/>
            <a:ext cx="3101165" cy="3522781"/>
          </a:xfrm>
        </p:spPr>
        <p:txBody>
          <a:bodyPr anchor="t">
            <a:noAutofit/>
          </a:bodyPr>
          <a:lstStyle/>
          <a:p>
            <a:pPr marL="0" lvl="1" indent="0">
              <a:lnSpc>
                <a:spcPct val="110000"/>
              </a:lnSpc>
              <a:buNone/>
            </a:pPr>
            <a:r>
              <a:rPr lang="en-US" sz="2000" dirty="0"/>
              <a:t>A data workflow refers to the processes that a piece of data goes through, including ingestion, cleaning, transformation, storage, and analysis. It is essential for managing and processing large volumes of data.</a:t>
            </a:r>
            <a:endParaRPr lang="en-IN" sz="2000" dirty="0"/>
          </a:p>
        </p:txBody>
      </p:sp>
      <p:sp>
        <p:nvSpPr>
          <p:cNvPr id="4" name="Slide Number Placeholder 3">
            <a:extLst>
              <a:ext uri="{FF2B5EF4-FFF2-40B4-BE49-F238E27FC236}">
                <a16:creationId xmlns:a16="http://schemas.microsoft.com/office/drawing/2014/main" id="{25CAEE65-2F14-8B62-23C2-D72EB448B321}"/>
              </a:ext>
            </a:extLst>
          </p:cNvPr>
          <p:cNvSpPr>
            <a:spLocks noGrp="1"/>
          </p:cNvSpPr>
          <p:nvPr>
            <p:ph type="sldNum" sz="quarter" idx="12"/>
          </p:nvPr>
        </p:nvSpPr>
        <p:spPr>
          <a:xfrm>
            <a:off x="10807995" y="6356350"/>
            <a:ext cx="723014" cy="365125"/>
          </a:xfrm>
        </p:spPr>
        <p:txBody>
          <a:bodyPr>
            <a:normAutofit/>
          </a:bodyPr>
          <a:lstStyle/>
          <a:p>
            <a:pPr>
              <a:spcAft>
                <a:spcPts val="600"/>
              </a:spcAft>
            </a:pPr>
            <a:fld id="{70C12960-6E85-460F-B6E3-5B82CB31AF3D}" type="slidenum">
              <a:rPr lang="en-US" smtClean="0"/>
              <a:pPr>
                <a:spcAft>
                  <a:spcPts val="600"/>
                </a:spcAft>
              </a:pPr>
              <a:t>4</a:t>
            </a:fld>
            <a:endParaRPr lang="en-US"/>
          </a:p>
        </p:txBody>
      </p:sp>
    </p:spTree>
    <p:extLst>
      <p:ext uri="{BB962C8B-B14F-4D97-AF65-F5344CB8AC3E}">
        <p14:creationId xmlns:p14="http://schemas.microsoft.com/office/powerpoint/2010/main" val="23006877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8FCE029E-5073-4498-8104-8427AA98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5" name="Content Placeholder 4" descr="Shiny pyramid greenhouse sustainable growth and finance concept">
            <a:extLst>
              <a:ext uri="{FF2B5EF4-FFF2-40B4-BE49-F238E27FC236}">
                <a16:creationId xmlns:a16="http://schemas.microsoft.com/office/drawing/2014/main" id="{AB6BD86A-2F05-428A-8B57-25CE2724F048}"/>
              </a:ext>
            </a:extLst>
          </p:cNvPr>
          <p:cNvPicPr>
            <a:picLocks noGrp="1" noChangeAspect="1"/>
          </p:cNvPicPr>
          <p:nvPr>
            <p:ph sz="half" idx="1"/>
          </p:nvPr>
        </p:nvPicPr>
        <p:blipFill>
          <a:blip r:embed="rId3"/>
          <a:srcRect l="10498" r="1" b="1"/>
          <a:stretch/>
        </p:blipFill>
        <p:spPr>
          <a:xfrm>
            <a:off x="1" y="2613892"/>
            <a:ext cx="4946906" cy="3689359"/>
          </a:xfrm>
          <a:prstGeom prst="rect">
            <a:avLst/>
          </a:prstGeom>
        </p:spPr>
      </p:pic>
      <p:cxnSp>
        <p:nvCxnSpPr>
          <p:cNvPr id="14" name="Straight Connector 13">
            <a:extLst>
              <a:ext uri="{FF2B5EF4-FFF2-40B4-BE49-F238E27FC236}">
                <a16:creationId xmlns:a16="http://schemas.microsoft.com/office/drawing/2014/main" id="{BEFF515C-2521-4964-9DAC-2BFB8EC86A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74446"/>
            <a:ext cx="4946904"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75D764B5-60C7-EF80-A9BE-D89F3B0A1F6C}"/>
              </a:ext>
            </a:extLst>
          </p:cNvPr>
          <p:cNvSpPr>
            <a:spLocks noGrp="1"/>
          </p:cNvSpPr>
          <p:nvPr>
            <p:ph type="title"/>
          </p:nvPr>
        </p:nvSpPr>
        <p:spPr>
          <a:xfrm>
            <a:off x="640080" y="914401"/>
            <a:ext cx="4306824" cy="1477817"/>
          </a:xfrm>
        </p:spPr>
        <p:txBody>
          <a:bodyPr vert="horz" lIns="91440" tIns="45720" rIns="91440" bIns="45720" rtlCol="0" anchor="t">
            <a:normAutofit/>
          </a:bodyPr>
          <a:lstStyle/>
          <a:p>
            <a:r>
              <a:rPr lang="en-US"/>
              <a:t>Data Ingestion</a:t>
            </a:r>
          </a:p>
        </p:txBody>
      </p:sp>
      <p:sp>
        <p:nvSpPr>
          <p:cNvPr id="4" name="Content Placeholder 3">
            <a:extLst>
              <a:ext uri="{FF2B5EF4-FFF2-40B4-BE49-F238E27FC236}">
                <a16:creationId xmlns:a16="http://schemas.microsoft.com/office/drawing/2014/main" id="{25F9423E-DB3E-CBD3-0E49-7115170F747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8" y="1014984"/>
            <a:ext cx="5889161" cy="5288267"/>
          </a:xfrm>
        </p:spPr>
        <p:txBody>
          <a:bodyPr>
            <a:normAutofit/>
          </a:bodyPr>
          <a:lstStyle/>
          <a:p>
            <a:pPr marL="0" indent="0">
              <a:lnSpc>
                <a:spcPct val="110000"/>
              </a:lnSpc>
              <a:spcBef>
                <a:spcPts val="2500"/>
              </a:spcBef>
              <a:buNone/>
            </a:pPr>
            <a:r>
              <a:rPr lang="en-US" sz="1400" b="1"/>
              <a:t>Data Ingestion Process</a:t>
            </a:r>
          </a:p>
          <a:p>
            <a:pPr marL="0" lvl="1" indent="0">
              <a:lnSpc>
                <a:spcPct val="110000"/>
              </a:lnSpc>
              <a:buNone/>
            </a:pPr>
            <a:r>
              <a:rPr lang="en-US" sz="1400"/>
              <a:t>Data ingestion is the process of importing data from various sources into a data storage system. The process involves organizing, cleaning and processing data to make it ready for use.</a:t>
            </a:r>
          </a:p>
          <a:p>
            <a:pPr marL="0" indent="0">
              <a:lnSpc>
                <a:spcPct val="110000"/>
              </a:lnSpc>
              <a:spcBef>
                <a:spcPts val="2500"/>
              </a:spcBef>
              <a:buNone/>
            </a:pPr>
            <a:r>
              <a:rPr lang="en-US" sz="1400" b="1"/>
              <a:t>Data Pipelines</a:t>
            </a:r>
          </a:p>
          <a:p>
            <a:pPr marL="0" lvl="1" indent="0">
              <a:lnSpc>
                <a:spcPct val="110000"/>
              </a:lnSpc>
              <a:buNone/>
            </a:pPr>
            <a:r>
              <a:rPr lang="en-US" sz="1400"/>
              <a:t>Data pipelines are commonly used for data ingestion. They involve the automated movement of data from its source to a storage system, with processing steps and quality checks along the way.</a:t>
            </a:r>
          </a:p>
          <a:p>
            <a:pPr marL="0" indent="0">
              <a:lnSpc>
                <a:spcPct val="110000"/>
              </a:lnSpc>
              <a:spcBef>
                <a:spcPts val="2500"/>
              </a:spcBef>
              <a:buNone/>
            </a:pPr>
            <a:r>
              <a:rPr lang="en-US" sz="1400" b="1"/>
              <a:t>ETL Processes</a:t>
            </a:r>
          </a:p>
          <a:p>
            <a:pPr marL="0" lvl="1" indent="0">
              <a:lnSpc>
                <a:spcPct val="110000"/>
              </a:lnSpc>
              <a:buNone/>
            </a:pPr>
            <a:r>
              <a:rPr lang="en-US" sz="1400"/>
              <a:t>ETL (Extract, Transform, Load) processes are used for data ingestion. These processes involve extracting data from various sources, transforming it into a usable format, and loading it into a data storage system.</a:t>
            </a:r>
          </a:p>
          <a:p>
            <a:pPr marL="0" indent="0">
              <a:lnSpc>
                <a:spcPct val="110000"/>
              </a:lnSpc>
              <a:spcBef>
                <a:spcPts val="2500"/>
              </a:spcBef>
              <a:buNone/>
            </a:pPr>
            <a:r>
              <a:rPr lang="en-US" sz="1400" b="1"/>
              <a:t>Batch and Real-Time Data Ingestion</a:t>
            </a:r>
          </a:p>
          <a:p>
            <a:pPr marL="0" lvl="1" indent="0">
              <a:lnSpc>
                <a:spcPct val="110000"/>
              </a:lnSpc>
              <a:buNone/>
            </a:pPr>
            <a:r>
              <a:rPr lang="en-US" sz="1400"/>
              <a:t>There are two main approaches to data ingestion: batch and real-time. Batch ingestion involves processing large amounts of data at once, while real-time ingestion involves processing data as it is generated.</a:t>
            </a:r>
            <a:endParaRPr lang="en-IN" sz="1400"/>
          </a:p>
        </p:txBody>
      </p:sp>
      <p:sp>
        <p:nvSpPr>
          <p:cNvPr id="3" name="Slide Number Placeholder 2">
            <a:extLst>
              <a:ext uri="{FF2B5EF4-FFF2-40B4-BE49-F238E27FC236}">
                <a16:creationId xmlns:a16="http://schemas.microsoft.com/office/drawing/2014/main" id="{306EE9D3-8EBF-61E7-C7FC-143FDC5609C8}"/>
              </a:ext>
            </a:extLst>
          </p:cNvPr>
          <p:cNvSpPr>
            <a:spLocks noGrp="1"/>
          </p:cNvSpPr>
          <p:nvPr>
            <p:ph type="sldNum" sz="quarter" idx="12"/>
          </p:nvPr>
        </p:nvSpPr>
        <p:spPr/>
        <p:txBody>
          <a:bodyPr/>
          <a:lstStyle/>
          <a:p>
            <a:fld id="{70C12960-6E85-460F-B6E3-5B82CB31AF3D}" type="slidenum">
              <a:rPr lang="en-US" smtClean="0"/>
              <a:t>5</a:t>
            </a:fld>
            <a:endParaRPr lang="en-US"/>
          </a:p>
        </p:txBody>
      </p:sp>
    </p:spTree>
    <p:extLst>
      <p:ext uri="{BB962C8B-B14F-4D97-AF65-F5344CB8AC3E}">
        <p14:creationId xmlns:p14="http://schemas.microsoft.com/office/powerpoint/2010/main" val="26255462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Cloud computing concept isolated on white background">
            <a:extLst>
              <a:ext uri="{FF2B5EF4-FFF2-40B4-BE49-F238E27FC236}">
                <a16:creationId xmlns:a16="http://schemas.microsoft.com/office/drawing/2014/main" id="{9CA709A8-1553-482A-B010-F7364175FBEE}"/>
              </a:ext>
            </a:extLst>
          </p:cNvPr>
          <p:cNvPicPr>
            <a:picLocks noGrp="1" noChangeAspect="1"/>
          </p:cNvPicPr>
          <p:nvPr>
            <p:ph sz="half" idx="1"/>
          </p:nvPr>
        </p:nvPicPr>
        <p:blipFill>
          <a:blip r:embed="rId3"/>
          <a:srcRect l="18053" r="20073"/>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5678DF2E-C6D8-08CC-2350-0AC71637AA6E}"/>
              </a:ext>
            </a:extLst>
          </p:cNvPr>
          <p:cNvSpPr>
            <a:spLocks noGrp="1"/>
          </p:cNvSpPr>
          <p:nvPr>
            <p:ph type="title"/>
          </p:nvPr>
        </p:nvSpPr>
        <p:spPr>
          <a:xfrm>
            <a:off x="5029200" y="914400"/>
            <a:ext cx="6501810" cy="1097280"/>
          </a:xfrm>
        </p:spPr>
        <p:txBody>
          <a:bodyPr vert="horz" lIns="91440" tIns="45720" rIns="91440" bIns="45720" rtlCol="0" anchor="t">
            <a:normAutofit/>
          </a:bodyPr>
          <a:lstStyle/>
          <a:p>
            <a:r>
              <a:rPr lang="en-US"/>
              <a:t>Data Transformation</a:t>
            </a:r>
          </a:p>
        </p:txBody>
      </p:sp>
      <p:sp>
        <p:nvSpPr>
          <p:cNvPr id="4" name="Content Placeholder 3">
            <a:extLst>
              <a:ext uri="{FF2B5EF4-FFF2-40B4-BE49-F238E27FC236}">
                <a16:creationId xmlns:a16="http://schemas.microsoft.com/office/drawing/2014/main" id="{1E162F1F-05B3-A877-051B-B2F306287E6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spcBef>
                <a:spcPts val="2500"/>
              </a:spcBef>
              <a:buNone/>
            </a:pPr>
            <a:r>
              <a:rPr lang="en-US" sz="1400" b="1"/>
              <a:t>Definition of Data Transformation</a:t>
            </a:r>
          </a:p>
          <a:p>
            <a:pPr marL="0" lvl="1" indent="0">
              <a:buNone/>
            </a:pPr>
            <a:r>
              <a:rPr lang="en-US" sz="1400"/>
              <a:t>Data transformation is the process of converting data from one format to another, cleaning, filtering, and enriching data to make it more suitable for analysis.</a:t>
            </a:r>
          </a:p>
          <a:p>
            <a:pPr marL="0" indent="0">
              <a:spcBef>
                <a:spcPts val="2500"/>
              </a:spcBef>
              <a:buNone/>
            </a:pPr>
            <a:r>
              <a:rPr lang="en-US" sz="1400" b="1"/>
              <a:t>Data Integration</a:t>
            </a:r>
          </a:p>
          <a:p>
            <a:pPr marL="0" lvl="1" indent="0">
              <a:buNone/>
            </a:pPr>
            <a:r>
              <a:rPr lang="en-US" sz="1400"/>
              <a:t>Data integration is a part of data transformation that involves combining data from multiple sources into a single, unified view.</a:t>
            </a:r>
          </a:p>
          <a:p>
            <a:pPr marL="0" indent="0">
              <a:spcBef>
                <a:spcPts val="2500"/>
              </a:spcBef>
              <a:buNone/>
            </a:pPr>
            <a:r>
              <a:rPr lang="en-US" sz="1400" b="1"/>
              <a:t>Tools for Data Transformation</a:t>
            </a:r>
          </a:p>
          <a:p>
            <a:pPr marL="0" lvl="1" indent="0">
              <a:buNone/>
            </a:pPr>
            <a:r>
              <a:rPr lang="en-US" sz="1400"/>
              <a:t>Tools such as Apache NiFi, Talend, and SSIS are commonly used for data transformation.</a:t>
            </a:r>
            <a:endParaRPr lang="en-IN" sz="1400"/>
          </a:p>
        </p:txBody>
      </p:sp>
      <p:sp>
        <p:nvSpPr>
          <p:cNvPr id="3" name="Slide Number Placeholder 2">
            <a:extLst>
              <a:ext uri="{FF2B5EF4-FFF2-40B4-BE49-F238E27FC236}">
                <a16:creationId xmlns:a16="http://schemas.microsoft.com/office/drawing/2014/main" id="{2167468A-6880-2EB6-E368-6BA2A806A4A9}"/>
              </a:ext>
            </a:extLst>
          </p:cNvPr>
          <p:cNvSpPr>
            <a:spLocks noGrp="1"/>
          </p:cNvSpPr>
          <p:nvPr>
            <p:ph type="sldNum" sz="quarter" idx="12"/>
          </p:nvPr>
        </p:nvSpPr>
        <p:spPr/>
        <p:txBody>
          <a:bodyPr/>
          <a:lstStyle/>
          <a:p>
            <a:fld id="{70C12960-6E85-460F-B6E3-5B82CB31AF3D}" type="slidenum">
              <a:rPr lang="en-US" smtClean="0"/>
              <a:t>6</a:t>
            </a:fld>
            <a:endParaRPr lang="en-US"/>
          </a:p>
        </p:txBody>
      </p:sp>
    </p:spTree>
    <p:extLst>
      <p:ext uri="{BB962C8B-B14F-4D97-AF65-F5344CB8AC3E}">
        <p14:creationId xmlns:p14="http://schemas.microsoft.com/office/powerpoint/2010/main" val="3318451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8FCE029E-5073-4498-8104-8427AA98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5" name="Content Placeholder 4" descr=" Leadership Concept">
            <a:extLst>
              <a:ext uri="{FF2B5EF4-FFF2-40B4-BE49-F238E27FC236}">
                <a16:creationId xmlns:a16="http://schemas.microsoft.com/office/drawing/2014/main" id="{F09D54B0-BA2F-4760-906C-C38EAD06C9F4}"/>
              </a:ext>
            </a:extLst>
          </p:cNvPr>
          <p:cNvPicPr>
            <a:picLocks noGrp="1" noChangeAspect="1"/>
          </p:cNvPicPr>
          <p:nvPr>
            <p:ph sz="half" idx="1"/>
          </p:nvPr>
        </p:nvPicPr>
        <p:blipFill>
          <a:blip r:embed="rId3"/>
          <a:srcRect r="10834" b="2"/>
          <a:stretch/>
        </p:blipFill>
        <p:spPr>
          <a:xfrm>
            <a:off x="1" y="2613892"/>
            <a:ext cx="4946906" cy="3689359"/>
          </a:xfrm>
          <a:prstGeom prst="rect">
            <a:avLst/>
          </a:prstGeom>
        </p:spPr>
      </p:pic>
      <p:cxnSp>
        <p:nvCxnSpPr>
          <p:cNvPr id="14" name="Straight Connector 13">
            <a:extLst>
              <a:ext uri="{FF2B5EF4-FFF2-40B4-BE49-F238E27FC236}">
                <a16:creationId xmlns:a16="http://schemas.microsoft.com/office/drawing/2014/main" id="{BEFF515C-2521-4964-9DAC-2BFB8EC86A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74446"/>
            <a:ext cx="4946904"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8D1CC5C-CFAC-77D2-06E8-07C81FA0B8E8}"/>
              </a:ext>
            </a:extLst>
          </p:cNvPr>
          <p:cNvSpPr>
            <a:spLocks noGrp="1"/>
          </p:cNvSpPr>
          <p:nvPr>
            <p:ph type="title"/>
          </p:nvPr>
        </p:nvSpPr>
        <p:spPr>
          <a:xfrm>
            <a:off x="640080" y="914401"/>
            <a:ext cx="4306824" cy="1477817"/>
          </a:xfrm>
        </p:spPr>
        <p:txBody>
          <a:bodyPr vert="horz" lIns="91440" tIns="45720" rIns="91440" bIns="45720" rtlCol="0" anchor="t">
            <a:normAutofit/>
          </a:bodyPr>
          <a:lstStyle/>
          <a:p>
            <a:r>
              <a:rPr lang="en-US"/>
              <a:t>Data processing</a:t>
            </a:r>
          </a:p>
        </p:txBody>
      </p:sp>
      <p:sp>
        <p:nvSpPr>
          <p:cNvPr id="4" name="Content Placeholder 3">
            <a:extLst>
              <a:ext uri="{FF2B5EF4-FFF2-40B4-BE49-F238E27FC236}">
                <a16:creationId xmlns:a16="http://schemas.microsoft.com/office/drawing/2014/main" id="{56F1E76E-8A5C-17A4-9A95-D9E8F51BB70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8" y="1014984"/>
            <a:ext cx="5889161" cy="5288267"/>
          </a:xfrm>
        </p:spPr>
        <p:txBody>
          <a:bodyPr>
            <a:normAutofit/>
          </a:bodyPr>
          <a:lstStyle/>
          <a:p>
            <a:pPr marL="0" indent="0">
              <a:spcBef>
                <a:spcPts val="2500"/>
              </a:spcBef>
              <a:buNone/>
            </a:pPr>
            <a:r>
              <a:rPr lang="en-US" sz="1400" b="1"/>
              <a:t>Stream processing</a:t>
            </a:r>
          </a:p>
          <a:p>
            <a:pPr marL="0" lvl="1" indent="0">
              <a:buNone/>
            </a:pPr>
            <a:r>
              <a:rPr lang="en-US" sz="1400"/>
              <a:t>Stream processing is a data processing approach where data is processed in real-time as it is generated, allowing for faster insights and decision-making.</a:t>
            </a:r>
          </a:p>
          <a:p>
            <a:pPr marL="0" indent="0">
              <a:spcBef>
                <a:spcPts val="2500"/>
              </a:spcBef>
              <a:buNone/>
            </a:pPr>
            <a:r>
              <a:rPr lang="en-US" sz="1400" b="1"/>
              <a:t>Batch processing</a:t>
            </a:r>
          </a:p>
          <a:p>
            <a:pPr marL="0" lvl="1" indent="0">
              <a:buNone/>
            </a:pPr>
            <a:r>
              <a:rPr lang="en-US" sz="1400"/>
              <a:t>Batch processing is a data processing approach where data is processed in intervals, allowing for larger volumes of data to be processed at once.</a:t>
            </a:r>
          </a:p>
          <a:p>
            <a:pPr marL="0" indent="0">
              <a:spcBef>
                <a:spcPts val="2500"/>
              </a:spcBef>
              <a:buNone/>
            </a:pPr>
            <a:r>
              <a:rPr lang="en-US" sz="1400" b="1"/>
              <a:t>Apache Kafka</a:t>
            </a:r>
          </a:p>
          <a:p>
            <a:pPr marL="0" lvl="1" indent="0">
              <a:buNone/>
            </a:pPr>
            <a:r>
              <a:rPr lang="en-US" sz="1400"/>
              <a:t>Apache Kafka is an open-source platform for real-time data streaming and processing. It is often used for building real-time data pipelines and streaming applications.</a:t>
            </a:r>
          </a:p>
          <a:p>
            <a:pPr marL="0" indent="0">
              <a:spcBef>
                <a:spcPts val="2500"/>
              </a:spcBef>
              <a:buNone/>
            </a:pPr>
            <a:r>
              <a:rPr lang="en-US" sz="1400" b="1"/>
              <a:t>Apache Flink, Spark, and Hive</a:t>
            </a:r>
          </a:p>
          <a:p>
            <a:pPr marL="0" lvl="1" indent="0">
              <a:buNone/>
            </a:pPr>
            <a:r>
              <a:rPr lang="en-US" sz="1400"/>
              <a:t>Apache Flink, Spark, and Hive are popular tools for batch and stream processing. They offer various features and capabilities for processing large volumes of data efficiently.</a:t>
            </a:r>
            <a:endParaRPr lang="en-IN" sz="1400"/>
          </a:p>
        </p:txBody>
      </p:sp>
      <p:sp>
        <p:nvSpPr>
          <p:cNvPr id="3" name="Slide Number Placeholder 2">
            <a:extLst>
              <a:ext uri="{FF2B5EF4-FFF2-40B4-BE49-F238E27FC236}">
                <a16:creationId xmlns:a16="http://schemas.microsoft.com/office/drawing/2014/main" id="{1DCA0E29-2A46-DCAB-6B6B-B23E397C2D02}"/>
              </a:ext>
            </a:extLst>
          </p:cNvPr>
          <p:cNvSpPr>
            <a:spLocks noGrp="1"/>
          </p:cNvSpPr>
          <p:nvPr>
            <p:ph type="sldNum" sz="quarter" idx="12"/>
          </p:nvPr>
        </p:nvSpPr>
        <p:spPr/>
        <p:txBody>
          <a:bodyPr/>
          <a:lstStyle/>
          <a:p>
            <a:fld id="{70C12960-6E85-460F-B6E3-5B82CB31AF3D}" type="slidenum">
              <a:rPr lang="en-US" smtClean="0"/>
              <a:t>7</a:t>
            </a:fld>
            <a:endParaRPr lang="en-US"/>
          </a:p>
        </p:txBody>
      </p:sp>
    </p:spTree>
    <p:extLst>
      <p:ext uri="{BB962C8B-B14F-4D97-AF65-F5344CB8AC3E}">
        <p14:creationId xmlns:p14="http://schemas.microsoft.com/office/powerpoint/2010/main" val="23657313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3d flow chart.">
            <a:extLst>
              <a:ext uri="{FF2B5EF4-FFF2-40B4-BE49-F238E27FC236}">
                <a16:creationId xmlns:a16="http://schemas.microsoft.com/office/drawing/2014/main" id="{258ADDF5-0CF5-4278-9342-3D5D2D2CB7C6}"/>
              </a:ext>
            </a:extLst>
          </p:cNvPr>
          <p:cNvPicPr>
            <a:picLocks noGrp="1" noChangeAspect="1"/>
          </p:cNvPicPr>
          <p:nvPr>
            <p:ph sz="half" idx="1"/>
          </p:nvPr>
        </p:nvPicPr>
        <p:blipFill>
          <a:blip r:embed="rId3"/>
          <a:srcRect l="18479" r="10827" b="-1"/>
          <a:stretch/>
        </p:blipFill>
        <p:spPr>
          <a:xfrm>
            <a:off x="20" y="535709"/>
            <a:ext cx="8229580" cy="5820640"/>
          </a:xfrm>
          <a:prstGeom prst="rect">
            <a:avLst/>
          </a:prstGeom>
        </p:spPr>
      </p:pic>
      <p:cxnSp>
        <p:nvCxnSpPr>
          <p:cNvPr id="14" name="Straight Connector 13">
            <a:extLst>
              <a:ext uri="{FF2B5EF4-FFF2-40B4-BE49-F238E27FC236}">
                <a16:creationId xmlns:a16="http://schemas.microsoft.com/office/drawing/2014/main" id="{02C7985C-B0C3-CC50-E86A-B5EBA40E01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 y="6359240"/>
            <a:ext cx="82296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9222A4F-2AEF-8A9C-87F0-8C28F1EA80E4}"/>
              </a:ext>
            </a:extLst>
          </p:cNvPr>
          <p:cNvSpPr>
            <a:spLocks noGrp="1"/>
          </p:cNvSpPr>
          <p:nvPr>
            <p:ph type="title"/>
          </p:nvPr>
        </p:nvSpPr>
        <p:spPr>
          <a:xfrm>
            <a:off x="8719126" y="979051"/>
            <a:ext cx="2811879" cy="1807048"/>
          </a:xfrm>
        </p:spPr>
        <p:txBody>
          <a:bodyPr vert="horz" lIns="91440" tIns="45720" rIns="91440" bIns="45720" rtlCol="0" anchor="b">
            <a:normAutofit/>
          </a:bodyPr>
          <a:lstStyle/>
          <a:p>
            <a:r>
              <a:rPr lang="en-US" sz="3600"/>
              <a:t>Automating Workflows</a:t>
            </a:r>
          </a:p>
        </p:txBody>
      </p:sp>
      <p:sp>
        <p:nvSpPr>
          <p:cNvPr id="4" name="Content Placeholder 3">
            <a:extLst>
              <a:ext uri="{FF2B5EF4-FFF2-40B4-BE49-F238E27FC236}">
                <a16:creationId xmlns:a16="http://schemas.microsoft.com/office/drawing/2014/main" id="{51C70426-EF18-336D-D493-0524C0FC4B85}"/>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719128" y="2922624"/>
            <a:ext cx="2811880" cy="3409950"/>
          </a:xfrm>
        </p:spPr>
        <p:txBody>
          <a:bodyPr>
            <a:normAutofit/>
          </a:bodyPr>
          <a:lstStyle/>
          <a:p>
            <a:pPr marL="0" indent="0">
              <a:spcBef>
                <a:spcPts val="2500"/>
              </a:spcBef>
              <a:buNone/>
            </a:pPr>
            <a:endParaRPr lang="en-US" sz="1400" b="1"/>
          </a:p>
          <a:p>
            <a:pPr marL="0" lvl="1" indent="0">
              <a:buNone/>
            </a:pPr>
            <a:r>
              <a:rPr lang="en-US" sz="1400"/>
              <a:t>Automating workflows is an essential step towards streamlining data processing. Tools like Airflow and Apache Oozie allow for scheduling and monitoring of workflows, making the data processing process more efficient.</a:t>
            </a:r>
            <a:endParaRPr lang="en-IN" sz="1400"/>
          </a:p>
        </p:txBody>
      </p:sp>
      <p:sp>
        <p:nvSpPr>
          <p:cNvPr id="3" name="Slide Number Placeholder 2">
            <a:extLst>
              <a:ext uri="{FF2B5EF4-FFF2-40B4-BE49-F238E27FC236}">
                <a16:creationId xmlns:a16="http://schemas.microsoft.com/office/drawing/2014/main" id="{38A88FF4-55DB-AD06-66E4-40838DA9043B}"/>
              </a:ext>
            </a:extLst>
          </p:cNvPr>
          <p:cNvSpPr>
            <a:spLocks noGrp="1"/>
          </p:cNvSpPr>
          <p:nvPr>
            <p:ph type="sldNum" sz="quarter" idx="12"/>
          </p:nvPr>
        </p:nvSpPr>
        <p:spPr/>
        <p:txBody>
          <a:bodyPr/>
          <a:lstStyle/>
          <a:p>
            <a:fld id="{70C12960-6E85-460F-B6E3-5B82CB31AF3D}" type="slidenum">
              <a:rPr lang="en-US" smtClean="0"/>
              <a:t>8</a:t>
            </a:fld>
            <a:endParaRPr lang="en-US"/>
          </a:p>
        </p:txBody>
      </p:sp>
    </p:spTree>
    <p:extLst>
      <p:ext uri="{BB962C8B-B14F-4D97-AF65-F5344CB8AC3E}">
        <p14:creationId xmlns:p14="http://schemas.microsoft.com/office/powerpoint/2010/main" val="12998854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8FCE029E-5073-4498-8104-8427AA98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5" name="Content Placeholder 4" descr="Illuminated server room panel">
            <a:extLst>
              <a:ext uri="{FF2B5EF4-FFF2-40B4-BE49-F238E27FC236}">
                <a16:creationId xmlns:a16="http://schemas.microsoft.com/office/drawing/2014/main" id="{8B2975F1-C5A2-42B8-9DB5-C3A91C5910D5}"/>
              </a:ext>
            </a:extLst>
          </p:cNvPr>
          <p:cNvPicPr>
            <a:picLocks noGrp="1" noChangeAspect="1"/>
          </p:cNvPicPr>
          <p:nvPr>
            <p:ph sz="half" idx="1"/>
          </p:nvPr>
        </p:nvPicPr>
        <p:blipFill>
          <a:blip r:embed="rId3"/>
          <a:srcRect l="1633" r="8866" b="1"/>
          <a:stretch/>
        </p:blipFill>
        <p:spPr>
          <a:xfrm>
            <a:off x="1" y="2613892"/>
            <a:ext cx="4946906" cy="3689359"/>
          </a:xfrm>
          <a:prstGeom prst="rect">
            <a:avLst/>
          </a:prstGeom>
        </p:spPr>
      </p:pic>
      <p:cxnSp>
        <p:nvCxnSpPr>
          <p:cNvPr id="14" name="Straight Connector 13">
            <a:extLst>
              <a:ext uri="{FF2B5EF4-FFF2-40B4-BE49-F238E27FC236}">
                <a16:creationId xmlns:a16="http://schemas.microsoft.com/office/drawing/2014/main" id="{BEFF515C-2521-4964-9DAC-2BFB8EC86A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74446"/>
            <a:ext cx="4946904"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6ED8D31-A66E-1826-29B9-817CEA3E901B}"/>
              </a:ext>
            </a:extLst>
          </p:cNvPr>
          <p:cNvSpPr>
            <a:spLocks noGrp="1"/>
          </p:cNvSpPr>
          <p:nvPr>
            <p:ph type="title"/>
          </p:nvPr>
        </p:nvSpPr>
        <p:spPr>
          <a:xfrm>
            <a:off x="640080" y="914401"/>
            <a:ext cx="4306824" cy="1477817"/>
          </a:xfrm>
        </p:spPr>
        <p:txBody>
          <a:bodyPr vert="horz" lIns="91440" tIns="45720" rIns="91440" bIns="45720" rtlCol="0" anchor="t">
            <a:normAutofit/>
          </a:bodyPr>
          <a:lstStyle/>
          <a:p>
            <a:pPr>
              <a:lnSpc>
                <a:spcPct val="90000"/>
              </a:lnSpc>
            </a:pPr>
            <a:r>
              <a:rPr lang="en-US" sz="3100"/>
              <a:t>Data Warehouses, Data Marts, Data Lakes</a:t>
            </a:r>
          </a:p>
        </p:txBody>
      </p:sp>
      <p:sp>
        <p:nvSpPr>
          <p:cNvPr id="4" name="Content Placeholder 3">
            <a:extLst>
              <a:ext uri="{FF2B5EF4-FFF2-40B4-BE49-F238E27FC236}">
                <a16:creationId xmlns:a16="http://schemas.microsoft.com/office/drawing/2014/main" id="{C55E8CAD-E255-4928-AA54-7AB53B0E0D6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8" y="1014984"/>
            <a:ext cx="5889161" cy="5288267"/>
          </a:xfrm>
        </p:spPr>
        <p:txBody>
          <a:bodyPr>
            <a:normAutofit/>
          </a:bodyPr>
          <a:lstStyle/>
          <a:p>
            <a:pPr marL="0" indent="0">
              <a:spcBef>
                <a:spcPts val="2500"/>
              </a:spcBef>
              <a:buNone/>
            </a:pPr>
            <a:r>
              <a:rPr lang="en-US" sz="1400" b="1" dirty="0"/>
              <a:t>Data Warehouses</a:t>
            </a:r>
          </a:p>
          <a:p>
            <a:pPr marL="0" lvl="1" indent="0">
              <a:buNone/>
            </a:pPr>
            <a:r>
              <a:rPr lang="en-US" sz="1400" dirty="0"/>
              <a:t>Data Warehouses are widely used in modern data ecosystems for storing large amounts of data from multiple sources. They allow for efficient querying and analysis of data from various sources, enabling businesses to make informed decisions based on the insights gained from the data.</a:t>
            </a:r>
          </a:p>
          <a:p>
            <a:pPr marL="0" indent="0">
              <a:spcBef>
                <a:spcPts val="2500"/>
              </a:spcBef>
              <a:buNone/>
            </a:pPr>
            <a:r>
              <a:rPr lang="en-US" sz="1400" b="1" dirty="0"/>
              <a:t>Data Marts</a:t>
            </a:r>
          </a:p>
          <a:p>
            <a:pPr marL="0" lvl="1" indent="0">
              <a:buNone/>
            </a:pPr>
            <a:r>
              <a:rPr lang="en-US" sz="1400" dirty="0"/>
              <a:t>Data Marts are subsets of Data Warehouses that contain data specific to a particular department or business unit. They allow for quick access to relevant data for decision-making, facilitating agile and efficient business processes.</a:t>
            </a:r>
          </a:p>
          <a:p>
            <a:pPr marL="0" indent="0">
              <a:spcBef>
                <a:spcPts val="2500"/>
              </a:spcBef>
              <a:buNone/>
            </a:pPr>
            <a:r>
              <a:rPr lang="en-US" sz="1400" b="1" dirty="0"/>
              <a:t>Data Lakes</a:t>
            </a:r>
          </a:p>
          <a:p>
            <a:pPr marL="0" lvl="1" indent="0">
              <a:buNone/>
            </a:pPr>
            <a:r>
              <a:rPr lang="en-US" sz="1400" dirty="0"/>
              <a:t>Data Lakes are storage repositories that store raw, unstructured data from various sources. They allow for the storage of data in its original form, enabling flexible and scalable analysis of the data. Data Lakes are used in modern data ecosystems to store data that is not yet ready for analysis or has not yet been identified as valuable.</a:t>
            </a:r>
            <a:endParaRPr lang="en-IN" sz="1400" dirty="0"/>
          </a:p>
        </p:txBody>
      </p:sp>
      <p:sp>
        <p:nvSpPr>
          <p:cNvPr id="3" name="Slide Number Placeholder 2">
            <a:extLst>
              <a:ext uri="{FF2B5EF4-FFF2-40B4-BE49-F238E27FC236}">
                <a16:creationId xmlns:a16="http://schemas.microsoft.com/office/drawing/2014/main" id="{B9784173-58C5-2155-9EB5-2CC68C582E19}"/>
              </a:ext>
            </a:extLst>
          </p:cNvPr>
          <p:cNvSpPr>
            <a:spLocks noGrp="1"/>
          </p:cNvSpPr>
          <p:nvPr>
            <p:ph type="sldNum" sz="quarter" idx="12"/>
          </p:nvPr>
        </p:nvSpPr>
        <p:spPr/>
        <p:txBody>
          <a:bodyPr/>
          <a:lstStyle/>
          <a:p>
            <a:fld id="{70C12960-6E85-460F-B6E3-5B82CB31AF3D}" type="slidenum">
              <a:rPr lang="en-US" smtClean="0"/>
              <a:t>9</a:t>
            </a:fld>
            <a:endParaRPr lang="en-US"/>
          </a:p>
        </p:txBody>
      </p:sp>
    </p:spTree>
    <p:extLst>
      <p:ext uri="{BB962C8B-B14F-4D97-AF65-F5344CB8AC3E}">
        <p14:creationId xmlns:p14="http://schemas.microsoft.com/office/powerpoint/2010/main" val="41577524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C5E6D116-0DF0-763D-9611-ACD5E1D2E566}"/>
              </a:ext>
            </a:extLst>
          </p:cNvPr>
          <p:cNvPicPr>
            <a:picLocks noChangeAspect="1"/>
          </p:cNvPicPr>
          <p:nvPr/>
        </p:nvPicPr>
        <p:blipFill>
          <a:blip r:embed="rId3"/>
          <a:srcRect t="18801" b="10471"/>
          <a:stretch/>
        </p:blipFill>
        <p:spPr>
          <a:xfrm>
            <a:off x="20" y="535709"/>
            <a:ext cx="8229580" cy="5820640"/>
          </a:xfrm>
          <a:prstGeom prst="rect">
            <a:avLst/>
          </a:prstGeom>
        </p:spPr>
      </p:pic>
      <p:cxnSp>
        <p:nvCxnSpPr>
          <p:cNvPr id="22" name="Straight Connector 21">
            <a:extLst>
              <a:ext uri="{FF2B5EF4-FFF2-40B4-BE49-F238E27FC236}">
                <a16:creationId xmlns:a16="http://schemas.microsoft.com/office/drawing/2014/main" id="{02C7985C-B0C3-CC50-E86A-B5EBA40E01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 y="6359240"/>
            <a:ext cx="82296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97CBB96-6760-38A0-7150-C6618F415331}"/>
              </a:ext>
            </a:extLst>
          </p:cNvPr>
          <p:cNvSpPr>
            <a:spLocks noGrp="1"/>
          </p:cNvSpPr>
          <p:nvPr>
            <p:ph type="title"/>
          </p:nvPr>
        </p:nvSpPr>
        <p:spPr>
          <a:xfrm>
            <a:off x="8556978" y="979051"/>
            <a:ext cx="2974027" cy="1131971"/>
          </a:xfrm>
        </p:spPr>
        <p:txBody>
          <a:bodyPr anchor="b">
            <a:normAutofit fontScale="90000"/>
          </a:bodyPr>
          <a:lstStyle/>
          <a:p>
            <a:r>
              <a:rPr lang="en-IN" sz="3600" dirty="0"/>
              <a:t>Data Warehouses</a:t>
            </a:r>
          </a:p>
        </p:txBody>
      </p:sp>
      <p:sp>
        <p:nvSpPr>
          <p:cNvPr id="3" name="Content Placeholder 2">
            <a:extLst>
              <a:ext uri="{FF2B5EF4-FFF2-40B4-BE49-F238E27FC236}">
                <a16:creationId xmlns:a16="http://schemas.microsoft.com/office/drawing/2014/main" id="{07B001FE-FFF8-5587-A4A6-61CF7E504A0B}"/>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444088" y="2218956"/>
            <a:ext cx="3262489" cy="4137393"/>
          </a:xfrm>
        </p:spPr>
        <p:txBody>
          <a:bodyPr anchor="t">
            <a:noAutofit/>
          </a:bodyPr>
          <a:lstStyle/>
          <a:p>
            <a:pPr marL="0" indent="0">
              <a:lnSpc>
                <a:spcPct val="110000"/>
              </a:lnSpc>
              <a:spcBef>
                <a:spcPts val="2500"/>
              </a:spcBef>
              <a:buNone/>
            </a:pPr>
            <a:endParaRPr lang="en-US" sz="1800" b="1" dirty="0"/>
          </a:p>
          <a:p>
            <a:pPr marL="0" lvl="1" indent="0">
              <a:lnSpc>
                <a:spcPct val="110000"/>
              </a:lnSpc>
              <a:buNone/>
            </a:pPr>
            <a:r>
              <a:rPr lang="en-US" dirty="0"/>
              <a:t>A data warehouse is a central repository of integrated data from various sources. It is designed for OLAP (Online Analytical Processing) and supports complex queries and reporting. Popular data warehousing solutions include Snowflake, Amazon Redshift, and Google </a:t>
            </a:r>
            <a:r>
              <a:rPr lang="en-US" dirty="0" err="1"/>
              <a:t>BigQuery</a:t>
            </a:r>
            <a:r>
              <a:rPr lang="en-US" dirty="0"/>
              <a:t>.</a:t>
            </a:r>
            <a:endParaRPr lang="en-IN" dirty="0"/>
          </a:p>
        </p:txBody>
      </p:sp>
      <p:sp>
        <p:nvSpPr>
          <p:cNvPr id="4" name="Slide Number Placeholder 3">
            <a:extLst>
              <a:ext uri="{FF2B5EF4-FFF2-40B4-BE49-F238E27FC236}">
                <a16:creationId xmlns:a16="http://schemas.microsoft.com/office/drawing/2014/main" id="{F0B06BCE-5808-18ED-C664-D54E3F6A9BC5}"/>
              </a:ext>
            </a:extLst>
          </p:cNvPr>
          <p:cNvSpPr>
            <a:spLocks noGrp="1"/>
          </p:cNvSpPr>
          <p:nvPr>
            <p:ph type="sldNum" sz="quarter" idx="12"/>
          </p:nvPr>
        </p:nvSpPr>
        <p:spPr>
          <a:xfrm>
            <a:off x="10807995" y="6356350"/>
            <a:ext cx="723014" cy="365125"/>
          </a:xfrm>
        </p:spPr>
        <p:txBody>
          <a:bodyPr>
            <a:normAutofit/>
          </a:bodyPr>
          <a:lstStyle/>
          <a:p>
            <a:pPr>
              <a:spcAft>
                <a:spcPts val="600"/>
              </a:spcAft>
            </a:pPr>
            <a:fld id="{70C12960-6E85-460F-B6E3-5B82CB31AF3D}" type="slidenum">
              <a:rPr lang="en-US" smtClean="0"/>
              <a:pPr>
                <a:spcAft>
                  <a:spcPts val="600"/>
                </a:spcAft>
              </a:pPr>
              <a:t>10</a:t>
            </a:fld>
            <a:endParaRPr lang="en-US"/>
          </a:p>
        </p:txBody>
      </p:sp>
    </p:spTree>
    <p:extLst>
      <p:ext uri="{BB962C8B-B14F-4D97-AF65-F5344CB8AC3E}">
        <p14:creationId xmlns:p14="http://schemas.microsoft.com/office/powerpoint/2010/main" val="4404145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21" name="Rectangle 20">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a:extLst>
              <a:ext uri="{FF2B5EF4-FFF2-40B4-BE49-F238E27FC236}">
                <a16:creationId xmlns:a16="http://schemas.microsoft.com/office/drawing/2014/main" id="{B57EE90C-10CD-7264-CF0E-B65C0CA30F8D}"/>
              </a:ext>
            </a:extLst>
          </p:cNvPr>
          <p:cNvPicPr>
            <a:picLocks noGrp="1" noChangeAspect="1"/>
          </p:cNvPicPr>
          <p:nvPr>
            <p:ph sz="half" idx="1"/>
          </p:nvPr>
        </p:nvPicPr>
        <p:blipFill>
          <a:blip r:embed="rId3"/>
          <a:srcRect t="13834" b="15438"/>
          <a:stretch/>
        </p:blipFill>
        <p:spPr>
          <a:xfrm>
            <a:off x="20" y="535709"/>
            <a:ext cx="8229580" cy="5820640"/>
          </a:xfrm>
          <a:prstGeom prst="rect">
            <a:avLst/>
          </a:prstGeom>
        </p:spPr>
      </p:pic>
      <p:cxnSp>
        <p:nvCxnSpPr>
          <p:cNvPr id="23" name="Straight Connector 22">
            <a:extLst>
              <a:ext uri="{FF2B5EF4-FFF2-40B4-BE49-F238E27FC236}">
                <a16:creationId xmlns:a16="http://schemas.microsoft.com/office/drawing/2014/main" id="{02C7985C-B0C3-CC50-E86A-B5EBA40E01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 y="6359240"/>
            <a:ext cx="82296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BDBC509-3EA4-1BEB-6DE2-52C36FAEA1FA}"/>
              </a:ext>
            </a:extLst>
          </p:cNvPr>
          <p:cNvSpPr>
            <a:spLocks noGrp="1"/>
          </p:cNvSpPr>
          <p:nvPr>
            <p:ph type="title"/>
          </p:nvPr>
        </p:nvSpPr>
        <p:spPr>
          <a:xfrm>
            <a:off x="8398933" y="254117"/>
            <a:ext cx="2811879" cy="804593"/>
          </a:xfrm>
        </p:spPr>
        <p:txBody>
          <a:bodyPr vert="horz" lIns="91440" tIns="45720" rIns="91440" bIns="45720" rtlCol="0" anchor="b">
            <a:normAutofit/>
          </a:bodyPr>
          <a:lstStyle/>
          <a:p>
            <a:r>
              <a:rPr lang="en-US" sz="3600" dirty="0"/>
              <a:t>Data marts</a:t>
            </a:r>
          </a:p>
        </p:txBody>
      </p:sp>
      <p:sp>
        <p:nvSpPr>
          <p:cNvPr id="4" name="Content Placeholder 3">
            <a:extLst>
              <a:ext uri="{FF2B5EF4-FFF2-40B4-BE49-F238E27FC236}">
                <a16:creationId xmlns:a16="http://schemas.microsoft.com/office/drawing/2014/main" id="{F948BF8E-35C5-1F00-5826-61BB7B021E7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98933" y="1058710"/>
            <a:ext cx="3533423" cy="5161115"/>
          </a:xfrm>
        </p:spPr>
        <p:txBody>
          <a:bodyPr anchor="t">
            <a:noAutofit/>
          </a:bodyPr>
          <a:lstStyle/>
          <a:p>
            <a:pPr marL="0" indent="0">
              <a:lnSpc>
                <a:spcPct val="110000"/>
              </a:lnSpc>
              <a:spcBef>
                <a:spcPts val="2500"/>
              </a:spcBef>
              <a:buNone/>
            </a:pPr>
            <a:r>
              <a:rPr lang="en-US" sz="1300" b="1" dirty="0"/>
              <a:t>Data Mart Overview</a:t>
            </a:r>
          </a:p>
          <a:p>
            <a:pPr marL="0" lvl="1" indent="0">
              <a:lnSpc>
                <a:spcPct val="110000"/>
              </a:lnSpc>
              <a:buNone/>
            </a:pPr>
            <a:r>
              <a:rPr lang="en-US" sz="1300" dirty="0"/>
              <a:t>A data mart is a subset of a data warehouse that is designed for specific business units. Data marts are created to help organizations improve their decision-making process by providing quick access to relevant data.</a:t>
            </a:r>
          </a:p>
          <a:p>
            <a:pPr marL="0" indent="0">
              <a:lnSpc>
                <a:spcPct val="110000"/>
              </a:lnSpc>
              <a:spcBef>
                <a:spcPts val="2500"/>
              </a:spcBef>
              <a:buNone/>
            </a:pPr>
            <a:r>
              <a:rPr lang="en-US" sz="1300" b="1" dirty="0"/>
              <a:t>Departmental Analytics and Reporting</a:t>
            </a:r>
          </a:p>
          <a:p>
            <a:pPr marL="0" lvl="1" indent="0">
              <a:lnSpc>
                <a:spcPct val="110000"/>
              </a:lnSpc>
              <a:buNone/>
            </a:pPr>
            <a:r>
              <a:rPr lang="en-US" sz="1300" dirty="0"/>
              <a:t>Data marts are typically used for departmental analytics and reporting. They are designed to meet the specific needs of a particular business unit.</a:t>
            </a:r>
          </a:p>
          <a:p>
            <a:pPr marL="0" indent="0">
              <a:lnSpc>
                <a:spcPct val="110000"/>
              </a:lnSpc>
              <a:spcBef>
                <a:spcPts val="2500"/>
              </a:spcBef>
              <a:buNone/>
            </a:pPr>
            <a:r>
              <a:rPr lang="en-US" sz="1300" b="1" dirty="0"/>
              <a:t>Data Warehouse vs Data Mart</a:t>
            </a:r>
          </a:p>
          <a:p>
            <a:pPr marL="0" lvl="1" indent="0">
              <a:lnSpc>
                <a:spcPct val="110000"/>
              </a:lnSpc>
              <a:buNone/>
            </a:pPr>
            <a:r>
              <a:rPr lang="en-US" sz="1300" dirty="0"/>
              <a:t>Data warehouses are used for enterprise-wide analytics, while data marts are used for departmental analytics and reporting. Data warehouses are generally larger and more complex than data marts, and they are designed to support a wider range of analytics.</a:t>
            </a:r>
            <a:endParaRPr lang="en-IN" sz="1300" dirty="0"/>
          </a:p>
        </p:txBody>
      </p:sp>
      <p:sp>
        <p:nvSpPr>
          <p:cNvPr id="3" name="Slide Number Placeholder 2">
            <a:extLst>
              <a:ext uri="{FF2B5EF4-FFF2-40B4-BE49-F238E27FC236}">
                <a16:creationId xmlns:a16="http://schemas.microsoft.com/office/drawing/2014/main" id="{B692A5B4-7B9D-AD5A-10F7-C1EAEB5F2944}"/>
              </a:ext>
            </a:extLst>
          </p:cNvPr>
          <p:cNvSpPr>
            <a:spLocks noGrp="1"/>
          </p:cNvSpPr>
          <p:nvPr>
            <p:ph type="sldNum" sz="quarter" idx="12"/>
          </p:nvPr>
        </p:nvSpPr>
        <p:spPr>
          <a:xfrm>
            <a:off x="10807995" y="6356350"/>
            <a:ext cx="723014" cy="365125"/>
          </a:xfrm>
        </p:spPr>
        <p:txBody>
          <a:bodyPr vert="horz" lIns="91440" tIns="45720" rIns="91440" bIns="45720" rtlCol="0" anchor="ctr">
            <a:normAutofit/>
          </a:bodyPr>
          <a:lstStyle/>
          <a:p>
            <a:pPr>
              <a:spcAft>
                <a:spcPts val="600"/>
              </a:spcAft>
            </a:pPr>
            <a:fld id="{70C12960-6E85-460F-B6E3-5B82CB31AF3D}" type="slidenum">
              <a:rPr lang="en-US" smtClean="0"/>
              <a:pPr>
                <a:spcAft>
                  <a:spcPts val="600"/>
                </a:spcAft>
              </a:pPr>
              <a:t>11</a:t>
            </a:fld>
            <a:endParaRPr lang="en-US"/>
          </a:p>
        </p:txBody>
      </p:sp>
    </p:spTree>
    <p:extLst>
      <p:ext uri="{BB962C8B-B14F-4D97-AF65-F5344CB8AC3E}">
        <p14:creationId xmlns:p14="http://schemas.microsoft.com/office/powerpoint/2010/main" val="7152444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Geometric white clouds on a blue sky">
            <a:extLst>
              <a:ext uri="{FF2B5EF4-FFF2-40B4-BE49-F238E27FC236}">
                <a16:creationId xmlns:a16="http://schemas.microsoft.com/office/drawing/2014/main" id="{B0FA0AEA-D95F-4231-9444-1C9D33DBCB77}"/>
              </a:ext>
            </a:extLst>
          </p:cNvPr>
          <p:cNvPicPr>
            <a:picLocks noGrp="1" noChangeAspect="1"/>
          </p:cNvPicPr>
          <p:nvPr>
            <p:ph sz="half" idx="1"/>
          </p:nvPr>
        </p:nvPicPr>
        <p:blipFill>
          <a:blip r:embed="rId3"/>
          <a:srcRect l="4114" r="34012"/>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DEC15F4-49D3-3551-3419-823262A3055F}"/>
              </a:ext>
            </a:extLst>
          </p:cNvPr>
          <p:cNvSpPr>
            <a:spLocks noGrp="1"/>
          </p:cNvSpPr>
          <p:nvPr>
            <p:ph type="title"/>
          </p:nvPr>
        </p:nvSpPr>
        <p:spPr>
          <a:xfrm>
            <a:off x="5029200" y="914400"/>
            <a:ext cx="6501810" cy="1097280"/>
          </a:xfrm>
        </p:spPr>
        <p:txBody>
          <a:bodyPr vert="horz" lIns="91440" tIns="45720" rIns="91440" bIns="45720" rtlCol="0" anchor="t">
            <a:normAutofit/>
          </a:bodyPr>
          <a:lstStyle/>
          <a:p>
            <a:r>
              <a:rPr lang="en-US"/>
              <a:t>Data lakes</a:t>
            </a:r>
          </a:p>
        </p:txBody>
      </p:sp>
      <p:sp>
        <p:nvSpPr>
          <p:cNvPr id="4" name="Content Placeholder 3">
            <a:extLst>
              <a:ext uri="{FF2B5EF4-FFF2-40B4-BE49-F238E27FC236}">
                <a16:creationId xmlns:a16="http://schemas.microsoft.com/office/drawing/2014/main" id="{23D0542C-89A3-D1F5-AF6A-5E3D21E8C46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1821715"/>
            <a:ext cx="6501810" cy="4534633"/>
          </a:xfrm>
        </p:spPr>
        <p:txBody>
          <a:bodyPr>
            <a:normAutofit lnSpcReduction="10000"/>
          </a:bodyPr>
          <a:lstStyle/>
          <a:p>
            <a:pPr marL="0" indent="0">
              <a:spcBef>
                <a:spcPts val="2500"/>
              </a:spcBef>
              <a:buNone/>
            </a:pPr>
            <a:r>
              <a:rPr lang="en-US" sz="1400" b="1" dirty="0"/>
              <a:t>Data Storage and Processing</a:t>
            </a:r>
          </a:p>
          <a:p>
            <a:pPr marL="0" lvl="1" indent="0">
              <a:buNone/>
            </a:pPr>
            <a:r>
              <a:rPr lang="en-US" sz="1400" dirty="0"/>
              <a:t>Data lakes allow for the storage of both structured and unstructured data in raw format, with the ability to process and analyze large amounts of data quickly using machine learning and advanced analytics tools.</a:t>
            </a:r>
          </a:p>
          <a:p>
            <a:pPr marL="0" indent="0">
              <a:spcBef>
                <a:spcPts val="2500"/>
              </a:spcBef>
              <a:buNone/>
            </a:pPr>
            <a:r>
              <a:rPr lang="en-US" sz="1400" b="1" dirty="0"/>
              <a:t>Scalability and Flexibility</a:t>
            </a:r>
          </a:p>
          <a:p>
            <a:pPr marL="0" lvl="1" indent="0">
              <a:buNone/>
            </a:pPr>
            <a:r>
              <a:rPr lang="en-US" sz="1400" dirty="0"/>
              <a:t>Data lakes are highly scalable and flexible, allowing organizations to add more data sources and processing power as needed to support business growth and changing needs.</a:t>
            </a:r>
          </a:p>
          <a:p>
            <a:pPr marL="0" indent="0">
              <a:spcBef>
                <a:spcPts val="2500"/>
              </a:spcBef>
              <a:buNone/>
            </a:pPr>
            <a:r>
              <a:rPr lang="en-US" sz="1400" b="1" dirty="0"/>
              <a:t>Popular Data Lake Platforms</a:t>
            </a:r>
          </a:p>
          <a:p>
            <a:pPr marL="0" lvl="1" indent="0">
              <a:buNone/>
            </a:pPr>
            <a:r>
              <a:rPr lang="en-US" sz="1400" dirty="0"/>
              <a:t>Popular data lake platforms include AWS S3, Azure Data Lake, and Google Cloud Storage, each offering unique features and benefits for storing and processing big data.</a:t>
            </a:r>
          </a:p>
          <a:p>
            <a:pPr marL="0" lvl="1" indent="0">
              <a:buNone/>
            </a:pPr>
            <a:endParaRPr lang="en-US" sz="1400" dirty="0"/>
          </a:p>
          <a:p>
            <a:pPr marL="0" lvl="1" indent="0">
              <a:buNone/>
            </a:pPr>
            <a:r>
              <a:rPr lang="en-IN" sz="1400" b="1" dirty="0"/>
              <a:t>NOTE:</a:t>
            </a:r>
            <a:r>
              <a:rPr lang="en-IN" sz="1400" dirty="0"/>
              <a:t> </a:t>
            </a:r>
            <a:r>
              <a:rPr lang="en-US" sz="1400" dirty="0"/>
              <a:t>AWS S3 stands for Amazon Web Services Simple Storage Service.</a:t>
            </a:r>
          </a:p>
        </p:txBody>
      </p:sp>
      <p:sp>
        <p:nvSpPr>
          <p:cNvPr id="3" name="Slide Number Placeholder 2">
            <a:extLst>
              <a:ext uri="{FF2B5EF4-FFF2-40B4-BE49-F238E27FC236}">
                <a16:creationId xmlns:a16="http://schemas.microsoft.com/office/drawing/2014/main" id="{5A817AA0-76A4-F577-8AB3-3F8F16F625F8}"/>
              </a:ext>
            </a:extLst>
          </p:cNvPr>
          <p:cNvSpPr>
            <a:spLocks noGrp="1"/>
          </p:cNvSpPr>
          <p:nvPr>
            <p:ph type="sldNum" sz="quarter" idx="12"/>
          </p:nvPr>
        </p:nvSpPr>
        <p:spPr/>
        <p:txBody>
          <a:bodyPr/>
          <a:lstStyle/>
          <a:p>
            <a:fld id="{70C12960-6E85-460F-B6E3-5B82CB31AF3D}" type="slidenum">
              <a:rPr lang="en-US" smtClean="0"/>
              <a:t>12</a:t>
            </a:fld>
            <a:endParaRPr lang="en-US"/>
          </a:p>
        </p:txBody>
      </p:sp>
    </p:spTree>
    <p:extLst>
      <p:ext uri="{BB962C8B-B14F-4D97-AF65-F5344CB8AC3E}">
        <p14:creationId xmlns:p14="http://schemas.microsoft.com/office/powerpoint/2010/main" val="6724961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Server room interior in datacenter">
            <a:extLst>
              <a:ext uri="{FF2B5EF4-FFF2-40B4-BE49-F238E27FC236}">
                <a16:creationId xmlns:a16="http://schemas.microsoft.com/office/drawing/2014/main" id="{2AB65760-5B7F-4111-9F84-47EFC7F853BA}"/>
              </a:ext>
            </a:extLst>
          </p:cNvPr>
          <p:cNvPicPr>
            <a:picLocks noGrp="1" noChangeAspect="1"/>
          </p:cNvPicPr>
          <p:nvPr>
            <p:ph sz="half" idx="1"/>
          </p:nvPr>
        </p:nvPicPr>
        <p:blipFill>
          <a:blip r:embed="rId3"/>
          <a:srcRect l="25465" r="28129" b="-2"/>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2F30EA4-2EA0-8AF1-0017-1208C8A0D5BF}"/>
              </a:ext>
            </a:extLst>
          </p:cNvPr>
          <p:cNvSpPr>
            <a:spLocks noGrp="1"/>
          </p:cNvSpPr>
          <p:nvPr>
            <p:ph type="title"/>
          </p:nvPr>
        </p:nvSpPr>
        <p:spPr>
          <a:xfrm>
            <a:off x="5029200" y="914400"/>
            <a:ext cx="6501810" cy="1097280"/>
          </a:xfrm>
        </p:spPr>
        <p:txBody>
          <a:bodyPr vert="horz" lIns="91440" tIns="45720" rIns="91440" bIns="45720" rtlCol="0" anchor="t">
            <a:normAutofit/>
          </a:bodyPr>
          <a:lstStyle/>
          <a:p>
            <a:pPr>
              <a:lnSpc>
                <a:spcPct val="90000"/>
              </a:lnSpc>
            </a:pPr>
            <a:r>
              <a:rPr lang="en-US" sz="3400"/>
              <a:t>Comparing Data Warehouses, Data Marts, and Data Lakes</a:t>
            </a:r>
          </a:p>
        </p:txBody>
      </p:sp>
      <p:sp>
        <p:nvSpPr>
          <p:cNvPr id="4" name="Content Placeholder 3">
            <a:extLst>
              <a:ext uri="{FF2B5EF4-FFF2-40B4-BE49-F238E27FC236}">
                <a16:creationId xmlns:a16="http://schemas.microsoft.com/office/drawing/2014/main" id="{C27B7E24-7B5B-4688-7C90-ACFFCD5B6AF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spcBef>
                <a:spcPts val="2500"/>
              </a:spcBef>
              <a:buNone/>
            </a:pPr>
            <a:r>
              <a:rPr lang="en-US" sz="1400" b="1"/>
              <a:t>Data Warehouses</a:t>
            </a:r>
          </a:p>
          <a:p>
            <a:pPr marL="0" lvl="1" indent="0">
              <a:buNone/>
            </a:pPr>
            <a:r>
              <a:rPr lang="en-US" sz="1400"/>
              <a:t>A data warehouse is a central repository of data that is used to support business decisions. It stores historical data and is optimized for complex queries and analysis.</a:t>
            </a:r>
          </a:p>
          <a:p>
            <a:pPr marL="0" indent="0">
              <a:spcBef>
                <a:spcPts val="2500"/>
              </a:spcBef>
              <a:buNone/>
            </a:pPr>
            <a:r>
              <a:rPr lang="en-US" sz="1400" b="1"/>
              <a:t>Data Marts</a:t>
            </a:r>
          </a:p>
          <a:p>
            <a:pPr marL="0" lvl="1" indent="0">
              <a:buNone/>
            </a:pPr>
            <a:r>
              <a:rPr lang="en-US" sz="1400"/>
              <a:t>A data mart is a subset of a larger data warehouse that is designed to serve a specific business unit or department. It is optimized for quick access and analysis of a specific set of data.</a:t>
            </a:r>
          </a:p>
          <a:p>
            <a:pPr marL="0" indent="0">
              <a:spcBef>
                <a:spcPts val="2500"/>
              </a:spcBef>
              <a:buNone/>
            </a:pPr>
            <a:r>
              <a:rPr lang="en-US" sz="1400" b="1"/>
              <a:t>Data Lakes</a:t>
            </a:r>
          </a:p>
          <a:p>
            <a:pPr marL="0" lvl="1" indent="0">
              <a:buNone/>
            </a:pPr>
            <a:r>
              <a:rPr lang="en-US" sz="1400"/>
              <a:t>A data lake is a large, centralized repository that allows storage of structured, semi-structured and unstructured data at any scale. It is designed to store all types of data and provides a high degree of flexibility.</a:t>
            </a:r>
            <a:endParaRPr lang="en-IN" sz="1400"/>
          </a:p>
        </p:txBody>
      </p:sp>
      <p:sp>
        <p:nvSpPr>
          <p:cNvPr id="3" name="Slide Number Placeholder 2">
            <a:extLst>
              <a:ext uri="{FF2B5EF4-FFF2-40B4-BE49-F238E27FC236}">
                <a16:creationId xmlns:a16="http://schemas.microsoft.com/office/drawing/2014/main" id="{764E70EB-4323-C871-8116-DBF5B0B2A6BB}"/>
              </a:ext>
            </a:extLst>
          </p:cNvPr>
          <p:cNvSpPr>
            <a:spLocks noGrp="1"/>
          </p:cNvSpPr>
          <p:nvPr>
            <p:ph type="sldNum" sz="quarter" idx="12"/>
          </p:nvPr>
        </p:nvSpPr>
        <p:spPr/>
        <p:txBody>
          <a:bodyPr/>
          <a:lstStyle/>
          <a:p>
            <a:fld id="{70C12960-6E85-460F-B6E3-5B82CB31AF3D}" type="slidenum">
              <a:rPr lang="en-US" smtClean="0"/>
              <a:t>13</a:t>
            </a:fld>
            <a:endParaRPr lang="en-US"/>
          </a:p>
        </p:txBody>
      </p:sp>
    </p:spTree>
    <p:extLst>
      <p:ext uri="{BB962C8B-B14F-4D97-AF65-F5344CB8AC3E}">
        <p14:creationId xmlns:p14="http://schemas.microsoft.com/office/powerpoint/2010/main" val="14937448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3D Server with speech bubble - Data base concept">
            <a:extLst>
              <a:ext uri="{FF2B5EF4-FFF2-40B4-BE49-F238E27FC236}">
                <a16:creationId xmlns:a16="http://schemas.microsoft.com/office/drawing/2014/main" id="{C7E74A50-D336-45AC-8EDC-59A8EDF4AC12}"/>
              </a:ext>
            </a:extLst>
          </p:cNvPr>
          <p:cNvPicPr>
            <a:picLocks noGrp="1" noChangeAspect="1"/>
          </p:cNvPicPr>
          <p:nvPr>
            <p:ph sz="half" idx="1"/>
          </p:nvPr>
        </p:nvPicPr>
        <p:blipFill>
          <a:blip r:embed="rId3"/>
          <a:srcRect l="4211" r="-2" b="-2"/>
          <a:stretch/>
        </p:blipFill>
        <p:spPr>
          <a:xfrm>
            <a:off x="20" y="535709"/>
            <a:ext cx="8229580" cy="5820640"/>
          </a:xfrm>
          <a:prstGeom prst="rect">
            <a:avLst/>
          </a:prstGeom>
        </p:spPr>
      </p:pic>
      <p:cxnSp>
        <p:nvCxnSpPr>
          <p:cNvPr id="14" name="Straight Connector 13">
            <a:extLst>
              <a:ext uri="{FF2B5EF4-FFF2-40B4-BE49-F238E27FC236}">
                <a16:creationId xmlns:a16="http://schemas.microsoft.com/office/drawing/2014/main" id="{02C7985C-B0C3-CC50-E86A-B5EBA40E01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 y="6359240"/>
            <a:ext cx="82296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0E56A83-B05B-E0FC-4FE2-66629EBBB2B4}"/>
              </a:ext>
            </a:extLst>
          </p:cNvPr>
          <p:cNvSpPr>
            <a:spLocks noGrp="1"/>
          </p:cNvSpPr>
          <p:nvPr>
            <p:ph type="title"/>
          </p:nvPr>
        </p:nvSpPr>
        <p:spPr>
          <a:xfrm>
            <a:off x="8719126" y="979051"/>
            <a:ext cx="2811879" cy="1807048"/>
          </a:xfrm>
        </p:spPr>
        <p:txBody>
          <a:bodyPr vert="horz" lIns="91440" tIns="45720" rIns="91440" bIns="45720" rtlCol="0" anchor="b">
            <a:normAutofit/>
          </a:bodyPr>
          <a:lstStyle/>
          <a:p>
            <a:r>
              <a:rPr lang="en-US" sz="3600"/>
              <a:t>Conclusion</a:t>
            </a:r>
          </a:p>
        </p:txBody>
      </p:sp>
      <p:sp>
        <p:nvSpPr>
          <p:cNvPr id="4" name="Content Placeholder 3">
            <a:extLst>
              <a:ext uri="{FF2B5EF4-FFF2-40B4-BE49-F238E27FC236}">
                <a16:creationId xmlns:a16="http://schemas.microsoft.com/office/drawing/2014/main" id="{2FC28A0A-3F30-7ADC-CCAC-7BE6F08E573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719128" y="2922624"/>
            <a:ext cx="2811880" cy="3409950"/>
          </a:xfrm>
        </p:spPr>
        <p:txBody>
          <a:bodyPr>
            <a:normAutofit/>
          </a:bodyPr>
          <a:lstStyle/>
          <a:p>
            <a:pPr marL="0" indent="0">
              <a:spcBef>
                <a:spcPts val="2500"/>
              </a:spcBef>
              <a:buNone/>
            </a:pPr>
            <a:endParaRPr lang="en-US" sz="1400" b="1"/>
          </a:p>
          <a:p>
            <a:pPr marL="0" lvl="1" indent="0">
              <a:buNone/>
            </a:pPr>
            <a:r>
              <a:rPr lang="en-US" sz="1400"/>
              <a:t>Understanding data workflows is essential for modern data management and processing. By optimizing data workflows, organizations can reduce errors and improve data quality, leading to better insights and informed decision-making.</a:t>
            </a:r>
            <a:endParaRPr lang="en-IN" sz="1400"/>
          </a:p>
        </p:txBody>
      </p:sp>
      <p:sp>
        <p:nvSpPr>
          <p:cNvPr id="3" name="Slide Number Placeholder 2">
            <a:extLst>
              <a:ext uri="{FF2B5EF4-FFF2-40B4-BE49-F238E27FC236}">
                <a16:creationId xmlns:a16="http://schemas.microsoft.com/office/drawing/2014/main" id="{55960D9E-4DA5-9CAB-08BA-1022016C662A}"/>
              </a:ext>
            </a:extLst>
          </p:cNvPr>
          <p:cNvSpPr>
            <a:spLocks noGrp="1"/>
          </p:cNvSpPr>
          <p:nvPr>
            <p:ph type="sldNum" sz="quarter" idx="12"/>
          </p:nvPr>
        </p:nvSpPr>
        <p:spPr/>
        <p:txBody>
          <a:bodyPr/>
          <a:lstStyle/>
          <a:p>
            <a:fld id="{70C12960-6E85-460F-B6E3-5B82CB31AF3D}" type="slidenum">
              <a:rPr lang="en-US" smtClean="0"/>
              <a:t>14</a:t>
            </a:fld>
            <a:endParaRPr lang="en-US"/>
          </a:p>
        </p:txBody>
      </p:sp>
    </p:spTree>
    <p:extLst>
      <p:ext uri="{BB962C8B-B14F-4D97-AF65-F5344CB8AC3E}">
        <p14:creationId xmlns:p14="http://schemas.microsoft.com/office/powerpoint/2010/main" val="5145873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DashVTI">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1843</Words>
  <Application>Microsoft Office PowerPoint</Application>
  <PresentationFormat>Widescreen</PresentationFormat>
  <Paragraphs>122</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Grandview Display</vt:lpstr>
      <vt:lpstr>DashVTI</vt:lpstr>
      <vt:lpstr>The Data Ecosystem: Understanding Data Workflows and Storage Solutions</vt:lpstr>
      <vt:lpstr>Presentation Overview</vt:lpstr>
      <vt:lpstr>Data Workflows</vt:lpstr>
      <vt:lpstr>What is a data workflow?</vt:lpstr>
      <vt:lpstr>Data Ingestion</vt:lpstr>
      <vt:lpstr>Data Transformation</vt:lpstr>
      <vt:lpstr>Data processing</vt:lpstr>
      <vt:lpstr>Automating Workflows</vt:lpstr>
      <vt:lpstr>Data Warehouses, Data Marts, Data Lakes</vt:lpstr>
      <vt:lpstr>Data Warehouses</vt:lpstr>
      <vt:lpstr>Data marts</vt:lpstr>
      <vt:lpstr>Data lakes</vt:lpstr>
      <vt:lpstr>Comparing Data Warehouses, Data Marts, and Data Lakes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Arnab Chakraborty</dc:creator>
  <cp:lastModifiedBy>Arnab Chakraborty</cp:lastModifiedBy>
  <cp:revision>6</cp:revision>
  <dcterms:created xsi:type="dcterms:W3CDTF">2024-10-03T08:03:10Z</dcterms:created>
  <dcterms:modified xsi:type="dcterms:W3CDTF">2024-10-03T13:13:27Z</dcterms:modified>
</cp:coreProperties>
</file>