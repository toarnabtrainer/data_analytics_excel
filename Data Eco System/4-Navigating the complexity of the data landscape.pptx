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Data Ecosystem: A Comprehensive Guide" id="{E9EAECB4-FAC2-43BE-9286-CAD4E22E6738}">
          <p14:sldIdLst>
            <p14:sldId id="2561"/>
            <p14:sldId id="2562"/>
          </p14:sldIdLst>
        </p14:section>
        <p14:section name="Cloud Storage in the Data Ecosystem" id="{73C5C439-4FDB-4AB0-B631-26A70947E960}">
          <p14:sldIdLst>
            <p14:sldId id="2563"/>
            <p14:sldId id="2564"/>
            <p14:sldId id="2565"/>
            <p14:sldId id="2566"/>
            <p14:sldId id="2567"/>
            <p14:sldId id="2568"/>
            <p14:sldId id="2569"/>
          </p14:sldIdLst>
        </p14:section>
        <p14:section name="Integration and Interoperability in the Data Ecosystem" id="{EC3890DA-3C1A-45B9-99DE-60B51AF16911}">
          <p14:sldIdLst>
            <p14:sldId id="2570"/>
            <p14:sldId id="2571"/>
            <p14:sldId id="2572"/>
          </p14:sldIdLst>
        </p14:section>
        <p14:section name="Case Studies and Applications of the Data Ecosystem" id="{4B14BDB6-DCE0-4C47-8D4D-C7AEAEA7CC58}">
          <p14:sldIdLst>
            <p14:sldId id="2573"/>
            <p14:sldId id="2574"/>
            <p14:sldId id="2575"/>
          </p14:sldIdLst>
        </p14:section>
        <p14:section name="Conclusion" id="{88B79AE4-8361-4993-8920-DB05F2475283}">
          <p14:sldIdLst>
            <p14:sldId id="2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994" autoAdjust="0"/>
  </p:normalViewPr>
  <p:slideViewPr>
    <p:cSldViewPr snapToGrid="0">
      <p:cViewPr varScale="1">
        <p:scale>
          <a:sx n="69" d="100"/>
          <a:sy n="69" d="100"/>
        </p:scale>
        <p:origin x="917" y="1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168140-BA25-418D-8B69-ED08E56858BC}" type="datetimeFigureOut">
              <a:rPr lang="en-IN" smtClean="0"/>
              <a:t>03-Oct-2024 Thu</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1B7C00-B5BF-40B4-972A-388E971CC149}" type="slidenum">
              <a:rPr lang="en-IN" smtClean="0"/>
              <a:t>‹#›</a:t>
            </a:fld>
            <a:endParaRPr lang="en-IN"/>
          </a:p>
        </p:txBody>
      </p:sp>
    </p:spTree>
    <p:extLst>
      <p:ext uri="{BB962C8B-B14F-4D97-AF65-F5344CB8AC3E}">
        <p14:creationId xmlns:p14="http://schemas.microsoft.com/office/powerpoint/2010/main" val="131712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today's data-driven world, understanding the data ecosystem is crucial for businesses and organizations. In this presentation, we will explore the fundamentals of the data ecosystem, including cloud storage, integration and interoperability, and real-world applications.</a:t>
            </a:r>
          </a:p>
        </p:txBody>
      </p:sp>
      <p:sp>
        <p:nvSpPr>
          <p:cNvPr id="4" name="Slide Number Placeholder 3"/>
          <p:cNvSpPr>
            <a:spLocks noGrp="1"/>
          </p:cNvSpPr>
          <p:nvPr>
            <p:ph type="sldNum" sz="quarter" idx="5"/>
          </p:nvPr>
        </p:nvSpPr>
        <p:spPr/>
        <p:txBody>
          <a:bodyPr/>
          <a:lstStyle/>
          <a:p>
            <a:fld id="{C81754A2-8904-4A57-A1C2-53F2C1E6058E}" type="slidenum">
              <a:rPr lang="en-IN" smtClean="0"/>
              <a:t>1</a:t>
            </a:fld>
            <a:endParaRPr lang="en-IN"/>
          </a:p>
        </p:txBody>
      </p:sp>
    </p:spTree>
    <p:extLst>
      <p:ext uri="{BB962C8B-B14F-4D97-AF65-F5344CB8AC3E}">
        <p14:creationId xmlns:p14="http://schemas.microsoft.com/office/powerpoint/2010/main" val="4269595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presentation, we will start by examining the basics of cloud storage in the data ecosystem, including the different types of cloud storage platforms and security considerations. Then, we will dive into the importance of integration and interoperability in the data ecosystem, including the role of data governance and data quality. Finally, we will explore real-world case studies and applications of the data ecosystem.</a:t>
            </a:r>
          </a:p>
        </p:txBody>
      </p:sp>
      <p:sp>
        <p:nvSpPr>
          <p:cNvPr id="4" name="Slide Number Placeholder 3"/>
          <p:cNvSpPr>
            <a:spLocks noGrp="1"/>
          </p:cNvSpPr>
          <p:nvPr>
            <p:ph type="sldNum" sz="quarter" idx="5"/>
          </p:nvPr>
        </p:nvSpPr>
        <p:spPr/>
        <p:txBody>
          <a:bodyPr/>
          <a:lstStyle/>
          <a:p>
            <a:fld id="{C81754A2-8904-4A57-A1C2-53F2C1E6058E}" type="slidenum">
              <a:rPr lang="en-IN" smtClean="0"/>
              <a:t>2</a:t>
            </a:fld>
            <a:endParaRPr lang="en-IN"/>
          </a:p>
        </p:txBody>
      </p:sp>
    </p:spTree>
    <p:extLst>
      <p:ext uri="{BB962C8B-B14F-4D97-AF65-F5344CB8AC3E}">
        <p14:creationId xmlns:p14="http://schemas.microsoft.com/office/powerpoint/2010/main" val="2304135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Cloud storage has revolutionized the way businesses store and manage data. In this section, we will explore the basics of cloud storage, including the different types of cloud storage platforms and their applications in big data. We will also examine the importance of security in cloud data storage.</a:t>
            </a:r>
          </a:p>
        </p:txBody>
      </p:sp>
      <p:sp>
        <p:nvSpPr>
          <p:cNvPr id="4" name="Slide Number Placeholder 3"/>
          <p:cNvSpPr>
            <a:spLocks noGrp="1"/>
          </p:cNvSpPr>
          <p:nvPr>
            <p:ph type="sldNum" sz="quarter" idx="5"/>
          </p:nvPr>
        </p:nvSpPr>
        <p:spPr/>
        <p:txBody>
          <a:bodyPr/>
          <a:lstStyle/>
          <a:p>
            <a:fld id="{C81754A2-8904-4A57-A1C2-53F2C1E6058E}" type="slidenum">
              <a:rPr lang="en-IN" smtClean="0"/>
              <a:t>3</a:t>
            </a:fld>
            <a:endParaRPr lang="en-IN"/>
          </a:p>
        </p:txBody>
      </p:sp>
    </p:spTree>
    <p:extLst>
      <p:ext uri="{BB962C8B-B14F-4D97-AF65-F5344CB8AC3E}">
        <p14:creationId xmlns:p14="http://schemas.microsoft.com/office/powerpoint/2010/main" val="324432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Cloud data storage allows businesses to store and manage data in remote servers, rather than on local hardware. This provides scalability and cost savings for businesses of all sizes.</a:t>
            </a:r>
          </a:p>
        </p:txBody>
      </p:sp>
      <p:sp>
        <p:nvSpPr>
          <p:cNvPr id="4" name="Slide Number Placeholder 3"/>
          <p:cNvSpPr>
            <a:spLocks noGrp="1"/>
          </p:cNvSpPr>
          <p:nvPr>
            <p:ph type="sldNum" sz="quarter" idx="5"/>
          </p:nvPr>
        </p:nvSpPr>
        <p:spPr/>
        <p:txBody>
          <a:bodyPr/>
          <a:lstStyle/>
          <a:p>
            <a:fld id="{C81754A2-8904-4A57-A1C2-53F2C1E6058E}" type="slidenum">
              <a:rPr lang="en-IN" smtClean="0"/>
              <a:t>4</a:t>
            </a:fld>
            <a:endParaRPr lang="en-IN"/>
          </a:p>
        </p:txBody>
      </p:sp>
    </p:spTree>
    <p:extLst>
      <p:ext uri="{BB962C8B-B14F-4D97-AF65-F5344CB8AC3E}">
        <p14:creationId xmlns:p14="http://schemas.microsoft.com/office/powerpoint/2010/main" val="3747433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There are different types of cloud storage platforms, including public, private, and hybrid clouds. Each has its own advantages and disadvantages, depending on the needs of the business.</a:t>
            </a:r>
          </a:p>
        </p:txBody>
      </p:sp>
      <p:sp>
        <p:nvSpPr>
          <p:cNvPr id="4" name="Slide Number Placeholder 3"/>
          <p:cNvSpPr>
            <a:spLocks noGrp="1"/>
          </p:cNvSpPr>
          <p:nvPr>
            <p:ph type="sldNum" sz="quarter" idx="5"/>
          </p:nvPr>
        </p:nvSpPr>
        <p:spPr/>
        <p:txBody>
          <a:bodyPr/>
          <a:lstStyle/>
          <a:p>
            <a:fld id="{C81754A2-8904-4A57-A1C2-53F2C1E6058E}" type="slidenum">
              <a:rPr lang="en-IN" smtClean="0"/>
              <a:t>5</a:t>
            </a:fld>
            <a:endParaRPr lang="en-IN"/>
          </a:p>
        </p:txBody>
      </p:sp>
    </p:spTree>
    <p:extLst>
      <p:ext uri="{BB962C8B-B14F-4D97-AF65-F5344CB8AC3E}">
        <p14:creationId xmlns:p14="http://schemas.microsoft.com/office/powerpoint/2010/main" val="839802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Cloud data platforms provide businesses with a comprehensive suite of tools for data management, analytics, and reporting. These platforms are scalable and customizable, making them ideal for businesses of all sizes.</a:t>
            </a:r>
          </a:p>
        </p:txBody>
      </p:sp>
      <p:sp>
        <p:nvSpPr>
          <p:cNvPr id="4" name="Slide Number Placeholder 3"/>
          <p:cNvSpPr>
            <a:spLocks noGrp="1"/>
          </p:cNvSpPr>
          <p:nvPr>
            <p:ph type="sldNum" sz="quarter" idx="5"/>
          </p:nvPr>
        </p:nvSpPr>
        <p:spPr/>
        <p:txBody>
          <a:bodyPr/>
          <a:lstStyle/>
          <a:p>
            <a:fld id="{C81754A2-8904-4A57-A1C2-53F2C1E6058E}" type="slidenum">
              <a:rPr lang="en-IN" smtClean="0"/>
              <a:t>6</a:t>
            </a:fld>
            <a:endParaRPr lang="en-IN"/>
          </a:p>
        </p:txBody>
      </p:sp>
    </p:spTree>
    <p:extLst>
      <p:ext uri="{BB962C8B-B14F-4D97-AF65-F5344CB8AC3E}">
        <p14:creationId xmlns:p14="http://schemas.microsoft.com/office/powerpoint/2010/main" val="2679992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Cloud storage platforms are ideal for managing big data, as they provide the scalability and flexibility needed to store, manage, and analyze large amounts of data.</a:t>
            </a:r>
          </a:p>
        </p:txBody>
      </p:sp>
      <p:sp>
        <p:nvSpPr>
          <p:cNvPr id="4" name="Slide Number Placeholder 3"/>
          <p:cNvSpPr>
            <a:spLocks noGrp="1"/>
          </p:cNvSpPr>
          <p:nvPr>
            <p:ph type="sldNum" sz="quarter" idx="5"/>
          </p:nvPr>
        </p:nvSpPr>
        <p:spPr/>
        <p:txBody>
          <a:bodyPr/>
          <a:lstStyle/>
          <a:p>
            <a:fld id="{C81754A2-8904-4A57-A1C2-53F2C1E6058E}" type="slidenum">
              <a:rPr lang="en-IN" smtClean="0"/>
              <a:t>7</a:t>
            </a:fld>
            <a:endParaRPr lang="en-IN"/>
          </a:p>
        </p:txBody>
      </p:sp>
    </p:spTree>
    <p:extLst>
      <p:ext uri="{BB962C8B-B14F-4D97-AF65-F5344CB8AC3E}">
        <p14:creationId xmlns:p14="http://schemas.microsoft.com/office/powerpoint/2010/main" val="15499398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Security is a critical consideration in cloud data storage. Businesses need to ensure that their data is protected from cyber threats, data breaches, and unauthorized access. There are several security measures that can be implemented, including encryption, access controls, and monitoring.</a:t>
            </a:r>
          </a:p>
        </p:txBody>
      </p:sp>
      <p:sp>
        <p:nvSpPr>
          <p:cNvPr id="4" name="Slide Number Placeholder 3"/>
          <p:cNvSpPr>
            <a:spLocks noGrp="1"/>
          </p:cNvSpPr>
          <p:nvPr>
            <p:ph type="sldNum" sz="quarter" idx="5"/>
          </p:nvPr>
        </p:nvSpPr>
        <p:spPr/>
        <p:txBody>
          <a:bodyPr/>
          <a:lstStyle/>
          <a:p>
            <a:fld id="{C81754A2-8904-4A57-A1C2-53F2C1E6058E}" type="slidenum">
              <a:rPr lang="en-IN" smtClean="0"/>
              <a:t>8</a:t>
            </a:fld>
            <a:endParaRPr lang="en-IN"/>
          </a:p>
        </p:txBody>
      </p:sp>
    </p:spTree>
    <p:extLst>
      <p:ext uri="{BB962C8B-B14F-4D97-AF65-F5344CB8AC3E}">
        <p14:creationId xmlns:p14="http://schemas.microsoft.com/office/powerpoint/2010/main" val="2159797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Cloud storage is constantly evolving, with new trends and technologies emerging all the time. Businesses need to stay up-to-date with these trends to remain competitive and take advantage of the latest innovations.</a:t>
            </a:r>
          </a:p>
        </p:txBody>
      </p:sp>
      <p:sp>
        <p:nvSpPr>
          <p:cNvPr id="4" name="Slide Number Placeholder 3"/>
          <p:cNvSpPr>
            <a:spLocks noGrp="1"/>
          </p:cNvSpPr>
          <p:nvPr>
            <p:ph type="sldNum" sz="quarter" idx="5"/>
          </p:nvPr>
        </p:nvSpPr>
        <p:spPr/>
        <p:txBody>
          <a:bodyPr/>
          <a:lstStyle/>
          <a:p>
            <a:fld id="{C81754A2-8904-4A57-A1C2-53F2C1E6058E}" type="slidenum">
              <a:rPr lang="en-IN" smtClean="0"/>
              <a:t>9</a:t>
            </a:fld>
            <a:endParaRPr lang="en-IN"/>
          </a:p>
        </p:txBody>
      </p:sp>
    </p:spTree>
    <p:extLst>
      <p:ext uri="{BB962C8B-B14F-4D97-AF65-F5344CB8AC3E}">
        <p14:creationId xmlns:p14="http://schemas.microsoft.com/office/powerpoint/2010/main" val="42585826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Integration and interoperability are essential components of the data ecosystem, enabling businesses to access and combine data from different sources. In this section, we will explore the importance of data governance and data quality in achieving integration and interoperability.</a:t>
            </a:r>
          </a:p>
        </p:txBody>
      </p:sp>
      <p:sp>
        <p:nvSpPr>
          <p:cNvPr id="4" name="Slide Number Placeholder 3"/>
          <p:cNvSpPr>
            <a:spLocks noGrp="1"/>
          </p:cNvSpPr>
          <p:nvPr>
            <p:ph type="sldNum" sz="quarter" idx="5"/>
          </p:nvPr>
        </p:nvSpPr>
        <p:spPr/>
        <p:txBody>
          <a:bodyPr/>
          <a:lstStyle/>
          <a:p>
            <a:fld id="{C81754A2-8904-4A57-A1C2-53F2C1E6058E}" type="slidenum">
              <a:rPr lang="en-IN" smtClean="0"/>
              <a:t>10</a:t>
            </a:fld>
            <a:endParaRPr lang="en-IN"/>
          </a:p>
        </p:txBody>
      </p:sp>
    </p:spTree>
    <p:extLst>
      <p:ext uri="{BB962C8B-B14F-4D97-AF65-F5344CB8AC3E}">
        <p14:creationId xmlns:p14="http://schemas.microsoft.com/office/powerpoint/2010/main" val="3625600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Interoperability refers to the ability of different data systems to work together seamlessly. It enables businesses to combine data from different sources, such as CRM systems, social media platforms, and web analytics tools, to gain a more complete picture of their customers and operations.</a:t>
            </a:r>
          </a:p>
        </p:txBody>
      </p:sp>
      <p:sp>
        <p:nvSpPr>
          <p:cNvPr id="4" name="Slide Number Placeholder 3"/>
          <p:cNvSpPr>
            <a:spLocks noGrp="1"/>
          </p:cNvSpPr>
          <p:nvPr>
            <p:ph type="sldNum" sz="quarter" idx="5"/>
          </p:nvPr>
        </p:nvSpPr>
        <p:spPr/>
        <p:txBody>
          <a:bodyPr/>
          <a:lstStyle/>
          <a:p>
            <a:fld id="{C81754A2-8904-4A57-A1C2-53F2C1E6058E}" type="slidenum">
              <a:rPr lang="en-IN" smtClean="0"/>
              <a:t>11</a:t>
            </a:fld>
            <a:endParaRPr lang="en-IN"/>
          </a:p>
        </p:txBody>
      </p:sp>
    </p:spTree>
    <p:extLst>
      <p:ext uri="{BB962C8B-B14F-4D97-AF65-F5344CB8AC3E}">
        <p14:creationId xmlns:p14="http://schemas.microsoft.com/office/powerpoint/2010/main" val="1127245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governance and data quality are critical components of the data ecosystem, ensuring that data is accurate, consistent, and usable. Data governance involves establishing policies and procedures for data management, while data quality refers to the accuracy, completeness, and consistency of data.</a:t>
            </a:r>
          </a:p>
        </p:txBody>
      </p:sp>
      <p:sp>
        <p:nvSpPr>
          <p:cNvPr id="4" name="Slide Number Placeholder 3"/>
          <p:cNvSpPr>
            <a:spLocks noGrp="1"/>
          </p:cNvSpPr>
          <p:nvPr>
            <p:ph type="sldNum" sz="quarter" idx="5"/>
          </p:nvPr>
        </p:nvSpPr>
        <p:spPr/>
        <p:txBody>
          <a:bodyPr/>
          <a:lstStyle/>
          <a:p>
            <a:fld id="{C81754A2-8904-4A57-A1C2-53F2C1E6058E}" type="slidenum">
              <a:rPr lang="en-IN" smtClean="0"/>
              <a:t>12</a:t>
            </a:fld>
            <a:endParaRPr lang="en-IN"/>
          </a:p>
        </p:txBody>
      </p:sp>
    </p:spTree>
    <p:extLst>
      <p:ext uri="{BB962C8B-B14F-4D97-AF65-F5344CB8AC3E}">
        <p14:creationId xmlns:p14="http://schemas.microsoft.com/office/powerpoint/2010/main" val="1336448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final section, we will explore real-world case studies and applications of the data ecosystem, demonstrating how businesses are using data to drive innovation and growth.</a:t>
            </a:r>
          </a:p>
        </p:txBody>
      </p:sp>
      <p:sp>
        <p:nvSpPr>
          <p:cNvPr id="4" name="Slide Number Placeholder 3"/>
          <p:cNvSpPr>
            <a:spLocks noGrp="1"/>
          </p:cNvSpPr>
          <p:nvPr>
            <p:ph type="sldNum" sz="quarter" idx="5"/>
          </p:nvPr>
        </p:nvSpPr>
        <p:spPr/>
        <p:txBody>
          <a:bodyPr/>
          <a:lstStyle/>
          <a:p>
            <a:fld id="{C81754A2-8904-4A57-A1C2-53F2C1E6058E}" type="slidenum">
              <a:rPr lang="en-IN" smtClean="0"/>
              <a:t>13</a:t>
            </a:fld>
            <a:endParaRPr lang="en-IN"/>
          </a:p>
        </p:txBody>
      </p:sp>
    </p:spTree>
    <p:extLst>
      <p:ext uri="{BB962C8B-B14F-4D97-AF65-F5344CB8AC3E}">
        <p14:creationId xmlns:p14="http://schemas.microsoft.com/office/powerpoint/2010/main" val="10433979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is being used in a wide range of applications, from predicting consumer behavior to optimizing supply chain management. We will explore some of the most exciting and innovative applications of data in the business world.</a:t>
            </a:r>
          </a:p>
        </p:txBody>
      </p:sp>
      <p:sp>
        <p:nvSpPr>
          <p:cNvPr id="4" name="Slide Number Placeholder 3"/>
          <p:cNvSpPr>
            <a:spLocks noGrp="1"/>
          </p:cNvSpPr>
          <p:nvPr>
            <p:ph type="sldNum" sz="quarter" idx="5"/>
          </p:nvPr>
        </p:nvSpPr>
        <p:spPr/>
        <p:txBody>
          <a:bodyPr/>
          <a:lstStyle/>
          <a:p>
            <a:fld id="{C81754A2-8904-4A57-A1C2-53F2C1E6058E}" type="slidenum">
              <a:rPr lang="en-IN" smtClean="0"/>
              <a:t>14</a:t>
            </a:fld>
            <a:endParaRPr lang="en-IN"/>
          </a:p>
        </p:txBody>
      </p:sp>
    </p:spTree>
    <p:extLst>
      <p:ext uri="{BB962C8B-B14F-4D97-AF65-F5344CB8AC3E}">
        <p14:creationId xmlns:p14="http://schemas.microsoft.com/office/powerpoint/2010/main" val="11935681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There are many examples of businesses that have successfully leveraged the data ecosystem to drive growth and innovation. We will examine some of these success stories, highlighting the key strategies and technologies that were used.</a:t>
            </a:r>
          </a:p>
        </p:txBody>
      </p:sp>
      <p:sp>
        <p:nvSpPr>
          <p:cNvPr id="4" name="Slide Number Placeholder 3"/>
          <p:cNvSpPr>
            <a:spLocks noGrp="1"/>
          </p:cNvSpPr>
          <p:nvPr>
            <p:ph type="sldNum" sz="quarter" idx="5"/>
          </p:nvPr>
        </p:nvSpPr>
        <p:spPr/>
        <p:txBody>
          <a:bodyPr/>
          <a:lstStyle/>
          <a:p>
            <a:fld id="{C81754A2-8904-4A57-A1C2-53F2C1E6058E}" type="slidenum">
              <a:rPr lang="en-IN" smtClean="0"/>
              <a:t>15</a:t>
            </a:fld>
            <a:endParaRPr lang="en-IN"/>
          </a:p>
        </p:txBody>
      </p:sp>
    </p:spTree>
    <p:extLst>
      <p:ext uri="{BB962C8B-B14F-4D97-AF65-F5344CB8AC3E}">
        <p14:creationId xmlns:p14="http://schemas.microsoft.com/office/powerpoint/2010/main" val="277756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data ecosystem is a complex and constantly evolving landscape. By understanding the fundamentals of cloud storage, integration and interoperability, and real-world applications, businesses can harness the power of data to drive growth and innovation.</a:t>
            </a:r>
          </a:p>
        </p:txBody>
      </p:sp>
      <p:sp>
        <p:nvSpPr>
          <p:cNvPr id="4" name="Slide Number Placeholder 3"/>
          <p:cNvSpPr>
            <a:spLocks noGrp="1"/>
          </p:cNvSpPr>
          <p:nvPr>
            <p:ph type="sldNum" sz="quarter" idx="5"/>
          </p:nvPr>
        </p:nvSpPr>
        <p:spPr/>
        <p:txBody>
          <a:bodyPr/>
          <a:lstStyle/>
          <a:p>
            <a:fld id="{C81754A2-8904-4A57-A1C2-53F2C1E6058E}" type="slidenum">
              <a:rPr lang="en-IN" smtClean="0"/>
              <a:t>16</a:t>
            </a:fld>
            <a:endParaRPr lang="en-IN"/>
          </a:p>
        </p:txBody>
      </p:sp>
    </p:spTree>
    <p:extLst>
      <p:ext uri="{BB962C8B-B14F-4D97-AF65-F5344CB8AC3E}">
        <p14:creationId xmlns:p14="http://schemas.microsoft.com/office/powerpoint/2010/main" val="2163502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784B99A-0488-4CFB-BC8E-3CA374D4E4BA}" type="datetime1">
              <a:rPr lang="en-US" smtClean="0"/>
              <a:t>10/3/2024</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86522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5C2784F-9727-4FA6-9E9A-81A3F7F16B92}" type="datetime1">
              <a:rPr lang="en-US" smtClean="0"/>
              <a:t>10/3/2024</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58141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802086D2-34AB-4297-93D7-19AFF970ECC8}" type="datetime1">
              <a:rPr lang="en-US" smtClean="0"/>
              <a:t>10/3/2024</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2886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1A7D3D-63D4-4016-B238-432BE082A726}" type="datetime1">
              <a:rPr lang="en-US" smtClean="0"/>
              <a:t>10/3/2024</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6536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A9C6D5F-17E1-442A-8EC6-6A2DFE663EC5}" type="datetime1">
              <a:rPr lang="en-US" smtClean="0"/>
              <a:t>10/3/2024</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22834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6B5DE015-6087-4930-A94E-51F56DA7E927}" type="datetime1">
              <a:rPr lang="en-US" smtClean="0"/>
              <a:t>10/3/2024</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71516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D10ECF5-81A1-4612-A7AB-C19A4E71D988}" type="datetime1">
              <a:rPr lang="en-US" smtClean="0"/>
              <a:t>10/3/2024</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14320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B2F4E82-0AD0-452B-B959-3A55FBF745DB}" type="datetime1">
              <a:rPr lang="en-US" smtClean="0"/>
              <a:t>10/3/2024</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5285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94BC2B5-C189-4980-80FB-C04172F8904B}" type="datetime1">
              <a:rPr lang="en-US" smtClean="0"/>
              <a:t>10/3/2024</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71520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E2AD429-0BD2-47A2-B633-D83C6186B567}" type="datetime1">
              <a:rPr lang="en-US" smtClean="0"/>
              <a:t>10/3/2024</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65024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C26813E8-8D3E-4A18-98EF-583DD44104A9}" type="datetime1">
              <a:rPr lang="en-US" smtClean="0"/>
              <a:t>10/3/2024</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67844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CE3FCEB6-6C81-437E-8CFD-7233444A06A6}" type="datetime1">
              <a:rPr lang="en-US" smtClean="0"/>
              <a:t>10/3/2024</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2698972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Cloud computing network">
            <a:extLst>
              <a:ext uri="{FF2B5EF4-FFF2-40B4-BE49-F238E27FC236}">
                <a16:creationId xmlns:a16="http://schemas.microsoft.com/office/drawing/2014/main" id="{F5944B5A-726B-4147-9131-1983AFD426B3}"/>
              </a:ext>
            </a:extLst>
          </p:cNvPr>
          <p:cNvPicPr>
            <a:picLocks noChangeAspect="1"/>
          </p:cNvPicPr>
          <p:nvPr/>
        </p:nvPicPr>
        <p:blipFill>
          <a:blip r:embed="rId3"/>
          <a:srcRect t="4577" r="9091" b="4514"/>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EF6FB56-9381-E704-4946-3E7D1BF3AD47}"/>
              </a:ext>
            </a:extLst>
          </p:cNvPr>
          <p:cNvSpPr>
            <a:spLocks noGrp="1"/>
          </p:cNvSpPr>
          <p:nvPr>
            <p:ph type="ctrTitle"/>
          </p:nvPr>
        </p:nvSpPr>
        <p:spPr>
          <a:xfrm>
            <a:off x="286506" y="603315"/>
            <a:ext cx="5649211" cy="3685731"/>
          </a:xfrm>
        </p:spPr>
        <p:txBody>
          <a:bodyPr anchor="t">
            <a:normAutofit/>
          </a:bodyPr>
          <a:lstStyle/>
          <a:p>
            <a:pPr algn="l"/>
            <a:r>
              <a:rPr lang="en-IN" sz="5600"/>
              <a:t>The Data Ecosystem: A Comprehensive Guide</a:t>
            </a:r>
          </a:p>
        </p:txBody>
      </p:sp>
      <p:sp>
        <p:nvSpPr>
          <p:cNvPr id="3" name="Subtitle 2">
            <a:extLst>
              <a:ext uri="{FF2B5EF4-FFF2-40B4-BE49-F238E27FC236}">
                <a16:creationId xmlns:a16="http://schemas.microsoft.com/office/drawing/2014/main" id="{67BB867E-DF7F-4275-4B8D-7C0AD0193DB2}"/>
              </a:ext>
            </a:extLst>
          </p:cNvPr>
          <p:cNvSpPr>
            <a:spLocks noGrp="1"/>
          </p:cNvSpPr>
          <p:nvPr>
            <p:ph type="subTitle" idx="1"/>
          </p:nvPr>
        </p:nvSpPr>
        <p:spPr>
          <a:xfrm>
            <a:off x="286507" y="4437176"/>
            <a:ext cx="4007587" cy="1290807"/>
          </a:xfrm>
        </p:spPr>
        <p:txBody>
          <a:bodyPr anchor="ctr">
            <a:normAutofit/>
          </a:bodyPr>
          <a:lstStyle/>
          <a:p>
            <a:pPr algn="l"/>
            <a:r>
              <a:rPr lang="en-IN" sz="2200" dirty="0"/>
              <a:t>Navigating the complexity of the data landscape</a:t>
            </a:r>
          </a:p>
        </p:txBody>
      </p:sp>
      <p:sp>
        <p:nvSpPr>
          <p:cNvPr id="5" name="Slide Number Placeholder 4">
            <a:extLst>
              <a:ext uri="{FF2B5EF4-FFF2-40B4-BE49-F238E27FC236}">
                <a16:creationId xmlns:a16="http://schemas.microsoft.com/office/drawing/2014/main" id="{3891E237-092E-C960-5001-14F8CD7AB02E}"/>
              </a:ext>
            </a:extLst>
          </p:cNvPr>
          <p:cNvSpPr>
            <a:spLocks noGrp="1"/>
          </p:cNvSpPr>
          <p:nvPr>
            <p:ph type="sldNum" sz="quarter" idx="12"/>
          </p:nvPr>
        </p:nvSpPr>
        <p:spPr/>
        <p:txBody>
          <a:bodyPr/>
          <a:lstStyle/>
          <a:p>
            <a:fld id="{CC057153-B650-4DEB-B370-79DDCFDCE934}" type="slidenum">
              <a:rPr lang="en-US" smtClean="0"/>
              <a:t>1</a:t>
            </a:fld>
            <a:endParaRPr lang="en-US"/>
          </a:p>
        </p:txBody>
      </p:sp>
    </p:spTree>
    <p:extLst>
      <p:ext uri="{BB962C8B-B14F-4D97-AF65-F5344CB8AC3E}">
        <p14:creationId xmlns:p14="http://schemas.microsoft.com/office/powerpoint/2010/main" val="246630973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4D10C0-6754-E8D8-2F3E-F39352571A80}"/>
              </a:ext>
            </a:extLst>
          </p:cNvPr>
          <p:cNvSpPr>
            <a:spLocks noGrp="1"/>
          </p:cNvSpPr>
          <p:nvPr>
            <p:ph type="title"/>
          </p:nvPr>
        </p:nvSpPr>
        <p:spPr>
          <a:xfrm>
            <a:off x="614677" y="603504"/>
            <a:ext cx="10872216" cy="1527048"/>
          </a:xfrm>
        </p:spPr>
        <p:txBody>
          <a:bodyPr vert="horz" lIns="91440" tIns="45720" rIns="91440" bIns="45720" rtlCol="0" anchor="b">
            <a:normAutofit/>
          </a:bodyPr>
          <a:lstStyle/>
          <a:p>
            <a:r>
              <a:rPr lang="en-US" b="1" kern="1200">
                <a:solidFill>
                  <a:schemeClr val="tx1"/>
                </a:solidFill>
                <a:latin typeface="+mj-lt"/>
                <a:ea typeface="+mj-ea"/>
                <a:cs typeface="+mj-cs"/>
              </a:rPr>
              <a:t>Agenda Items</a:t>
            </a:r>
          </a:p>
        </p:txBody>
      </p:sp>
      <p:sp>
        <p:nvSpPr>
          <p:cNvPr id="4" name="Content Placeholder 3">
            <a:extLst>
              <a:ext uri="{FF2B5EF4-FFF2-40B4-BE49-F238E27FC236}">
                <a16:creationId xmlns:a16="http://schemas.microsoft.com/office/drawing/2014/main" id="{2327F2F0-60E9-F2D1-85B4-759A19274BB8}"/>
              </a:ext>
            </a:extLst>
          </p:cNvPr>
          <p:cNvSpPr>
            <a:spLocks noGrp="1"/>
          </p:cNvSpPr>
          <p:nvPr>
            <p:ph sz="half" idx="2"/>
          </p:nvPr>
        </p:nvSpPr>
        <p:spPr>
          <a:xfrm>
            <a:off x="6096000" y="2441273"/>
            <a:ext cx="5385816" cy="3817942"/>
          </a:xfrm>
        </p:spPr>
        <p:txBody>
          <a:bodyPr vert="horz" lIns="91440" tIns="45720" rIns="91440" bIns="45720" rtlCol="0" anchor="t">
            <a:normAutofit/>
          </a:bodyPr>
          <a:lstStyle/>
          <a:p>
            <a:r>
              <a:rPr lang="en-US" sz="1800"/>
              <a:t>Cloud Storage in the Data Ecosystem</a:t>
            </a:r>
          </a:p>
          <a:p>
            <a:r>
              <a:rPr lang="en-US" sz="1800"/>
              <a:t>Integration and Interoperability in the Data Ecosystem</a:t>
            </a:r>
          </a:p>
          <a:p>
            <a:r>
              <a:rPr lang="en-US" sz="1800"/>
              <a:t>Case Studies and Applications of the Data Ecosystem</a:t>
            </a:r>
          </a:p>
        </p:txBody>
      </p:sp>
      <p:pic>
        <p:nvPicPr>
          <p:cNvPr id="5" name="Content Placeholder 4" descr="Cloud with folders on digital display">
            <a:extLst>
              <a:ext uri="{FF2B5EF4-FFF2-40B4-BE49-F238E27FC236}">
                <a16:creationId xmlns:a16="http://schemas.microsoft.com/office/drawing/2014/main" id="{F3F5FAAA-28BB-4466-89B6-88B4B2E749A9}"/>
              </a:ext>
            </a:extLst>
          </p:cNvPr>
          <p:cNvPicPr>
            <a:picLocks noGrp="1" noChangeAspect="1"/>
          </p:cNvPicPr>
          <p:nvPr>
            <p:ph sz="half" idx="1"/>
          </p:nvPr>
        </p:nvPicPr>
        <p:blipFill>
          <a:blip r:embed="rId3"/>
          <a:stretch>
            <a:fillRect/>
          </a:stretch>
        </p:blipFill>
        <p:spPr>
          <a:xfrm>
            <a:off x="614678" y="2441274"/>
            <a:ext cx="5173647" cy="3453409"/>
          </a:xfrm>
          <a:prstGeom prst="rect">
            <a:avLst/>
          </a:prstGeom>
        </p:spPr>
      </p:pic>
      <p:sp>
        <p:nvSpPr>
          <p:cNvPr id="3" name="Slide Number Placeholder 2">
            <a:extLst>
              <a:ext uri="{FF2B5EF4-FFF2-40B4-BE49-F238E27FC236}">
                <a16:creationId xmlns:a16="http://schemas.microsoft.com/office/drawing/2014/main" id="{1ACE165D-7CE2-CAEA-B4B3-9F17630B5D70}"/>
              </a:ext>
            </a:extLst>
          </p:cNvPr>
          <p:cNvSpPr>
            <a:spLocks noGrp="1"/>
          </p:cNvSpPr>
          <p:nvPr>
            <p:ph type="sldNum" sz="quarter" idx="12"/>
          </p:nvPr>
        </p:nvSpPr>
        <p:spPr/>
        <p:txBody>
          <a:bodyPr/>
          <a:lstStyle/>
          <a:p>
            <a:fld id="{CC057153-B650-4DEB-B370-79DDCFDCE934}" type="slidenum">
              <a:rPr lang="en-US" smtClean="0"/>
              <a:t>2</a:t>
            </a:fld>
            <a:endParaRPr lang="en-US"/>
          </a:p>
        </p:txBody>
      </p:sp>
    </p:spTree>
    <p:extLst>
      <p:ext uri="{BB962C8B-B14F-4D97-AF65-F5344CB8AC3E}">
        <p14:creationId xmlns:p14="http://schemas.microsoft.com/office/powerpoint/2010/main" val="39190326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EC1359B4-7CBD-3400-6393-FF8550070336}"/>
              </a:ext>
            </a:extLst>
          </p:cNvPr>
          <p:cNvSpPr>
            <a:spLocks noGrp="1"/>
          </p:cNvSpPr>
          <p:nvPr>
            <p:ph type="title"/>
          </p:nvPr>
        </p:nvSpPr>
        <p:spPr>
          <a:xfrm>
            <a:off x="277091" y="1814321"/>
            <a:ext cx="7772400" cy="4560920"/>
          </a:xfrm>
        </p:spPr>
        <p:txBody>
          <a:bodyPr vert="horz" lIns="91440" tIns="45720" rIns="91440" bIns="45720" rtlCol="0" anchor="b">
            <a:normAutofit/>
          </a:bodyPr>
          <a:lstStyle/>
          <a:p>
            <a:r>
              <a:rPr lang="en-US" sz="7400"/>
              <a:t>Cloud Storage in the Data Ecosystem</a:t>
            </a:r>
          </a:p>
        </p:txBody>
      </p:sp>
      <p:sp>
        <p:nvSpPr>
          <p:cNvPr id="3" name="Slide Number Placeholder 2">
            <a:extLst>
              <a:ext uri="{FF2B5EF4-FFF2-40B4-BE49-F238E27FC236}">
                <a16:creationId xmlns:a16="http://schemas.microsoft.com/office/drawing/2014/main" id="{6AE0FBB3-73E6-928C-CDDB-6ABEF0DA5B92}"/>
              </a:ext>
            </a:extLst>
          </p:cNvPr>
          <p:cNvSpPr>
            <a:spLocks noGrp="1"/>
          </p:cNvSpPr>
          <p:nvPr>
            <p:ph type="sldNum" sz="quarter" idx="12"/>
          </p:nvPr>
        </p:nvSpPr>
        <p:spPr/>
        <p:txBody>
          <a:bodyPr/>
          <a:lstStyle/>
          <a:p>
            <a:fld id="{CC057153-B650-4DEB-B370-79DDCFDCE934}" type="slidenum">
              <a:rPr lang="en-US" smtClean="0"/>
              <a:t>3</a:t>
            </a:fld>
            <a:endParaRPr lang="en-US"/>
          </a:p>
        </p:txBody>
      </p:sp>
    </p:spTree>
    <p:extLst>
      <p:ext uri="{BB962C8B-B14F-4D97-AF65-F5344CB8AC3E}">
        <p14:creationId xmlns:p14="http://schemas.microsoft.com/office/powerpoint/2010/main" val="303358658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Illuminated server room panel">
            <a:extLst>
              <a:ext uri="{FF2B5EF4-FFF2-40B4-BE49-F238E27FC236}">
                <a16:creationId xmlns:a16="http://schemas.microsoft.com/office/drawing/2014/main" id="{3942B87D-6044-4FA0-9DA7-EEF627BE074E}"/>
              </a:ext>
            </a:extLst>
          </p:cNvPr>
          <p:cNvPicPr>
            <a:picLocks noGrp="1" noChangeAspect="1"/>
          </p:cNvPicPr>
          <p:nvPr>
            <p:ph sz="half" idx="1"/>
          </p:nvPr>
        </p:nvPicPr>
        <p:blipFill>
          <a:blip r:embed="rId3"/>
          <a:srcRect l="15368" r="22598" b="-2"/>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B9343A4B-800D-1A7B-23A3-FCB7C2814ACA}"/>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Cloud Data Storage Basics</a:t>
            </a:r>
          </a:p>
        </p:txBody>
      </p:sp>
      <p:sp>
        <p:nvSpPr>
          <p:cNvPr id="4" name="Content Placeholder 3">
            <a:extLst>
              <a:ext uri="{FF2B5EF4-FFF2-40B4-BE49-F238E27FC236}">
                <a16:creationId xmlns:a16="http://schemas.microsoft.com/office/drawing/2014/main" id="{6550E064-D275-4BA1-E889-6A3D809D768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79" y="2212848"/>
            <a:ext cx="4361688" cy="4096512"/>
          </a:xfrm>
        </p:spPr>
        <p:txBody>
          <a:bodyPr>
            <a:normAutofit/>
          </a:bodyPr>
          <a:lstStyle/>
          <a:p>
            <a:pPr marL="0" indent="0">
              <a:spcBef>
                <a:spcPts val="2500"/>
              </a:spcBef>
              <a:buNone/>
            </a:pPr>
            <a:r>
              <a:rPr lang="en-US" sz="1400" b="1"/>
              <a:t>Scalability</a:t>
            </a:r>
          </a:p>
          <a:p>
            <a:pPr marL="0" lvl="1" indent="0">
              <a:buNone/>
            </a:pPr>
            <a:r>
              <a:rPr lang="en-US" sz="1400"/>
              <a:t>Cloud data storage allows businesses to easily scale their data storage capacity up or down depending on their current needs, without having to invest in costly infrastructure.</a:t>
            </a:r>
          </a:p>
          <a:p>
            <a:pPr marL="0" indent="0">
              <a:spcBef>
                <a:spcPts val="2500"/>
              </a:spcBef>
              <a:buNone/>
            </a:pPr>
            <a:r>
              <a:rPr lang="en-US" sz="1400" b="1"/>
              <a:t>Cost Savings</a:t>
            </a:r>
          </a:p>
          <a:p>
            <a:pPr marL="0" lvl="1" indent="0">
              <a:buNone/>
            </a:pPr>
            <a:r>
              <a:rPr lang="en-US" sz="1400"/>
              <a:t>Cloud data storage eliminates the need for businesses to invest in expensive local hardware, saving them money on infrastructure and maintenance costs.</a:t>
            </a:r>
            <a:endParaRPr lang="en-IN" sz="1400"/>
          </a:p>
        </p:txBody>
      </p:sp>
      <p:sp>
        <p:nvSpPr>
          <p:cNvPr id="3" name="Slide Number Placeholder 2">
            <a:extLst>
              <a:ext uri="{FF2B5EF4-FFF2-40B4-BE49-F238E27FC236}">
                <a16:creationId xmlns:a16="http://schemas.microsoft.com/office/drawing/2014/main" id="{B03C064F-8275-D595-28D5-D25B3886E7AF}"/>
              </a:ext>
            </a:extLst>
          </p:cNvPr>
          <p:cNvSpPr>
            <a:spLocks noGrp="1"/>
          </p:cNvSpPr>
          <p:nvPr>
            <p:ph type="sldNum" sz="quarter" idx="12"/>
          </p:nvPr>
        </p:nvSpPr>
        <p:spPr/>
        <p:txBody>
          <a:bodyPr/>
          <a:lstStyle/>
          <a:p>
            <a:fld id="{CC057153-B650-4DEB-B370-79DDCFDCE934}" type="slidenum">
              <a:rPr lang="en-US" smtClean="0"/>
              <a:t>4</a:t>
            </a:fld>
            <a:endParaRPr lang="en-US"/>
          </a:p>
        </p:txBody>
      </p:sp>
    </p:spTree>
    <p:extLst>
      <p:ext uri="{BB962C8B-B14F-4D97-AF65-F5344CB8AC3E}">
        <p14:creationId xmlns:p14="http://schemas.microsoft.com/office/powerpoint/2010/main" val="3125853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Cloud Computing">
            <a:extLst>
              <a:ext uri="{FF2B5EF4-FFF2-40B4-BE49-F238E27FC236}">
                <a16:creationId xmlns:a16="http://schemas.microsoft.com/office/drawing/2014/main" id="{5DF3DB18-6F63-4B29-9AEA-EBC0D93F9139}"/>
              </a:ext>
            </a:extLst>
          </p:cNvPr>
          <p:cNvPicPr>
            <a:picLocks noGrp="1" noChangeAspect="1"/>
          </p:cNvPicPr>
          <p:nvPr>
            <p:ph sz="half" idx="1"/>
          </p:nvPr>
        </p:nvPicPr>
        <p:blipFill>
          <a:blip r:embed="rId3"/>
          <a:srcRect l="17989" r="16613"/>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AE09C299-DDD2-DE7E-141E-252EB029F812}"/>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b="1" kern="1200">
                <a:solidFill>
                  <a:schemeClr val="tx1"/>
                </a:solidFill>
                <a:latin typeface="+mj-lt"/>
                <a:ea typeface="+mj-ea"/>
                <a:cs typeface="+mj-cs"/>
              </a:rPr>
              <a:t>Types of Cloud Storage</a:t>
            </a:r>
          </a:p>
        </p:txBody>
      </p:sp>
      <p:sp>
        <p:nvSpPr>
          <p:cNvPr id="4" name="Content Placeholder 3">
            <a:extLst>
              <a:ext uri="{FF2B5EF4-FFF2-40B4-BE49-F238E27FC236}">
                <a16:creationId xmlns:a16="http://schemas.microsoft.com/office/drawing/2014/main" id="{0471A3F0-4D1D-FBDC-07E5-6B7372095AA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n-US" sz="1400" b="1"/>
              <a:t>Public Cloud</a:t>
            </a:r>
          </a:p>
          <a:p>
            <a:pPr marL="0" lvl="1" indent="0">
              <a:buNone/>
            </a:pPr>
            <a:r>
              <a:rPr lang="en-US" sz="1400"/>
              <a:t>Public cloud storage is a type of cloud computing where the storage service is provided by a third-party provider over the internet. It is typically affordable and scalable, making it ideal for small and medium-sized businesses.</a:t>
            </a:r>
          </a:p>
          <a:p>
            <a:pPr marL="0" indent="0">
              <a:spcBef>
                <a:spcPts val="2500"/>
              </a:spcBef>
              <a:buNone/>
            </a:pPr>
            <a:r>
              <a:rPr lang="en-US" sz="1400" b="1"/>
              <a:t>Private Cloud</a:t>
            </a:r>
          </a:p>
          <a:p>
            <a:pPr marL="0" lvl="1" indent="0">
              <a:buNone/>
            </a:pPr>
            <a:r>
              <a:rPr lang="en-US" sz="1400"/>
              <a:t>Private cloud storage is a type of cloud computing where the storage service is provided by a dedicated infrastructure that is managed by the business. It is typically more secure and customizable, making it ideal for large enterprises.</a:t>
            </a:r>
          </a:p>
          <a:p>
            <a:pPr marL="0" indent="0">
              <a:spcBef>
                <a:spcPts val="2500"/>
              </a:spcBef>
              <a:buNone/>
            </a:pPr>
            <a:r>
              <a:rPr lang="en-US" sz="1400" b="1"/>
              <a:t>Hybrid Cloud</a:t>
            </a:r>
          </a:p>
          <a:p>
            <a:pPr marL="0" lvl="1" indent="0">
              <a:buNone/>
            </a:pPr>
            <a:r>
              <a:rPr lang="en-US" sz="1400"/>
              <a:t>Hybrid cloud storage is a type of cloud computing that combines both public and private cloud services. It allows businesses to take advantage of the benefits of both types of cloud storage while minimizing their disadvantages.</a:t>
            </a:r>
            <a:endParaRPr lang="en-IN" sz="1400"/>
          </a:p>
        </p:txBody>
      </p:sp>
      <p:sp>
        <p:nvSpPr>
          <p:cNvPr id="3" name="Slide Number Placeholder 2">
            <a:extLst>
              <a:ext uri="{FF2B5EF4-FFF2-40B4-BE49-F238E27FC236}">
                <a16:creationId xmlns:a16="http://schemas.microsoft.com/office/drawing/2014/main" id="{80DAC855-0DAE-FD07-3A4E-0D7C80DA3C65}"/>
              </a:ext>
            </a:extLst>
          </p:cNvPr>
          <p:cNvSpPr>
            <a:spLocks noGrp="1"/>
          </p:cNvSpPr>
          <p:nvPr>
            <p:ph type="sldNum" sz="quarter" idx="12"/>
          </p:nvPr>
        </p:nvSpPr>
        <p:spPr/>
        <p:txBody>
          <a:bodyPr/>
          <a:lstStyle/>
          <a:p>
            <a:fld id="{CC057153-B650-4DEB-B370-79DDCFDCE934}" type="slidenum">
              <a:rPr lang="en-US" smtClean="0"/>
              <a:t>5</a:t>
            </a:fld>
            <a:endParaRPr lang="en-US"/>
          </a:p>
        </p:txBody>
      </p:sp>
    </p:spTree>
    <p:extLst>
      <p:ext uri="{BB962C8B-B14F-4D97-AF65-F5344CB8AC3E}">
        <p14:creationId xmlns:p14="http://schemas.microsoft.com/office/powerpoint/2010/main" val="37644333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E271AA-B13D-127B-31C2-070146FFF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D038E5E5-5C84-4B06-AFF9-793D4BC9728D}"/>
              </a:ext>
            </a:extLst>
          </p:cNvPr>
          <p:cNvSpPr>
            <a:spLocks noGrp="1"/>
          </p:cNvSpPr>
          <p:nvPr>
            <p:ph type="title"/>
          </p:nvPr>
        </p:nvSpPr>
        <p:spPr>
          <a:xfrm>
            <a:off x="1014983" y="2366327"/>
            <a:ext cx="4320418" cy="2459634"/>
          </a:xfrm>
        </p:spPr>
        <p:txBody>
          <a:bodyPr anchor="t">
            <a:normAutofit/>
          </a:bodyPr>
          <a:lstStyle/>
          <a:p>
            <a:r>
              <a:rPr lang="en-IN" sz="4400"/>
              <a:t>Cloud Data Platforms</a:t>
            </a:r>
          </a:p>
        </p:txBody>
      </p:sp>
      <p:sp>
        <p:nvSpPr>
          <p:cNvPr id="3" name="Content Placeholder 2">
            <a:extLst>
              <a:ext uri="{FF2B5EF4-FFF2-40B4-BE49-F238E27FC236}">
                <a16:creationId xmlns:a16="http://schemas.microsoft.com/office/drawing/2014/main" id="{6B12E200-9107-E87E-D14A-76F9E752EAD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3304" y="2366327"/>
            <a:ext cx="4320418" cy="2474444"/>
          </a:xfrm>
        </p:spPr>
        <p:txBody>
          <a:bodyPr>
            <a:normAutofit/>
          </a:bodyPr>
          <a:lstStyle/>
          <a:p>
            <a:pPr marL="0" indent="0">
              <a:spcBef>
                <a:spcPts val="2500"/>
              </a:spcBef>
              <a:buNone/>
            </a:pPr>
            <a:endParaRPr lang="en-US" sz="1400" b="1"/>
          </a:p>
          <a:p>
            <a:pPr marL="0" lvl="1" indent="0">
              <a:buNone/>
            </a:pPr>
            <a:r>
              <a:rPr lang="en-US" sz="1400"/>
              <a:t>Cloud data platforms offer businesses a comprehensive suite of tools for data management, analytics, and reporting, making them scalable and customizable to meet the needs of businesses of all sizes.</a:t>
            </a:r>
            <a:endParaRPr lang="en-IN" sz="1400"/>
          </a:p>
        </p:txBody>
      </p:sp>
      <p:sp>
        <p:nvSpPr>
          <p:cNvPr id="4" name="Slide Number Placeholder 3">
            <a:extLst>
              <a:ext uri="{FF2B5EF4-FFF2-40B4-BE49-F238E27FC236}">
                <a16:creationId xmlns:a16="http://schemas.microsoft.com/office/drawing/2014/main" id="{EE59A54A-5943-FE8F-9CC7-060DDBB7086D}"/>
              </a:ext>
            </a:extLst>
          </p:cNvPr>
          <p:cNvSpPr>
            <a:spLocks noGrp="1"/>
          </p:cNvSpPr>
          <p:nvPr>
            <p:ph type="sldNum" sz="quarter" idx="12"/>
          </p:nvPr>
        </p:nvSpPr>
        <p:spPr/>
        <p:txBody>
          <a:bodyPr/>
          <a:lstStyle/>
          <a:p>
            <a:fld id="{CC057153-B650-4DEB-B370-79DDCFDCE934}" type="slidenum">
              <a:rPr lang="en-US" smtClean="0"/>
              <a:t>6</a:t>
            </a:fld>
            <a:endParaRPr lang="en-US"/>
          </a:p>
        </p:txBody>
      </p:sp>
    </p:spTree>
    <p:extLst>
      <p:ext uri="{BB962C8B-B14F-4D97-AF65-F5344CB8AC3E}">
        <p14:creationId xmlns:p14="http://schemas.microsoft.com/office/powerpoint/2010/main" val="8445836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E271AA-B13D-127B-31C2-070146FFF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F83C1AD9-E76C-B896-1D50-2D49E7BB15B4}"/>
              </a:ext>
            </a:extLst>
          </p:cNvPr>
          <p:cNvSpPr>
            <a:spLocks noGrp="1"/>
          </p:cNvSpPr>
          <p:nvPr>
            <p:ph type="title"/>
          </p:nvPr>
        </p:nvSpPr>
        <p:spPr>
          <a:xfrm>
            <a:off x="1014983" y="2366327"/>
            <a:ext cx="4320418" cy="2459634"/>
          </a:xfrm>
        </p:spPr>
        <p:txBody>
          <a:bodyPr anchor="t">
            <a:normAutofit/>
          </a:bodyPr>
          <a:lstStyle/>
          <a:p>
            <a:r>
              <a:rPr lang="en-IN" sz="4400"/>
              <a:t>Cloud Storage and Big Data</a:t>
            </a:r>
          </a:p>
        </p:txBody>
      </p:sp>
      <p:sp>
        <p:nvSpPr>
          <p:cNvPr id="3" name="Content Placeholder 2">
            <a:extLst>
              <a:ext uri="{FF2B5EF4-FFF2-40B4-BE49-F238E27FC236}">
                <a16:creationId xmlns:a16="http://schemas.microsoft.com/office/drawing/2014/main" id="{7DBAE21E-B02C-D430-BC5F-E9099D32282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3304" y="2366327"/>
            <a:ext cx="4320418" cy="2474444"/>
          </a:xfrm>
        </p:spPr>
        <p:txBody>
          <a:bodyPr>
            <a:normAutofit/>
          </a:bodyPr>
          <a:lstStyle/>
          <a:p>
            <a:pPr marL="0" indent="0">
              <a:spcBef>
                <a:spcPts val="2500"/>
              </a:spcBef>
              <a:buNone/>
            </a:pPr>
            <a:endParaRPr lang="en-US" sz="1400" b="1"/>
          </a:p>
          <a:p>
            <a:pPr marL="0" lvl="1" indent="0">
              <a:buNone/>
            </a:pPr>
            <a:r>
              <a:rPr lang="en-US" sz="1400"/>
              <a:t>Cloud storage platforms offer scalability and flexibility, making them ideal for managing big data. The ability to easily add more storage and computing resources as needed allows businesses to better manage and analyze large amounts of data.</a:t>
            </a:r>
            <a:endParaRPr lang="en-IN" sz="1400"/>
          </a:p>
        </p:txBody>
      </p:sp>
      <p:sp>
        <p:nvSpPr>
          <p:cNvPr id="4" name="Slide Number Placeholder 3">
            <a:extLst>
              <a:ext uri="{FF2B5EF4-FFF2-40B4-BE49-F238E27FC236}">
                <a16:creationId xmlns:a16="http://schemas.microsoft.com/office/drawing/2014/main" id="{7047AF79-0D1A-8DAD-259C-1C593312D0B3}"/>
              </a:ext>
            </a:extLst>
          </p:cNvPr>
          <p:cNvSpPr>
            <a:spLocks noGrp="1"/>
          </p:cNvSpPr>
          <p:nvPr>
            <p:ph type="sldNum" sz="quarter" idx="12"/>
          </p:nvPr>
        </p:nvSpPr>
        <p:spPr/>
        <p:txBody>
          <a:bodyPr/>
          <a:lstStyle/>
          <a:p>
            <a:fld id="{CC057153-B650-4DEB-B370-79DDCFDCE934}" type="slidenum">
              <a:rPr lang="en-US" smtClean="0"/>
              <a:t>7</a:t>
            </a:fld>
            <a:endParaRPr lang="en-US"/>
          </a:p>
        </p:txBody>
      </p:sp>
    </p:spTree>
    <p:extLst>
      <p:ext uri="{BB962C8B-B14F-4D97-AF65-F5344CB8AC3E}">
        <p14:creationId xmlns:p14="http://schemas.microsoft.com/office/powerpoint/2010/main" val="9490610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loud system security">
            <a:extLst>
              <a:ext uri="{FF2B5EF4-FFF2-40B4-BE49-F238E27FC236}">
                <a16:creationId xmlns:a16="http://schemas.microsoft.com/office/drawing/2014/main" id="{38B8D619-CB8E-47EE-8240-22E947E0C8DB}"/>
              </a:ext>
            </a:extLst>
          </p:cNvPr>
          <p:cNvPicPr>
            <a:picLocks noGrp="1" noChangeAspect="1"/>
          </p:cNvPicPr>
          <p:nvPr>
            <p:ph sz="half" idx="1"/>
          </p:nvPr>
        </p:nvPicPr>
        <p:blipFill>
          <a:blip r:embed="rId3"/>
          <a:srcRect l="26411" r="22002" b="-1"/>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CB0A8156-A0AB-C8A2-CDF3-B63043470EEF}"/>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Security in Cloud Data Storage</a:t>
            </a:r>
          </a:p>
        </p:txBody>
      </p:sp>
      <p:sp>
        <p:nvSpPr>
          <p:cNvPr id="4" name="Content Placeholder 3">
            <a:extLst>
              <a:ext uri="{FF2B5EF4-FFF2-40B4-BE49-F238E27FC236}">
                <a16:creationId xmlns:a16="http://schemas.microsoft.com/office/drawing/2014/main" id="{49BB8FB1-1044-5BD5-3672-B97F3976DC9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lnSpc>
                <a:spcPct val="110000"/>
              </a:lnSpc>
              <a:spcBef>
                <a:spcPts val="2500"/>
              </a:spcBef>
              <a:buNone/>
            </a:pPr>
            <a:r>
              <a:rPr lang="en-US" sz="1300" b="1" dirty="0"/>
              <a:t>Encryption</a:t>
            </a:r>
          </a:p>
          <a:p>
            <a:pPr marL="0" lvl="1" indent="0">
              <a:lnSpc>
                <a:spcPct val="110000"/>
              </a:lnSpc>
              <a:buNone/>
            </a:pPr>
            <a:r>
              <a:rPr lang="en-US" sz="1300" dirty="0"/>
              <a:t>Encryption is a security measure that can be implemented in cloud data storage to protect sensitive data from unauthorized access. It involves the use of algorithms to encode data to make it unreadable for unauthorized users.</a:t>
            </a:r>
          </a:p>
          <a:p>
            <a:pPr marL="0" indent="0">
              <a:lnSpc>
                <a:spcPct val="110000"/>
              </a:lnSpc>
              <a:spcBef>
                <a:spcPts val="2500"/>
              </a:spcBef>
              <a:buNone/>
            </a:pPr>
            <a:r>
              <a:rPr lang="en-US" sz="1300" b="1" dirty="0"/>
              <a:t>Access Controls</a:t>
            </a:r>
          </a:p>
          <a:p>
            <a:pPr marL="0" lvl="1" indent="0">
              <a:lnSpc>
                <a:spcPct val="110000"/>
              </a:lnSpc>
              <a:buNone/>
            </a:pPr>
            <a:r>
              <a:rPr lang="en-US" sz="1300" dirty="0"/>
              <a:t>Access controls are security measures that limit the access to data based on user roles and permissions. It can be implemented in cloud data storage to prevent unauthorized access to sensitive data.</a:t>
            </a:r>
          </a:p>
          <a:p>
            <a:pPr marL="0" indent="0">
              <a:lnSpc>
                <a:spcPct val="110000"/>
              </a:lnSpc>
              <a:spcBef>
                <a:spcPts val="2500"/>
              </a:spcBef>
              <a:buNone/>
            </a:pPr>
            <a:r>
              <a:rPr lang="en-US" sz="1300" b="1" dirty="0"/>
              <a:t>Monitoring</a:t>
            </a:r>
          </a:p>
          <a:p>
            <a:pPr marL="0" lvl="1" indent="0">
              <a:lnSpc>
                <a:spcPct val="110000"/>
              </a:lnSpc>
              <a:buNone/>
            </a:pPr>
            <a:r>
              <a:rPr lang="en-US" sz="1300" dirty="0"/>
              <a:t>Monitoring is a security measure that involves the continuous monitoring of cloud data storage to detect and respond to security threats and data breaches. It helps businesses to ensure that their data is secured and protected from cyber threats.</a:t>
            </a:r>
            <a:endParaRPr lang="en-IN" sz="1300" dirty="0"/>
          </a:p>
        </p:txBody>
      </p:sp>
      <p:sp>
        <p:nvSpPr>
          <p:cNvPr id="3" name="Slide Number Placeholder 2">
            <a:extLst>
              <a:ext uri="{FF2B5EF4-FFF2-40B4-BE49-F238E27FC236}">
                <a16:creationId xmlns:a16="http://schemas.microsoft.com/office/drawing/2014/main" id="{AE867F88-5D34-954C-29CE-F8EB8A983E50}"/>
              </a:ext>
            </a:extLst>
          </p:cNvPr>
          <p:cNvSpPr>
            <a:spLocks noGrp="1"/>
          </p:cNvSpPr>
          <p:nvPr>
            <p:ph type="sldNum" sz="quarter" idx="12"/>
          </p:nvPr>
        </p:nvSpPr>
        <p:spPr/>
        <p:txBody>
          <a:bodyPr/>
          <a:lstStyle/>
          <a:p>
            <a:fld id="{CC057153-B650-4DEB-B370-79DDCFDCE934}" type="slidenum">
              <a:rPr lang="en-US" smtClean="0"/>
              <a:t>8</a:t>
            </a:fld>
            <a:endParaRPr lang="en-US"/>
          </a:p>
        </p:txBody>
      </p:sp>
    </p:spTree>
    <p:extLst>
      <p:ext uri="{BB962C8B-B14F-4D97-AF65-F5344CB8AC3E}">
        <p14:creationId xmlns:p14="http://schemas.microsoft.com/office/powerpoint/2010/main" val="18138738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E271AA-B13D-127B-31C2-070146FFF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F556E283-8ABA-4CAD-19B1-8BA06A8C262B}"/>
              </a:ext>
            </a:extLst>
          </p:cNvPr>
          <p:cNvSpPr>
            <a:spLocks noGrp="1"/>
          </p:cNvSpPr>
          <p:nvPr>
            <p:ph type="title"/>
          </p:nvPr>
        </p:nvSpPr>
        <p:spPr>
          <a:xfrm>
            <a:off x="1014983" y="2366327"/>
            <a:ext cx="4320418" cy="2459634"/>
          </a:xfrm>
        </p:spPr>
        <p:txBody>
          <a:bodyPr anchor="t">
            <a:normAutofit/>
          </a:bodyPr>
          <a:lstStyle/>
          <a:p>
            <a:r>
              <a:rPr lang="en-IN" sz="4400"/>
              <a:t>Trends in Cloud Storage</a:t>
            </a:r>
          </a:p>
        </p:txBody>
      </p:sp>
      <p:sp>
        <p:nvSpPr>
          <p:cNvPr id="3" name="Content Placeholder 2">
            <a:extLst>
              <a:ext uri="{FF2B5EF4-FFF2-40B4-BE49-F238E27FC236}">
                <a16:creationId xmlns:a16="http://schemas.microsoft.com/office/drawing/2014/main" id="{93184A08-7DB5-9ED4-1316-5A4C5E4C4B5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3304" y="2366327"/>
            <a:ext cx="4320418" cy="2474444"/>
          </a:xfrm>
        </p:spPr>
        <p:txBody>
          <a:bodyPr>
            <a:normAutofit/>
          </a:bodyPr>
          <a:lstStyle/>
          <a:p>
            <a:pPr marL="0" indent="0">
              <a:spcBef>
                <a:spcPts val="2500"/>
              </a:spcBef>
              <a:buNone/>
            </a:pPr>
            <a:endParaRPr lang="en-US" sz="1400" b="1"/>
          </a:p>
          <a:p>
            <a:pPr marL="0" lvl="1" indent="0">
              <a:buNone/>
            </a:pPr>
            <a:r>
              <a:rPr lang="en-US" sz="1400"/>
              <a:t>Cloud storage is an ever-evolving field, and businesses need to stay up-to-date with the latest trends and technologies to remain competitive and take advantage of the latest innovations.</a:t>
            </a:r>
            <a:endParaRPr lang="en-IN" sz="1400"/>
          </a:p>
        </p:txBody>
      </p:sp>
      <p:sp>
        <p:nvSpPr>
          <p:cNvPr id="4" name="Slide Number Placeholder 3">
            <a:extLst>
              <a:ext uri="{FF2B5EF4-FFF2-40B4-BE49-F238E27FC236}">
                <a16:creationId xmlns:a16="http://schemas.microsoft.com/office/drawing/2014/main" id="{15C17AB4-EDBC-24D4-CA9F-7B0C7B9345E0}"/>
              </a:ext>
            </a:extLst>
          </p:cNvPr>
          <p:cNvSpPr>
            <a:spLocks noGrp="1"/>
          </p:cNvSpPr>
          <p:nvPr>
            <p:ph type="sldNum" sz="quarter" idx="12"/>
          </p:nvPr>
        </p:nvSpPr>
        <p:spPr/>
        <p:txBody>
          <a:bodyPr/>
          <a:lstStyle/>
          <a:p>
            <a:fld id="{CC057153-B650-4DEB-B370-79DDCFDCE934}" type="slidenum">
              <a:rPr lang="en-US" smtClean="0"/>
              <a:t>9</a:t>
            </a:fld>
            <a:endParaRPr lang="en-US"/>
          </a:p>
        </p:txBody>
      </p:sp>
    </p:spTree>
    <p:extLst>
      <p:ext uri="{BB962C8B-B14F-4D97-AF65-F5344CB8AC3E}">
        <p14:creationId xmlns:p14="http://schemas.microsoft.com/office/powerpoint/2010/main" val="29963109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169A9278-36A2-A912-6281-DF17C5106412}"/>
              </a:ext>
            </a:extLst>
          </p:cNvPr>
          <p:cNvSpPr>
            <a:spLocks noGrp="1"/>
          </p:cNvSpPr>
          <p:nvPr>
            <p:ph type="title"/>
          </p:nvPr>
        </p:nvSpPr>
        <p:spPr>
          <a:xfrm>
            <a:off x="277091" y="1814321"/>
            <a:ext cx="7772400" cy="4560920"/>
          </a:xfrm>
        </p:spPr>
        <p:txBody>
          <a:bodyPr vert="horz" lIns="91440" tIns="45720" rIns="91440" bIns="45720" rtlCol="0" anchor="b">
            <a:normAutofit/>
          </a:bodyPr>
          <a:lstStyle/>
          <a:p>
            <a:r>
              <a:rPr lang="en-US" sz="7400"/>
              <a:t>Integration and Interoperability in the Data Ecosystem</a:t>
            </a:r>
          </a:p>
        </p:txBody>
      </p:sp>
      <p:sp>
        <p:nvSpPr>
          <p:cNvPr id="3" name="Slide Number Placeholder 2">
            <a:extLst>
              <a:ext uri="{FF2B5EF4-FFF2-40B4-BE49-F238E27FC236}">
                <a16:creationId xmlns:a16="http://schemas.microsoft.com/office/drawing/2014/main" id="{0C27D7DC-D396-F651-4976-20DDD890043D}"/>
              </a:ext>
            </a:extLst>
          </p:cNvPr>
          <p:cNvSpPr>
            <a:spLocks noGrp="1"/>
          </p:cNvSpPr>
          <p:nvPr>
            <p:ph type="sldNum" sz="quarter" idx="12"/>
          </p:nvPr>
        </p:nvSpPr>
        <p:spPr/>
        <p:txBody>
          <a:bodyPr/>
          <a:lstStyle/>
          <a:p>
            <a:fld id="{CC057153-B650-4DEB-B370-79DDCFDCE934}" type="slidenum">
              <a:rPr lang="en-US" smtClean="0"/>
              <a:t>10</a:t>
            </a:fld>
            <a:endParaRPr lang="en-US"/>
          </a:p>
        </p:txBody>
      </p:sp>
    </p:spTree>
    <p:extLst>
      <p:ext uri="{BB962C8B-B14F-4D97-AF65-F5344CB8AC3E}">
        <p14:creationId xmlns:p14="http://schemas.microsoft.com/office/powerpoint/2010/main" val="99642977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bstract circuitry with digital grid background">
            <a:extLst>
              <a:ext uri="{FF2B5EF4-FFF2-40B4-BE49-F238E27FC236}">
                <a16:creationId xmlns:a16="http://schemas.microsoft.com/office/drawing/2014/main" id="{E32B0D82-1124-430A-89B4-B343E799440E}"/>
              </a:ext>
            </a:extLst>
          </p:cNvPr>
          <p:cNvPicPr>
            <a:picLocks noGrp="1" noChangeAspect="1"/>
          </p:cNvPicPr>
          <p:nvPr>
            <p:ph sz="half" idx="1"/>
          </p:nvPr>
        </p:nvPicPr>
        <p:blipFill>
          <a:blip r:embed="rId3"/>
          <a:srcRect l="29162" r="30564"/>
          <a:stretch/>
        </p:blipFill>
        <p:spPr>
          <a:xfrm>
            <a:off x="20" y="10"/>
            <a:ext cx="4910308" cy="6857990"/>
          </a:xfrm>
          <a:prstGeom prst="rect">
            <a:avLst/>
          </a:prstGeom>
        </p:spPr>
      </p:pic>
      <p:sp>
        <p:nvSpPr>
          <p:cNvPr id="2" name="Title 1">
            <a:extLst>
              <a:ext uri="{FF2B5EF4-FFF2-40B4-BE49-F238E27FC236}">
                <a16:creationId xmlns:a16="http://schemas.microsoft.com/office/drawing/2014/main" id="{49BBE5A8-7682-DA1E-D89F-266B7A738B03}"/>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Interoperability of Different Data Sources</a:t>
            </a:r>
          </a:p>
        </p:txBody>
      </p:sp>
      <p:sp>
        <p:nvSpPr>
          <p:cNvPr id="4" name="Content Placeholder 3">
            <a:extLst>
              <a:ext uri="{FF2B5EF4-FFF2-40B4-BE49-F238E27FC236}">
                <a16:creationId xmlns:a16="http://schemas.microsoft.com/office/drawing/2014/main" id="{59C803FF-1718-0CD0-004B-82BBC5833BC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Definition of Interoperability</a:t>
            </a:r>
          </a:p>
          <a:p>
            <a:pPr marL="0" lvl="1" indent="0">
              <a:buNone/>
            </a:pPr>
            <a:r>
              <a:rPr lang="en-US" sz="1400"/>
              <a:t>Interoperability refers to the ability of different data systems to work together seamlessly. It enables businesses to combine data from different sources, such as CRM systems, social media platforms, and web analytics tools.</a:t>
            </a:r>
          </a:p>
          <a:p>
            <a:pPr marL="0" indent="0">
              <a:spcBef>
                <a:spcPts val="2500"/>
              </a:spcBef>
              <a:buNone/>
            </a:pPr>
            <a:r>
              <a:rPr lang="en-US" sz="1400" b="1"/>
              <a:t>Benefits of Interoperability</a:t>
            </a:r>
          </a:p>
          <a:p>
            <a:pPr marL="0" lvl="1" indent="0">
              <a:buNone/>
            </a:pPr>
            <a:r>
              <a:rPr lang="en-US" sz="1400"/>
              <a:t>Interoperability enables businesses to gain a more complete picture of their customers and operations by combining data from different sources. This can lead to better decision-making, improved customer experiences, and increased efficiency.</a:t>
            </a:r>
            <a:endParaRPr lang="en-IN" sz="1400"/>
          </a:p>
        </p:txBody>
      </p:sp>
      <p:sp>
        <p:nvSpPr>
          <p:cNvPr id="3" name="Slide Number Placeholder 2">
            <a:extLst>
              <a:ext uri="{FF2B5EF4-FFF2-40B4-BE49-F238E27FC236}">
                <a16:creationId xmlns:a16="http://schemas.microsoft.com/office/drawing/2014/main" id="{05C8D3FC-766A-240B-20DE-A35BE84B60EC}"/>
              </a:ext>
            </a:extLst>
          </p:cNvPr>
          <p:cNvSpPr>
            <a:spLocks noGrp="1"/>
          </p:cNvSpPr>
          <p:nvPr>
            <p:ph type="sldNum" sz="quarter" idx="12"/>
          </p:nvPr>
        </p:nvSpPr>
        <p:spPr/>
        <p:txBody>
          <a:bodyPr/>
          <a:lstStyle/>
          <a:p>
            <a:fld id="{CC057153-B650-4DEB-B370-79DDCFDCE934}" type="slidenum">
              <a:rPr lang="en-US" smtClean="0"/>
              <a:t>11</a:t>
            </a:fld>
            <a:endParaRPr lang="en-US"/>
          </a:p>
        </p:txBody>
      </p:sp>
    </p:spTree>
    <p:extLst>
      <p:ext uri="{BB962C8B-B14F-4D97-AF65-F5344CB8AC3E}">
        <p14:creationId xmlns:p14="http://schemas.microsoft.com/office/powerpoint/2010/main" val="21465753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mpressed Data concept with alphabet words with blocks">
            <a:extLst>
              <a:ext uri="{FF2B5EF4-FFF2-40B4-BE49-F238E27FC236}">
                <a16:creationId xmlns:a16="http://schemas.microsoft.com/office/drawing/2014/main" id="{075AEBC1-451A-43CE-AEFB-293D176853A0}"/>
              </a:ext>
            </a:extLst>
          </p:cNvPr>
          <p:cNvPicPr>
            <a:picLocks noGrp="1" noChangeAspect="1"/>
          </p:cNvPicPr>
          <p:nvPr>
            <p:ph sz="half" idx="1"/>
          </p:nvPr>
        </p:nvPicPr>
        <p:blipFill>
          <a:blip r:embed="rId3"/>
          <a:srcRect l="19465" r="18501" b="-1"/>
          <a:stretch/>
        </p:blipFill>
        <p:spPr>
          <a:xfrm>
            <a:off x="1" y="10"/>
            <a:ext cx="6373368" cy="6857990"/>
          </a:xfrm>
          <a:prstGeom prst="rect">
            <a:avLst/>
          </a:prstGeom>
        </p:spPr>
      </p:pic>
      <p:sp>
        <p:nvSpPr>
          <p:cNvPr id="2" name="Title 1">
            <a:extLst>
              <a:ext uri="{FF2B5EF4-FFF2-40B4-BE49-F238E27FC236}">
                <a16:creationId xmlns:a16="http://schemas.microsoft.com/office/drawing/2014/main" id="{C400F452-1B79-113B-B6C3-0F0795F94EA6}"/>
              </a:ext>
            </a:extLst>
          </p:cNvPr>
          <p:cNvSpPr>
            <a:spLocks noGrp="1"/>
          </p:cNvSpPr>
          <p:nvPr>
            <p:ph type="title"/>
          </p:nvPr>
        </p:nvSpPr>
        <p:spPr>
          <a:xfrm>
            <a:off x="7123015" y="603504"/>
            <a:ext cx="4361689" cy="1527048"/>
          </a:xfrm>
        </p:spPr>
        <p:txBody>
          <a:bodyPr vert="horz" lIns="91440" tIns="45720" rIns="91440" bIns="45720" rtlCol="0" anchor="b">
            <a:normAutofit/>
          </a:bodyPr>
          <a:lstStyle/>
          <a:p>
            <a:r>
              <a:rPr lang="en-US" b="1" kern="1200">
                <a:solidFill>
                  <a:schemeClr val="tx1"/>
                </a:solidFill>
                <a:latin typeface="+mj-lt"/>
                <a:ea typeface="+mj-ea"/>
                <a:cs typeface="+mj-cs"/>
              </a:rPr>
              <a:t>Data Governance and Data Quality</a:t>
            </a:r>
          </a:p>
        </p:txBody>
      </p:sp>
      <p:sp>
        <p:nvSpPr>
          <p:cNvPr id="4" name="Content Placeholder 3">
            <a:extLst>
              <a:ext uri="{FF2B5EF4-FFF2-40B4-BE49-F238E27FC236}">
                <a16:creationId xmlns:a16="http://schemas.microsoft.com/office/drawing/2014/main" id="{34137BBA-EE1A-17AB-8B6B-C47A3BFB123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23017" y="2212848"/>
            <a:ext cx="4361688" cy="4096512"/>
          </a:xfrm>
        </p:spPr>
        <p:txBody>
          <a:bodyPr>
            <a:normAutofit/>
          </a:bodyPr>
          <a:lstStyle/>
          <a:p>
            <a:pPr marL="0" indent="0">
              <a:spcBef>
                <a:spcPts val="2500"/>
              </a:spcBef>
              <a:buNone/>
            </a:pPr>
            <a:r>
              <a:rPr lang="en-US" sz="1400" b="1"/>
              <a:t>Data Governance</a:t>
            </a:r>
          </a:p>
          <a:p>
            <a:pPr marL="0" lvl="1" indent="0">
              <a:buNone/>
            </a:pPr>
            <a:r>
              <a:rPr lang="en-US" sz="1400"/>
              <a:t>Data governance is the process of managing the availability, usability, integrity, and security of data used in an organization. It involves establishing policies, procedures, and standards for data management to ensure consistent and accurate use of data.</a:t>
            </a:r>
          </a:p>
          <a:p>
            <a:pPr marL="0" indent="0">
              <a:spcBef>
                <a:spcPts val="2500"/>
              </a:spcBef>
              <a:buNone/>
            </a:pPr>
            <a:r>
              <a:rPr lang="en-US" sz="1400" b="1"/>
              <a:t>Data Quality</a:t>
            </a:r>
          </a:p>
          <a:p>
            <a:pPr marL="0" lvl="1" indent="0">
              <a:buNone/>
            </a:pPr>
            <a:r>
              <a:rPr lang="en-US" sz="1400"/>
              <a:t>Data quality refers to the accuracy, completeness, and consistency of data. It ensures that data is fit for purpose and can be used effectively for decision-making, analysis, and reporting.</a:t>
            </a:r>
            <a:endParaRPr lang="en-IN" sz="1400"/>
          </a:p>
        </p:txBody>
      </p:sp>
      <p:sp>
        <p:nvSpPr>
          <p:cNvPr id="3" name="Slide Number Placeholder 2">
            <a:extLst>
              <a:ext uri="{FF2B5EF4-FFF2-40B4-BE49-F238E27FC236}">
                <a16:creationId xmlns:a16="http://schemas.microsoft.com/office/drawing/2014/main" id="{E3F012EF-38C0-CE43-D42D-28E208DC0A7B}"/>
              </a:ext>
            </a:extLst>
          </p:cNvPr>
          <p:cNvSpPr>
            <a:spLocks noGrp="1"/>
          </p:cNvSpPr>
          <p:nvPr>
            <p:ph type="sldNum" sz="quarter" idx="12"/>
          </p:nvPr>
        </p:nvSpPr>
        <p:spPr/>
        <p:txBody>
          <a:bodyPr/>
          <a:lstStyle/>
          <a:p>
            <a:fld id="{CC057153-B650-4DEB-B370-79DDCFDCE934}" type="slidenum">
              <a:rPr lang="en-US" smtClean="0"/>
              <a:t>12</a:t>
            </a:fld>
            <a:endParaRPr lang="en-US"/>
          </a:p>
        </p:txBody>
      </p:sp>
    </p:spTree>
    <p:extLst>
      <p:ext uri="{BB962C8B-B14F-4D97-AF65-F5344CB8AC3E}">
        <p14:creationId xmlns:p14="http://schemas.microsoft.com/office/powerpoint/2010/main" val="34222918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41342E8-68F0-91F8-2F8E-D98FEF0C239B}"/>
              </a:ext>
            </a:extLst>
          </p:cNvPr>
          <p:cNvSpPr>
            <a:spLocks noGrp="1"/>
          </p:cNvSpPr>
          <p:nvPr>
            <p:ph type="title"/>
          </p:nvPr>
        </p:nvSpPr>
        <p:spPr>
          <a:xfrm>
            <a:off x="277091" y="1814321"/>
            <a:ext cx="7772400" cy="4560920"/>
          </a:xfrm>
        </p:spPr>
        <p:txBody>
          <a:bodyPr vert="horz" lIns="91440" tIns="45720" rIns="91440" bIns="45720" rtlCol="0" anchor="b">
            <a:normAutofit/>
          </a:bodyPr>
          <a:lstStyle/>
          <a:p>
            <a:r>
              <a:rPr lang="en-US" sz="6800"/>
              <a:t>Case Studies and Applications of the Data Ecosystem</a:t>
            </a:r>
          </a:p>
        </p:txBody>
      </p:sp>
      <p:sp>
        <p:nvSpPr>
          <p:cNvPr id="3" name="Slide Number Placeholder 2">
            <a:extLst>
              <a:ext uri="{FF2B5EF4-FFF2-40B4-BE49-F238E27FC236}">
                <a16:creationId xmlns:a16="http://schemas.microsoft.com/office/drawing/2014/main" id="{58D6DCB2-8211-21BB-8539-9DD42147F964}"/>
              </a:ext>
            </a:extLst>
          </p:cNvPr>
          <p:cNvSpPr>
            <a:spLocks noGrp="1"/>
          </p:cNvSpPr>
          <p:nvPr>
            <p:ph type="sldNum" sz="quarter" idx="12"/>
          </p:nvPr>
        </p:nvSpPr>
        <p:spPr/>
        <p:txBody>
          <a:bodyPr/>
          <a:lstStyle/>
          <a:p>
            <a:fld id="{CC057153-B650-4DEB-B370-79DDCFDCE934}" type="slidenum">
              <a:rPr lang="en-US" smtClean="0"/>
              <a:t>13</a:t>
            </a:fld>
            <a:endParaRPr lang="en-US"/>
          </a:p>
        </p:txBody>
      </p:sp>
    </p:spTree>
    <p:extLst>
      <p:ext uri="{BB962C8B-B14F-4D97-AF65-F5344CB8AC3E}">
        <p14:creationId xmlns:p14="http://schemas.microsoft.com/office/powerpoint/2010/main" val="178365617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gest those facts and figures... literal interpretation of the business lunch.">
            <a:extLst>
              <a:ext uri="{FF2B5EF4-FFF2-40B4-BE49-F238E27FC236}">
                <a16:creationId xmlns:a16="http://schemas.microsoft.com/office/drawing/2014/main" id="{D9776968-EB28-41F1-B8AC-DA08517D8152}"/>
              </a:ext>
            </a:extLst>
          </p:cNvPr>
          <p:cNvPicPr>
            <a:picLocks noGrp="1" noChangeAspect="1"/>
          </p:cNvPicPr>
          <p:nvPr>
            <p:ph sz="half" idx="1"/>
          </p:nvPr>
        </p:nvPicPr>
        <p:blipFill>
          <a:blip r:embed="rId3"/>
          <a:srcRect l="29793" r="23036" b="-1"/>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C3A3B318-07F1-28C1-786A-64FB22ABE82D}"/>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Real-World Applications</a:t>
            </a:r>
          </a:p>
        </p:txBody>
      </p:sp>
      <p:sp>
        <p:nvSpPr>
          <p:cNvPr id="4" name="Content Placeholder 3">
            <a:extLst>
              <a:ext uri="{FF2B5EF4-FFF2-40B4-BE49-F238E27FC236}">
                <a16:creationId xmlns:a16="http://schemas.microsoft.com/office/drawing/2014/main" id="{F362BA1E-1D92-5250-20D4-BFC50A75DF7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US" sz="1400" b="1"/>
              <a:t>Predictive Analytics</a:t>
            </a:r>
          </a:p>
          <a:p>
            <a:pPr marL="0" lvl="1" indent="0">
              <a:buNone/>
            </a:pPr>
            <a:r>
              <a:rPr lang="en-US" sz="1400"/>
              <a:t>Predictive analytics is being used by businesses to forecast consumer behavior and trends, optimizing marketing campaigns and increasing sales.</a:t>
            </a:r>
          </a:p>
          <a:p>
            <a:pPr marL="0" indent="0">
              <a:spcBef>
                <a:spcPts val="2500"/>
              </a:spcBef>
              <a:buNone/>
            </a:pPr>
            <a:r>
              <a:rPr lang="en-US" sz="1400" b="1"/>
              <a:t>Supply Chain Optimization</a:t>
            </a:r>
          </a:p>
          <a:p>
            <a:pPr marL="0" lvl="1" indent="0">
              <a:buNone/>
            </a:pPr>
            <a:r>
              <a:rPr lang="en-US" sz="1400"/>
              <a:t>Data analytics is being used to optimize supply chain management, reducing costs, and improving efficiency.</a:t>
            </a:r>
          </a:p>
          <a:p>
            <a:pPr marL="0" indent="0">
              <a:spcBef>
                <a:spcPts val="2500"/>
              </a:spcBef>
              <a:buNone/>
            </a:pPr>
            <a:r>
              <a:rPr lang="en-US" sz="1400" b="1"/>
              <a:t>Customer Segmentation</a:t>
            </a:r>
          </a:p>
          <a:p>
            <a:pPr marL="0" lvl="1" indent="0">
              <a:buNone/>
            </a:pPr>
            <a:r>
              <a:rPr lang="en-US" sz="1400"/>
              <a:t>Customer segmentation is being used by businesses to identify and target specific groups of consumers with personalized marketing campaigns, improving customer satisfaction and loyalty.</a:t>
            </a:r>
            <a:endParaRPr lang="en-IN" sz="1400"/>
          </a:p>
        </p:txBody>
      </p:sp>
      <p:sp>
        <p:nvSpPr>
          <p:cNvPr id="3" name="Slide Number Placeholder 2">
            <a:extLst>
              <a:ext uri="{FF2B5EF4-FFF2-40B4-BE49-F238E27FC236}">
                <a16:creationId xmlns:a16="http://schemas.microsoft.com/office/drawing/2014/main" id="{3CEC3568-C260-5FCF-DF0E-35339BF5C578}"/>
              </a:ext>
            </a:extLst>
          </p:cNvPr>
          <p:cNvSpPr>
            <a:spLocks noGrp="1"/>
          </p:cNvSpPr>
          <p:nvPr>
            <p:ph type="sldNum" sz="quarter" idx="12"/>
          </p:nvPr>
        </p:nvSpPr>
        <p:spPr/>
        <p:txBody>
          <a:bodyPr/>
          <a:lstStyle/>
          <a:p>
            <a:fld id="{CC057153-B650-4DEB-B370-79DDCFDCE934}" type="slidenum">
              <a:rPr lang="en-US" smtClean="0"/>
              <a:t>14</a:t>
            </a:fld>
            <a:endParaRPr lang="en-US"/>
          </a:p>
        </p:txBody>
      </p:sp>
    </p:spTree>
    <p:extLst>
      <p:ext uri="{BB962C8B-B14F-4D97-AF65-F5344CB8AC3E}">
        <p14:creationId xmlns:p14="http://schemas.microsoft.com/office/powerpoint/2010/main" val="13279887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bstract background with a abstract digital graph">
            <a:extLst>
              <a:ext uri="{FF2B5EF4-FFF2-40B4-BE49-F238E27FC236}">
                <a16:creationId xmlns:a16="http://schemas.microsoft.com/office/drawing/2014/main" id="{1E1FC49E-5554-4D8E-AC32-78BE8FF51669}"/>
              </a:ext>
            </a:extLst>
          </p:cNvPr>
          <p:cNvPicPr>
            <a:picLocks noGrp="1" noChangeAspect="1"/>
          </p:cNvPicPr>
          <p:nvPr>
            <p:ph sz="half" idx="1"/>
          </p:nvPr>
        </p:nvPicPr>
        <p:blipFill>
          <a:blip r:embed="rId3"/>
          <a:srcRect l="37747" r="21978"/>
          <a:stretch/>
        </p:blipFill>
        <p:spPr>
          <a:xfrm>
            <a:off x="20" y="10"/>
            <a:ext cx="4910308" cy="6857990"/>
          </a:xfrm>
          <a:prstGeom prst="rect">
            <a:avLst/>
          </a:prstGeom>
        </p:spPr>
      </p:pic>
      <p:sp>
        <p:nvSpPr>
          <p:cNvPr id="2" name="Title 1">
            <a:extLst>
              <a:ext uri="{FF2B5EF4-FFF2-40B4-BE49-F238E27FC236}">
                <a16:creationId xmlns:a16="http://schemas.microsoft.com/office/drawing/2014/main" id="{DB91A74B-21DB-CB3A-2BC2-6A03BEB0A672}"/>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Success Stories of Modern Data Ecosystems</a:t>
            </a:r>
          </a:p>
        </p:txBody>
      </p:sp>
      <p:sp>
        <p:nvSpPr>
          <p:cNvPr id="4" name="Content Placeholder 3">
            <a:extLst>
              <a:ext uri="{FF2B5EF4-FFF2-40B4-BE49-F238E27FC236}">
                <a16:creationId xmlns:a16="http://schemas.microsoft.com/office/drawing/2014/main" id="{07ACDC0A-9559-FD83-88A6-9EE7066A010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Netflix</a:t>
            </a:r>
          </a:p>
          <a:p>
            <a:pPr marL="0" lvl="1" indent="0">
              <a:buNone/>
            </a:pPr>
            <a:r>
              <a:rPr lang="en-US" sz="1400"/>
              <a:t>Netflix uses data to personalize user experience and recommend new content, which has helped them grow their user base and revenue.</a:t>
            </a:r>
          </a:p>
          <a:p>
            <a:pPr marL="0" indent="0">
              <a:spcBef>
                <a:spcPts val="2500"/>
              </a:spcBef>
              <a:buNone/>
            </a:pPr>
            <a:r>
              <a:rPr lang="en-US" sz="1400" b="1"/>
              <a:t>Amazon</a:t>
            </a:r>
          </a:p>
          <a:p>
            <a:pPr marL="0" lvl="1" indent="0">
              <a:buNone/>
            </a:pPr>
            <a:r>
              <a:rPr lang="en-US" sz="1400"/>
              <a:t>Amazon uses data to optimize its supply chain, resulting in faster delivery times and lower costs.</a:t>
            </a:r>
          </a:p>
          <a:p>
            <a:pPr marL="0" indent="0">
              <a:spcBef>
                <a:spcPts val="2500"/>
              </a:spcBef>
              <a:buNone/>
            </a:pPr>
            <a:r>
              <a:rPr lang="en-US" sz="1400" b="1"/>
              <a:t>Spotify</a:t>
            </a:r>
          </a:p>
          <a:p>
            <a:pPr marL="0" lvl="1" indent="0">
              <a:buNone/>
            </a:pPr>
            <a:r>
              <a:rPr lang="en-US" sz="1400"/>
              <a:t>Spotify uses data to personalize music recommendations and create personalized playlists, which has helped them grow their user base and revenue.</a:t>
            </a:r>
            <a:endParaRPr lang="en-IN" sz="1400"/>
          </a:p>
        </p:txBody>
      </p:sp>
      <p:sp>
        <p:nvSpPr>
          <p:cNvPr id="3" name="Slide Number Placeholder 2">
            <a:extLst>
              <a:ext uri="{FF2B5EF4-FFF2-40B4-BE49-F238E27FC236}">
                <a16:creationId xmlns:a16="http://schemas.microsoft.com/office/drawing/2014/main" id="{21BF2C56-CA30-A166-7D33-5CC744FE4DB4}"/>
              </a:ext>
            </a:extLst>
          </p:cNvPr>
          <p:cNvSpPr>
            <a:spLocks noGrp="1"/>
          </p:cNvSpPr>
          <p:nvPr>
            <p:ph type="sldNum" sz="quarter" idx="12"/>
          </p:nvPr>
        </p:nvSpPr>
        <p:spPr/>
        <p:txBody>
          <a:bodyPr/>
          <a:lstStyle/>
          <a:p>
            <a:fld id="{CC057153-B650-4DEB-B370-79DDCFDCE934}" type="slidenum">
              <a:rPr lang="en-US" smtClean="0"/>
              <a:t>15</a:t>
            </a:fld>
            <a:endParaRPr lang="en-US"/>
          </a:p>
        </p:txBody>
      </p:sp>
    </p:spTree>
    <p:extLst>
      <p:ext uri="{BB962C8B-B14F-4D97-AF65-F5344CB8AC3E}">
        <p14:creationId xmlns:p14="http://schemas.microsoft.com/office/powerpoint/2010/main" val="12554820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F74C59-445A-9824-B537-A392A6ECE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5E8AF8DD-4E2B-84ED-EC2A-9940BEF77544}"/>
              </a:ext>
            </a:extLst>
          </p:cNvPr>
          <p:cNvSpPr>
            <a:spLocks noGrp="1"/>
          </p:cNvSpPr>
          <p:nvPr>
            <p:ph type="title"/>
          </p:nvPr>
        </p:nvSpPr>
        <p:spPr>
          <a:xfrm>
            <a:off x="612648" y="2555913"/>
            <a:ext cx="4609347" cy="1979895"/>
          </a:xfrm>
        </p:spPr>
        <p:txBody>
          <a:bodyPr anchor="t">
            <a:normAutofit/>
          </a:bodyPr>
          <a:lstStyle/>
          <a:p>
            <a:r>
              <a:rPr lang="en-IN" sz="6000"/>
              <a:t>Conclusion</a:t>
            </a:r>
          </a:p>
        </p:txBody>
      </p:sp>
      <p:sp>
        <p:nvSpPr>
          <p:cNvPr id="3" name="Content Placeholder 2">
            <a:extLst>
              <a:ext uri="{FF2B5EF4-FFF2-40B4-BE49-F238E27FC236}">
                <a16:creationId xmlns:a16="http://schemas.microsoft.com/office/drawing/2014/main" id="{BD1300E8-3C0A-AF68-AFFE-63E2AFD5874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04609" y="2555913"/>
            <a:ext cx="4864608" cy="2221992"/>
          </a:xfrm>
        </p:spPr>
        <p:txBody>
          <a:bodyPr>
            <a:normAutofit/>
          </a:bodyPr>
          <a:lstStyle/>
          <a:p>
            <a:pPr marL="0" indent="0">
              <a:spcBef>
                <a:spcPts val="2500"/>
              </a:spcBef>
              <a:buNone/>
            </a:pPr>
            <a:endParaRPr lang="en-US" sz="1400" b="1"/>
          </a:p>
          <a:p>
            <a:pPr marL="0" lvl="1" indent="0">
              <a:buNone/>
            </a:pPr>
            <a:r>
              <a:rPr lang="en-US" sz="1400"/>
              <a:t>Understanding the fundamentals of cloud storage, integration and interoperability, and real-world applications is crucial for businesses looking to harness the power of data to drive growth and innovation.</a:t>
            </a:r>
            <a:endParaRPr lang="en-IN" sz="1400"/>
          </a:p>
        </p:txBody>
      </p:sp>
      <p:sp>
        <p:nvSpPr>
          <p:cNvPr id="4" name="Slide Number Placeholder 3">
            <a:extLst>
              <a:ext uri="{FF2B5EF4-FFF2-40B4-BE49-F238E27FC236}">
                <a16:creationId xmlns:a16="http://schemas.microsoft.com/office/drawing/2014/main" id="{EC315447-A9CC-5E91-7CD0-FA4734CA501E}"/>
              </a:ext>
            </a:extLst>
          </p:cNvPr>
          <p:cNvSpPr>
            <a:spLocks noGrp="1"/>
          </p:cNvSpPr>
          <p:nvPr>
            <p:ph type="sldNum" sz="quarter" idx="12"/>
          </p:nvPr>
        </p:nvSpPr>
        <p:spPr/>
        <p:txBody>
          <a:bodyPr/>
          <a:lstStyle/>
          <a:p>
            <a:fld id="{CC057153-B650-4DEB-B370-79DDCFDCE934}" type="slidenum">
              <a:rPr lang="en-US" smtClean="0"/>
              <a:t>16</a:t>
            </a:fld>
            <a:endParaRPr lang="en-US"/>
          </a:p>
        </p:txBody>
      </p:sp>
    </p:spTree>
    <p:extLst>
      <p:ext uri="{BB962C8B-B14F-4D97-AF65-F5344CB8AC3E}">
        <p14:creationId xmlns:p14="http://schemas.microsoft.com/office/powerpoint/2010/main" val="23890485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VanillaVT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1542</Words>
  <Application>Microsoft Office PowerPoint</Application>
  <PresentationFormat>Widescreen</PresentationFormat>
  <Paragraphs>112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Neue Haas Grotesk Text Pro</vt:lpstr>
      <vt:lpstr>VanillaVTI</vt:lpstr>
      <vt:lpstr>The Data Ecosystem: A Comprehensive Guide</vt:lpstr>
      <vt:lpstr>Agenda Items</vt:lpstr>
      <vt:lpstr>Cloud Storage in the Data Ecosystem</vt:lpstr>
      <vt:lpstr>Cloud Data Storage Basics</vt:lpstr>
      <vt:lpstr>Types of Cloud Storage</vt:lpstr>
      <vt:lpstr>Cloud Data Platforms</vt:lpstr>
      <vt:lpstr>Cloud Storage and Big Data</vt:lpstr>
      <vt:lpstr>Security in Cloud Data Storage</vt:lpstr>
      <vt:lpstr>Trends in Cloud Storage</vt:lpstr>
      <vt:lpstr>Integration and Interoperability in the Data Ecosystem</vt:lpstr>
      <vt:lpstr>Interoperability of Different Data Sources</vt:lpstr>
      <vt:lpstr>Data Governance and Data Quality</vt:lpstr>
      <vt:lpstr>Case Studies and Applications of the Data Ecosystem</vt:lpstr>
      <vt:lpstr>Real-World Applications</vt:lpstr>
      <vt:lpstr>Success Stories of Modern Data Ecosystems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2</cp:revision>
  <dcterms:created xsi:type="dcterms:W3CDTF">2024-10-03T08:06:53Z</dcterms:created>
  <dcterms:modified xsi:type="dcterms:W3CDTF">2024-10-03T13:16:14Z</dcterms:modified>
</cp:coreProperties>
</file>