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ploring the Data Ecosystem" id="{42FFF47F-3EA6-4221-8098-62CFE4F4084A}">
          <p14:sldIdLst>
            <p14:sldId id="2561"/>
            <p14:sldId id="2562"/>
          </p14:sldIdLst>
        </p14:section>
        <p14:section name="Structured and Unstructured Data" id="{A5AE5EA2-134F-4A57-9A81-3F866C460DA9}">
          <p14:sldIdLst>
            <p14:sldId id="2563"/>
            <p14:sldId id="2564"/>
            <p14:sldId id="2565"/>
            <p14:sldId id="2566"/>
            <p14:sldId id="2567"/>
          </p14:sldIdLst>
        </p14:section>
        <p14:section name="Big Data" id="{DC9C4BE4-B929-4E4A-8B7F-38F339A4ED75}">
          <p14:sldIdLst>
            <p14:sldId id="2568"/>
            <p14:sldId id="2569"/>
            <p14:sldId id="2570"/>
            <p14:sldId id="2571"/>
            <p14:sldId id="2572"/>
          </p14:sldIdLst>
        </p14:section>
        <p14:section name="Conclusion" id="{A6C5807A-F220-4BE6-B828-626945D1FB16}">
          <p14:sldIdLst>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994" autoAdjust="0"/>
  </p:normalViewPr>
  <p:slideViewPr>
    <p:cSldViewPr snapToGrid="0">
      <p:cViewPr varScale="1">
        <p:scale>
          <a:sx n="68" d="100"/>
          <a:sy n="68" d="100"/>
        </p:scale>
        <p:origin x="950" y="19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1991EF-022D-4E6D-AF9F-D62E8B46B546}" type="doc">
      <dgm:prSet loTypeId="urn:microsoft.com/office/officeart/2024/3/layout/hArchList1" loCatId="List" qsTypeId="urn:microsoft.com/office/officeart/2005/8/quickstyle/simple1" qsCatId="simple" csTypeId="urn:microsoft.com/office/officeart/2005/8/colors/accent0_1" csCatId="mainScheme" phldr="1"/>
      <dgm:spPr/>
      <dgm:t>
        <a:bodyPr/>
        <a:lstStyle/>
        <a:p>
          <a:endParaRPr lang="en-US"/>
        </a:p>
      </dgm:t>
    </dgm:pt>
    <dgm:pt modelId="{ABA891C5-02BD-4F12-9832-3DC3DF532BA3}">
      <dgm:prSet/>
      <dgm:spPr/>
      <dgm:t>
        <a:bodyPr/>
        <a:lstStyle/>
        <a:p>
          <a:pPr>
            <a:lnSpc>
              <a:spcPct val="100000"/>
            </a:lnSpc>
            <a:defRPr b="1"/>
          </a:pPr>
          <a:r>
            <a:rPr lang="en-US"/>
            <a:t>Importance of Data</a:t>
          </a:r>
        </a:p>
      </dgm:t>
    </dgm:pt>
    <dgm:pt modelId="{E543681B-67A5-44A6-90E0-D6E82E406E07}" type="parTrans" cxnId="{EBE1A59D-715D-4D97-BD5F-856E9A07048E}">
      <dgm:prSet/>
      <dgm:spPr/>
      <dgm:t>
        <a:bodyPr/>
        <a:lstStyle/>
        <a:p>
          <a:endParaRPr lang="en-US"/>
        </a:p>
      </dgm:t>
    </dgm:pt>
    <dgm:pt modelId="{5E33EE9D-5483-4F84-BD06-F67A510F6ACC}" type="sibTrans" cxnId="{EBE1A59D-715D-4D97-BD5F-856E9A07048E}">
      <dgm:prSet/>
      <dgm:spPr/>
      <dgm:t>
        <a:bodyPr/>
        <a:lstStyle/>
        <a:p>
          <a:pPr>
            <a:lnSpc>
              <a:spcPct val="100000"/>
            </a:lnSpc>
            <a:defRPr b="1"/>
          </a:pPr>
          <a:endParaRPr lang="en-US"/>
        </a:p>
      </dgm:t>
    </dgm:pt>
    <dgm:pt modelId="{39D3F335-462D-4459-8CFE-9EC9BB3DDB8C}">
      <dgm:prSet/>
      <dgm:spPr/>
      <dgm:t>
        <a:bodyPr/>
        <a:lstStyle/>
        <a:p>
          <a:pPr>
            <a:lnSpc>
              <a:spcPct val="100000"/>
            </a:lnSpc>
          </a:pPr>
          <a:r>
            <a:rPr lang="en-US"/>
            <a:t>Data is the foundation of the digital age, and understanding the different types of data and their unique challenges and benefits is essential for any organization.</a:t>
          </a:r>
        </a:p>
      </dgm:t>
    </dgm:pt>
    <dgm:pt modelId="{9EC19BBC-26C2-4A44-8D1C-EA77D5E4DE64}" type="parTrans" cxnId="{48AA41ED-716D-4944-BA56-1A2086D41D98}">
      <dgm:prSet/>
      <dgm:spPr/>
      <dgm:t>
        <a:bodyPr/>
        <a:lstStyle/>
        <a:p>
          <a:endParaRPr lang="en-US"/>
        </a:p>
      </dgm:t>
    </dgm:pt>
    <dgm:pt modelId="{1B130CC0-1CEF-4CFC-9A25-142A68D1E99C}" type="sibTrans" cxnId="{48AA41ED-716D-4944-BA56-1A2086D41D98}">
      <dgm:prSet/>
      <dgm:spPr/>
      <dgm:t>
        <a:bodyPr/>
        <a:lstStyle/>
        <a:p>
          <a:endParaRPr lang="en-US"/>
        </a:p>
      </dgm:t>
    </dgm:pt>
    <dgm:pt modelId="{6D5823B9-931F-49A5-9661-627E55FC4750}">
      <dgm:prSet/>
      <dgm:spPr/>
      <dgm:t>
        <a:bodyPr/>
        <a:lstStyle/>
        <a:p>
          <a:pPr>
            <a:lnSpc>
              <a:spcPct val="100000"/>
            </a:lnSpc>
            <a:defRPr b="1"/>
          </a:pPr>
          <a:r>
            <a:rPr lang="en-US"/>
            <a:t>Structured Data</a:t>
          </a:r>
        </a:p>
      </dgm:t>
    </dgm:pt>
    <dgm:pt modelId="{6ADE392E-6617-40EA-8E99-76880146EAA7}" type="parTrans" cxnId="{7B090E1B-8E7E-45DF-848B-2811BDF8D385}">
      <dgm:prSet/>
      <dgm:spPr/>
      <dgm:t>
        <a:bodyPr/>
        <a:lstStyle/>
        <a:p>
          <a:endParaRPr lang="en-US"/>
        </a:p>
      </dgm:t>
    </dgm:pt>
    <dgm:pt modelId="{EF7789AE-F14F-4723-A2A0-D6EB0E23E6A2}" type="sibTrans" cxnId="{7B090E1B-8E7E-45DF-848B-2811BDF8D385}">
      <dgm:prSet/>
      <dgm:spPr/>
      <dgm:t>
        <a:bodyPr/>
        <a:lstStyle/>
        <a:p>
          <a:pPr>
            <a:lnSpc>
              <a:spcPct val="100000"/>
            </a:lnSpc>
            <a:defRPr b="1"/>
          </a:pPr>
          <a:endParaRPr lang="en-US"/>
        </a:p>
      </dgm:t>
    </dgm:pt>
    <dgm:pt modelId="{D7083E30-A107-489A-83ED-998BCBBDBE24}">
      <dgm:prSet/>
      <dgm:spPr/>
      <dgm:t>
        <a:bodyPr/>
        <a:lstStyle/>
        <a:p>
          <a:pPr>
            <a:lnSpc>
              <a:spcPct val="100000"/>
            </a:lnSpc>
          </a:pPr>
          <a:r>
            <a:rPr lang="en-US"/>
            <a:t>Structured data refers to data that is organized into a specific format, making it easy to search, sort, and analyze. It is commonly used in databases and spreadsheets.</a:t>
          </a:r>
        </a:p>
      </dgm:t>
    </dgm:pt>
    <dgm:pt modelId="{557E256D-A0C1-44B7-B087-CB46280AFDB7}" type="parTrans" cxnId="{0654F87F-29A2-4288-BDEC-AFA276386ACB}">
      <dgm:prSet/>
      <dgm:spPr/>
      <dgm:t>
        <a:bodyPr/>
        <a:lstStyle/>
        <a:p>
          <a:endParaRPr lang="en-US"/>
        </a:p>
      </dgm:t>
    </dgm:pt>
    <dgm:pt modelId="{B21F2642-16E3-4821-804B-E62F57023860}" type="sibTrans" cxnId="{0654F87F-29A2-4288-BDEC-AFA276386ACB}">
      <dgm:prSet/>
      <dgm:spPr/>
      <dgm:t>
        <a:bodyPr/>
        <a:lstStyle/>
        <a:p>
          <a:endParaRPr lang="en-US"/>
        </a:p>
      </dgm:t>
    </dgm:pt>
    <dgm:pt modelId="{FC39D7D1-9E99-41C4-BE3B-E0F7722E2625}">
      <dgm:prSet/>
      <dgm:spPr/>
      <dgm:t>
        <a:bodyPr/>
        <a:lstStyle/>
        <a:p>
          <a:pPr>
            <a:lnSpc>
              <a:spcPct val="100000"/>
            </a:lnSpc>
            <a:defRPr b="1"/>
          </a:pPr>
          <a:r>
            <a:rPr lang="en-US"/>
            <a:t>Unstructured Data</a:t>
          </a:r>
        </a:p>
      </dgm:t>
    </dgm:pt>
    <dgm:pt modelId="{7423826D-C1D7-4463-8F3A-CDDD1050E416}" type="parTrans" cxnId="{F84449F9-F626-4E28-87B5-5AD6A8644041}">
      <dgm:prSet/>
      <dgm:spPr/>
      <dgm:t>
        <a:bodyPr/>
        <a:lstStyle/>
        <a:p>
          <a:endParaRPr lang="en-US"/>
        </a:p>
      </dgm:t>
    </dgm:pt>
    <dgm:pt modelId="{0F6B69AB-9B76-4BAA-B0D6-1DC1EC9AFCDA}" type="sibTrans" cxnId="{F84449F9-F626-4E28-87B5-5AD6A8644041}">
      <dgm:prSet/>
      <dgm:spPr/>
      <dgm:t>
        <a:bodyPr/>
        <a:lstStyle/>
        <a:p>
          <a:pPr>
            <a:lnSpc>
              <a:spcPct val="100000"/>
            </a:lnSpc>
            <a:defRPr b="1"/>
          </a:pPr>
          <a:endParaRPr lang="en-US"/>
        </a:p>
      </dgm:t>
    </dgm:pt>
    <dgm:pt modelId="{A535D637-C65E-456F-B3D4-791643834BB5}">
      <dgm:prSet/>
      <dgm:spPr/>
      <dgm:t>
        <a:bodyPr/>
        <a:lstStyle/>
        <a:p>
          <a:pPr>
            <a:lnSpc>
              <a:spcPct val="100000"/>
            </a:lnSpc>
          </a:pPr>
          <a:r>
            <a:rPr lang="en-US"/>
            <a:t>Unstructured data refers to data that is not organized in a specific format, making it difficult to search, sort, and analyze. It includes data such as emails, social media posts, and images.</a:t>
          </a:r>
        </a:p>
      </dgm:t>
    </dgm:pt>
    <dgm:pt modelId="{8F968866-01D6-4A50-AF70-1BE5957D853D}" type="parTrans" cxnId="{3D7147CB-B210-4962-8974-AF895DCFE6EB}">
      <dgm:prSet/>
      <dgm:spPr/>
      <dgm:t>
        <a:bodyPr/>
        <a:lstStyle/>
        <a:p>
          <a:endParaRPr lang="en-US"/>
        </a:p>
      </dgm:t>
    </dgm:pt>
    <dgm:pt modelId="{5C2E4A8C-65AE-4610-9E49-8388E7963C28}" type="sibTrans" cxnId="{3D7147CB-B210-4962-8974-AF895DCFE6EB}">
      <dgm:prSet/>
      <dgm:spPr/>
      <dgm:t>
        <a:bodyPr/>
        <a:lstStyle/>
        <a:p>
          <a:endParaRPr lang="en-US"/>
        </a:p>
      </dgm:t>
    </dgm:pt>
    <dgm:pt modelId="{9A113DC9-6BDC-454E-BC94-14D4A316CF97}">
      <dgm:prSet/>
      <dgm:spPr/>
      <dgm:t>
        <a:bodyPr/>
        <a:lstStyle/>
        <a:p>
          <a:pPr>
            <a:lnSpc>
              <a:spcPct val="100000"/>
            </a:lnSpc>
            <a:defRPr b="1"/>
          </a:pPr>
          <a:r>
            <a:rPr lang="en-US"/>
            <a:t>Big Data</a:t>
          </a:r>
        </a:p>
      </dgm:t>
    </dgm:pt>
    <dgm:pt modelId="{5BE263C5-7183-4115-85D3-98B97178273C}" type="parTrans" cxnId="{38309E79-0E84-4EE9-9C58-10E49EC8FF8E}">
      <dgm:prSet/>
      <dgm:spPr/>
      <dgm:t>
        <a:bodyPr/>
        <a:lstStyle/>
        <a:p>
          <a:endParaRPr lang="en-US"/>
        </a:p>
      </dgm:t>
    </dgm:pt>
    <dgm:pt modelId="{ED6BF85E-E820-49E8-BBB9-9CE845EE8D94}" type="sibTrans" cxnId="{38309E79-0E84-4EE9-9C58-10E49EC8FF8E}">
      <dgm:prSet/>
      <dgm:spPr/>
      <dgm:t>
        <a:bodyPr/>
        <a:lstStyle/>
        <a:p>
          <a:endParaRPr lang="en-US"/>
        </a:p>
      </dgm:t>
    </dgm:pt>
    <dgm:pt modelId="{5DB21118-E5D2-4C29-8AB3-72FE5B883FE3}">
      <dgm:prSet/>
      <dgm:spPr/>
      <dgm:t>
        <a:bodyPr/>
        <a:lstStyle/>
        <a:p>
          <a:pPr>
            <a:lnSpc>
              <a:spcPct val="100000"/>
            </a:lnSpc>
          </a:pPr>
          <a:r>
            <a:rPr lang="en-US"/>
            <a:t>Big data refers to data sets that are too large to be analyzed by traditional data processing tools. It requires specialized tools and technologies to store, process, and analyze.</a:t>
          </a:r>
        </a:p>
      </dgm:t>
    </dgm:pt>
    <dgm:pt modelId="{60553903-8AB9-44CF-9E87-2BD29A01E7B0}" type="parTrans" cxnId="{C9CF569D-87B7-44C8-BD4A-5DD443083E3A}">
      <dgm:prSet/>
      <dgm:spPr/>
      <dgm:t>
        <a:bodyPr/>
        <a:lstStyle/>
        <a:p>
          <a:endParaRPr lang="en-US"/>
        </a:p>
      </dgm:t>
    </dgm:pt>
    <dgm:pt modelId="{722A6B88-88CF-49B3-AAD4-6CB10D03DCE6}" type="sibTrans" cxnId="{C9CF569D-87B7-44C8-BD4A-5DD443083E3A}">
      <dgm:prSet/>
      <dgm:spPr/>
      <dgm:t>
        <a:bodyPr/>
        <a:lstStyle/>
        <a:p>
          <a:endParaRPr lang="en-US"/>
        </a:p>
      </dgm:t>
    </dgm:pt>
    <dgm:pt modelId="{B37D70E4-BF7C-4886-BFD4-95C1D2D4A95C}" type="pres">
      <dgm:prSet presAssocID="{D01991EF-022D-4E6D-AF9F-D62E8B46B546}" presName="Name0" presStyleCnt="0">
        <dgm:presLayoutVars>
          <dgm:dir/>
          <dgm:resizeHandles val="exact"/>
        </dgm:presLayoutVars>
      </dgm:prSet>
      <dgm:spPr/>
    </dgm:pt>
    <dgm:pt modelId="{633F0BA7-D803-4B03-809E-87D74EA893FD}" type="pres">
      <dgm:prSet presAssocID="{ABA891C5-02BD-4F12-9832-3DC3DF532BA3}" presName="compNode" presStyleCnt="0"/>
      <dgm:spPr/>
    </dgm:pt>
    <dgm:pt modelId="{8224D6BB-AE5F-4E98-B2A1-BB4A4BC63C02}" type="pres">
      <dgm:prSet presAssocID="{ABA891C5-02BD-4F12-9832-3DC3DF532BA3}" presName="pictRect" presStyleLbl="revTx" presStyleIdx="0" presStyleCnt="8">
        <dgm:presLayoutVars>
          <dgm:chMax val="0"/>
          <dgm:bulletEnabled/>
        </dgm:presLayoutVars>
      </dgm:prSet>
      <dgm:spPr/>
    </dgm:pt>
    <dgm:pt modelId="{AC717117-9549-4A66-81D9-80F2121AF366}" type="pres">
      <dgm:prSet presAssocID="{ABA891C5-02BD-4F12-9832-3DC3DF532BA3}" presName="textRect" presStyleLbl="revTx" presStyleIdx="1" presStyleCnt="8">
        <dgm:presLayoutVars>
          <dgm:bulletEnabled/>
        </dgm:presLayoutVars>
      </dgm:prSet>
      <dgm:spPr/>
    </dgm:pt>
    <dgm:pt modelId="{870E9E53-9A3E-489E-9890-CECDD22EB13E}" type="pres">
      <dgm:prSet presAssocID="{5E33EE9D-5483-4F84-BD06-F67A510F6ACC}" presName="sibTrans" presStyleLbl="sibTrans2D1" presStyleIdx="0" presStyleCnt="0"/>
      <dgm:spPr/>
    </dgm:pt>
    <dgm:pt modelId="{4C6765FF-222C-4229-AF18-7397AAABE41A}" type="pres">
      <dgm:prSet presAssocID="{6D5823B9-931F-49A5-9661-627E55FC4750}" presName="compNode" presStyleCnt="0"/>
      <dgm:spPr/>
    </dgm:pt>
    <dgm:pt modelId="{EBBA2C18-F31D-4293-8810-CE1222156193}" type="pres">
      <dgm:prSet presAssocID="{6D5823B9-931F-49A5-9661-627E55FC4750}" presName="pictRect" presStyleLbl="revTx" presStyleIdx="2" presStyleCnt="8">
        <dgm:presLayoutVars>
          <dgm:chMax val="0"/>
          <dgm:bulletEnabled/>
        </dgm:presLayoutVars>
      </dgm:prSet>
      <dgm:spPr/>
    </dgm:pt>
    <dgm:pt modelId="{805917C9-6223-4396-B313-1103B0A18477}" type="pres">
      <dgm:prSet presAssocID="{6D5823B9-931F-49A5-9661-627E55FC4750}" presName="textRect" presStyleLbl="revTx" presStyleIdx="3" presStyleCnt="8">
        <dgm:presLayoutVars>
          <dgm:bulletEnabled/>
        </dgm:presLayoutVars>
      </dgm:prSet>
      <dgm:spPr/>
    </dgm:pt>
    <dgm:pt modelId="{1B2AFC48-E0B6-41A7-9CCB-1BFC7705F8DD}" type="pres">
      <dgm:prSet presAssocID="{EF7789AE-F14F-4723-A2A0-D6EB0E23E6A2}" presName="sibTrans" presStyleLbl="sibTrans2D1" presStyleIdx="0" presStyleCnt="0"/>
      <dgm:spPr/>
    </dgm:pt>
    <dgm:pt modelId="{326C41C3-0DF6-47DB-BE36-D815E9E2D519}" type="pres">
      <dgm:prSet presAssocID="{FC39D7D1-9E99-41C4-BE3B-E0F7722E2625}" presName="compNode" presStyleCnt="0"/>
      <dgm:spPr/>
    </dgm:pt>
    <dgm:pt modelId="{8994933B-6975-45BC-983D-5295A26A5205}" type="pres">
      <dgm:prSet presAssocID="{FC39D7D1-9E99-41C4-BE3B-E0F7722E2625}" presName="pictRect" presStyleLbl="revTx" presStyleIdx="4" presStyleCnt="8">
        <dgm:presLayoutVars>
          <dgm:chMax val="0"/>
          <dgm:bulletEnabled/>
        </dgm:presLayoutVars>
      </dgm:prSet>
      <dgm:spPr/>
    </dgm:pt>
    <dgm:pt modelId="{8B48A78E-CFB9-4AAB-9EFC-CE10C93BC870}" type="pres">
      <dgm:prSet presAssocID="{FC39D7D1-9E99-41C4-BE3B-E0F7722E2625}" presName="textRect" presStyleLbl="revTx" presStyleIdx="5" presStyleCnt="8">
        <dgm:presLayoutVars>
          <dgm:bulletEnabled/>
        </dgm:presLayoutVars>
      </dgm:prSet>
      <dgm:spPr/>
    </dgm:pt>
    <dgm:pt modelId="{8332E997-5578-43CD-A4D9-D75ACC659C94}" type="pres">
      <dgm:prSet presAssocID="{0F6B69AB-9B76-4BAA-B0D6-1DC1EC9AFCDA}" presName="sibTrans" presStyleLbl="sibTrans2D1" presStyleIdx="0" presStyleCnt="0"/>
      <dgm:spPr/>
    </dgm:pt>
    <dgm:pt modelId="{600EA6C6-3BFA-467C-A4EB-B3B00E7996B4}" type="pres">
      <dgm:prSet presAssocID="{9A113DC9-6BDC-454E-BC94-14D4A316CF97}" presName="compNode" presStyleCnt="0"/>
      <dgm:spPr/>
    </dgm:pt>
    <dgm:pt modelId="{486A806B-C56D-4481-BC87-3FC8DD2F5CC5}" type="pres">
      <dgm:prSet presAssocID="{9A113DC9-6BDC-454E-BC94-14D4A316CF97}" presName="pictRect" presStyleLbl="revTx" presStyleIdx="6" presStyleCnt="8">
        <dgm:presLayoutVars>
          <dgm:chMax val="0"/>
          <dgm:bulletEnabled/>
        </dgm:presLayoutVars>
      </dgm:prSet>
      <dgm:spPr/>
    </dgm:pt>
    <dgm:pt modelId="{B7C46819-9AB3-4F21-83FE-25E23F74D8F1}" type="pres">
      <dgm:prSet presAssocID="{9A113DC9-6BDC-454E-BC94-14D4A316CF97}" presName="textRect" presStyleLbl="revTx" presStyleIdx="7" presStyleCnt="8">
        <dgm:presLayoutVars>
          <dgm:bulletEnabled/>
        </dgm:presLayoutVars>
      </dgm:prSet>
      <dgm:spPr/>
    </dgm:pt>
  </dgm:ptLst>
  <dgm:cxnLst>
    <dgm:cxn modelId="{7B090E1B-8E7E-45DF-848B-2811BDF8D385}" srcId="{D01991EF-022D-4E6D-AF9F-D62E8B46B546}" destId="{6D5823B9-931F-49A5-9661-627E55FC4750}" srcOrd="1" destOrd="0" parTransId="{6ADE392E-6617-40EA-8E99-76880146EAA7}" sibTransId="{EF7789AE-F14F-4723-A2A0-D6EB0E23E6A2}"/>
    <dgm:cxn modelId="{2BD6D925-F991-4CCF-9F91-F46F94817CCF}" type="presOf" srcId="{9A113DC9-6BDC-454E-BC94-14D4A316CF97}" destId="{486A806B-C56D-4481-BC87-3FC8DD2F5CC5}" srcOrd="0" destOrd="0" presId="urn:microsoft.com/office/officeart/2024/3/layout/hArchList1"/>
    <dgm:cxn modelId="{3F913F63-EE5A-4D6F-A956-842B902BCECB}" type="presOf" srcId="{EF7789AE-F14F-4723-A2A0-D6EB0E23E6A2}" destId="{1B2AFC48-E0B6-41A7-9CCB-1BFC7705F8DD}" srcOrd="0" destOrd="0" presId="urn:microsoft.com/office/officeart/2024/3/layout/hArchList1"/>
    <dgm:cxn modelId="{B2159057-F5DC-478C-89D6-FC9967818275}" type="presOf" srcId="{FC39D7D1-9E99-41C4-BE3B-E0F7722E2625}" destId="{8994933B-6975-45BC-983D-5295A26A5205}" srcOrd="0" destOrd="0" presId="urn:microsoft.com/office/officeart/2024/3/layout/hArchList1"/>
    <dgm:cxn modelId="{38309E79-0E84-4EE9-9C58-10E49EC8FF8E}" srcId="{D01991EF-022D-4E6D-AF9F-D62E8B46B546}" destId="{9A113DC9-6BDC-454E-BC94-14D4A316CF97}" srcOrd="3" destOrd="0" parTransId="{5BE263C5-7183-4115-85D3-98B97178273C}" sibTransId="{ED6BF85E-E820-49E8-BBB9-9CE845EE8D94}"/>
    <dgm:cxn modelId="{0654F87F-29A2-4288-BDEC-AFA276386ACB}" srcId="{6D5823B9-931F-49A5-9661-627E55FC4750}" destId="{D7083E30-A107-489A-83ED-998BCBBDBE24}" srcOrd="0" destOrd="0" parTransId="{557E256D-A0C1-44B7-B087-CB46280AFDB7}" sibTransId="{B21F2642-16E3-4821-804B-E62F57023860}"/>
    <dgm:cxn modelId="{2D04F887-B97F-49FC-9C35-FC78554F10D6}" type="presOf" srcId="{0F6B69AB-9B76-4BAA-B0D6-1DC1EC9AFCDA}" destId="{8332E997-5578-43CD-A4D9-D75ACC659C94}" srcOrd="0" destOrd="0" presId="urn:microsoft.com/office/officeart/2024/3/layout/hArchList1"/>
    <dgm:cxn modelId="{FF970A8B-02A1-41B4-B25E-BE2DAFD19040}" type="presOf" srcId="{39D3F335-462D-4459-8CFE-9EC9BB3DDB8C}" destId="{AC717117-9549-4A66-81D9-80F2121AF366}" srcOrd="0" destOrd="0" presId="urn:microsoft.com/office/officeart/2024/3/layout/hArchList1"/>
    <dgm:cxn modelId="{3F2D3493-9BFB-4E59-B806-C18CECFE003D}" type="presOf" srcId="{ABA891C5-02BD-4F12-9832-3DC3DF532BA3}" destId="{8224D6BB-AE5F-4E98-B2A1-BB4A4BC63C02}" srcOrd="0" destOrd="0" presId="urn:microsoft.com/office/officeart/2024/3/layout/hArchList1"/>
    <dgm:cxn modelId="{C9CF569D-87B7-44C8-BD4A-5DD443083E3A}" srcId="{9A113DC9-6BDC-454E-BC94-14D4A316CF97}" destId="{5DB21118-E5D2-4C29-8AB3-72FE5B883FE3}" srcOrd="0" destOrd="0" parTransId="{60553903-8AB9-44CF-9E87-2BD29A01E7B0}" sibTransId="{722A6B88-88CF-49B3-AAD4-6CB10D03DCE6}"/>
    <dgm:cxn modelId="{EBE1A59D-715D-4D97-BD5F-856E9A07048E}" srcId="{D01991EF-022D-4E6D-AF9F-D62E8B46B546}" destId="{ABA891C5-02BD-4F12-9832-3DC3DF532BA3}" srcOrd="0" destOrd="0" parTransId="{E543681B-67A5-44A6-90E0-D6E82E406E07}" sibTransId="{5E33EE9D-5483-4F84-BD06-F67A510F6ACC}"/>
    <dgm:cxn modelId="{C55223A0-87CD-4167-8463-B971CC56E615}" type="presOf" srcId="{A535D637-C65E-456F-B3D4-791643834BB5}" destId="{8B48A78E-CFB9-4AAB-9EFC-CE10C93BC870}" srcOrd="0" destOrd="0" presId="urn:microsoft.com/office/officeart/2024/3/layout/hArchList1"/>
    <dgm:cxn modelId="{98C546B2-91F2-4BA2-8D1D-21D0828E4AB1}" type="presOf" srcId="{D01991EF-022D-4E6D-AF9F-D62E8B46B546}" destId="{B37D70E4-BF7C-4886-BFD4-95C1D2D4A95C}" srcOrd="0" destOrd="0" presId="urn:microsoft.com/office/officeart/2024/3/layout/hArchList1"/>
    <dgm:cxn modelId="{7C8894B6-1EAB-4E72-9E5E-B897EFC3C7D9}" type="presOf" srcId="{5DB21118-E5D2-4C29-8AB3-72FE5B883FE3}" destId="{B7C46819-9AB3-4F21-83FE-25E23F74D8F1}" srcOrd="0" destOrd="0" presId="urn:microsoft.com/office/officeart/2024/3/layout/hArchList1"/>
    <dgm:cxn modelId="{3D7147CB-B210-4962-8974-AF895DCFE6EB}" srcId="{FC39D7D1-9E99-41C4-BE3B-E0F7722E2625}" destId="{A535D637-C65E-456F-B3D4-791643834BB5}" srcOrd="0" destOrd="0" parTransId="{8F968866-01D6-4A50-AF70-1BE5957D853D}" sibTransId="{5C2E4A8C-65AE-4610-9E49-8388E7963C28}"/>
    <dgm:cxn modelId="{EF5735D2-3B71-406B-BFD6-D65DBB6525A4}" type="presOf" srcId="{D7083E30-A107-489A-83ED-998BCBBDBE24}" destId="{805917C9-6223-4396-B313-1103B0A18477}" srcOrd="0" destOrd="0" presId="urn:microsoft.com/office/officeart/2024/3/layout/hArchList1"/>
    <dgm:cxn modelId="{48AA41ED-716D-4944-BA56-1A2086D41D98}" srcId="{ABA891C5-02BD-4F12-9832-3DC3DF532BA3}" destId="{39D3F335-462D-4459-8CFE-9EC9BB3DDB8C}" srcOrd="0" destOrd="0" parTransId="{9EC19BBC-26C2-4A44-8D1C-EA77D5E4DE64}" sibTransId="{1B130CC0-1CEF-4CFC-9A25-142A68D1E99C}"/>
    <dgm:cxn modelId="{D744B3ED-1625-4356-B605-27F79C43F069}" type="presOf" srcId="{6D5823B9-931F-49A5-9661-627E55FC4750}" destId="{EBBA2C18-F31D-4293-8810-CE1222156193}" srcOrd="0" destOrd="0" presId="urn:microsoft.com/office/officeart/2024/3/layout/hArchList1"/>
    <dgm:cxn modelId="{F84449F9-F626-4E28-87B5-5AD6A8644041}" srcId="{D01991EF-022D-4E6D-AF9F-D62E8B46B546}" destId="{FC39D7D1-9E99-41C4-BE3B-E0F7722E2625}" srcOrd="2" destOrd="0" parTransId="{7423826D-C1D7-4463-8F3A-CDDD1050E416}" sibTransId="{0F6B69AB-9B76-4BAA-B0D6-1DC1EC9AFCDA}"/>
    <dgm:cxn modelId="{8AA168FB-CC43-41CF-BD35-F98BDBA08D48}" type="presOf" srcId="{5E33EE9D-5483-4F84-BD06-F67A510F6ACC}" destId="{870E9E53-9A3E-489E-9890-CECDD22EB13E}" srcOrd="0" destOrd="0" presId="urn:microsoft.com/office/officeart/2024/3/layout/hArchList1"/>
    <dgm:cxn modelId="{AB99E625-79C6-491E-B201-C1AB96B187A9}" type="presParOf" srcId="{B37D70E4-BF7C-4886-BFD4-95C1D2D4A95C}" destId="{633F0BA7-D803-4B03-809E-87D74EA893FD}" srcOrd="0" destOrd="0" presId="urn:microsoft.com/office/officeart/2024/3/layout/hArchList1"/>
    <dgm:cxn modelId="{3D1ADE4A-2E5C-404C-AF5D-3A3CD58A4CCC}" type="presParOf" srcId="{633F0BA7-D803-4B03-809E-87D74EA893FD}" destId="{8224D6BB-AE5F-4E98-B2A1-BB4A4BC63C02}" srcOrd="0" destOrd="0" presId="urn:microsoft.com/office/officeart/2024/3/layout/hArchList1"/>
    <dgm:cxn modelId="{8A8778F9-B59A-4FD7-9DA7-AE95D255F00E}" type="presParOf" srcId="{633F0BA7-D803-4B03-809E-87D74EA893FD}" destId="{AC717117-9549-4A66-81D9-80F2121AF366}" srcOrd="1" destOrd="0" presId="urn:microsoft.com/office/officeart/2024/3/layout/hArchList1"/>
    <dgm:cxn modelId="{FDF82041-5779-4277-92BE-3D20C0FD9CB8}" type="presParOf" srcId="{B37D70E4-BF7C-4886-BFD4-95C1D2D4A95C}" destId="{870E9E53-9A3E-489E-9890-CECDD22EB13E}" srcOrd="1" destOrd="0" presId="urn:microsoft.com/office/officeart/2024/3/layout/hArchList1"/>
    <dgm:cxn modelId="{942FE487-1CD7-4729-B13B-6F456DDA269A}" type="presParOf" srcId="{B37D70E4-BF7C-4886-BFD4-95C1D2D4A95C}" destId="{4C6765FF-222C-4229-AF18-7397AAABE41A}" srcOrd="2" destOrd="0" presId="urn:microsoft.com/office/officeart/2024/3/layout/hArchList1"/>
    <dgm:cxn modelId="{2A7A8087-8676-4E59-A3C6-E6F83BD25527}" type="presParOf" srcId="{4C6765FF-222C-4229-AF18-7397AAABE41A}" destId="{EBBA2C18-F31D-4293-8810-CE1222156193}" srcOrd="0" destOrd="0" presId="urn:microsoft.com/office/officeart/2024/3/layout/hArchList1"/>
    <dgm:cxn modelId="{BE065193-C729-4389-BE1F-46F715214935}" type="presParOf" srcId="{4C6765FF-222C-4229-AF18-7397AAABE41A}" destId="{805917C9-6223-4396-B313-1103B0A18477}" srcOrd="1" destOrd="0" presId="urn:microsoft.com/office/officeart/2024/3/layout/hArchList1"/>
    <dgm:cxn modelId="{6FAE988C-DD76-4ACC-AC82-92231BD3A6DD}" type="presParOf" srcId="{B37D70E4-BF7C-4886-BFD4-95C1D2D4A95C}" destId="{1B2AFC48-E0B6-41A7-9CCB-1BFC7705F8DD}" srcOrd="3" destOrd="0" presId="urn:microsoft.com/office/officeart/2024/3/layout/hArchList1"/>
    <dgm:cxn modelId="{20522460-8B96-4178-9D9D-C9C9B3695F51}" type="presParOf" srcId="{B37D70E4-BF7C-4886-BFD4-95C1D2D4A95C}" destId="{326C41C3-0DF6-47DB-BE36-D815E9E2D519}" srcOrd="4" destOrd="0" presId="urn:microsoft.com/office/officeart/2024/3/layout/hArchList1"/>
    <dgm:cxn modelId="{ABA6AB37-F7B1-4802-8CFE-E30BB1E6C0D3}" type="presParOf" srcId="{326C41C3-0DF6-47DB-BE36-D815E9E2D519}" destId="{8994933B-6975-45BC-983D-5295A26A5205}" srcOrd="0" destOrd="0" presId="urn:microsoft.com/office/officeart/2024/3/layout/hArchList1"/>
    <dgm:cxn modelId="{26EE98A3-3B7F-4502-BB52-632A4924C7B6}" type="presParOf" srcId="{326C41C3-0DF6-47DB-BE36-D815E9E2D519}" destId="{8B48A78E-CFB9-4AAB-9EFC-CE10C93BC870}" srcOrd="1" destOrd="0" presId="urn:microsoft.com/office/officeart/2024/3/layout/hArchList1"/>
    <dgm:cxn modelId="{AEEF8ECF-9E49-41EA-90FE-662B2874594D}" type="presParOf" srcId="{B37D70E4-BF7C-4886-BFD4-95C1D2D4A95C}" destId="{8332E997-5578-43CD-A4D9-D75ACC659C94}" srcOrd="5" destOrd="0" presId="urn:microsoft.com/office/officeart/2024/3/layout/hArchList1"/>
    <dgm:cxn modelId="{770DD31A-29B3-466B-9A5C-53C288922DCD}" type="presParOf" srcId="{B37D70E4-BF7C-4886-BFD4-95C1D2D4A95C}" destId="{600EA6C6-3BFA-467C-A4EB-B3B00E7996B4}" srcOrd="6" destOrd="0" presId="urn:microsoft.com/office/officeart/2024/3/layout/hArchList1"/>
    <dgm:cxn modelId="{466F43D9-B367-4F52-BDA1-E6D8BF38EDC0}" type="presParOf" srcId="{600EA6C6-3BFA-467C-A4EB-B3B00E7996B4}" destId="{486A806B-C56D-4481-BC87-3FC8DD2F5CC5}" srcOrd="0" destOrd="0" presId="urn:microsoft.com/office/officeart/2024/3/layout/hArchList1"/>
    <dgm:cxn modelId="{5C486016-B6DF-4092-A757-6BADBBFC1ECC}" type="presParOf" srcId="{600EA6C6-3BFA-467C-A4EB-B3B00E7996B4}" destId="{B7C46819-9AB3-4F21-83FE-25E23F74D8F1}"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24D6BB-AE5F-4E98-B2A1-BB4A4BC63C02}">
      <dsp:nvSpPr>
        <dsp:cNvPr id="0" name=""/>
        <dsp:cNvSpPr/>
      </dsp:nvSpPr>
      <dsp:spPr>
        <a:xfrm>
          <a:off x="0" y="0"/>
          <a:ext cx="2592250" cy="320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Importance of Data</a:t>
          </a:r>
        </a:p>
      </dsp:txBody>
      <dsp:txXfrm>
        <a:off x="0" y="0"/>
        <a:ext cx="2592250" cy="320951"/>
      </dsp:txXfrm>
    </dsp:sp>
    <dsp:sp modelId="{AC717117-9549-4A66-81D9-80F2121AF366}">
      <dsp:nvSpPr>
        <dsp:cNvPr id="0" name=""/>
        <dsp:cNvSpPr/>
      </dsp:nvSpPr>
      <dsp:spPr>
        <a:xfrm>
          <a:off x="0" y="320951"/>
          <a:ext cx="2592250" cy="2090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Data is the foundation of the digital age, and understanding the different types of data and their unique challenges and benefits is essential for any organization.</a:t>
          </a:r>
        </a:p>
      </dsp:txBody>
      <dsp:txXfrm>
        <a:off x="0" y="320951"/>
        <a:ext cx="2592250" cy="2090292"/>
      </dsp:txXfrm>
    </dsp:sp>
    <dsp:sp modelId="{EBBA2C18-F31D-4293-8810-CE1222156193}">
      <dsp:nvSpPr>
        <dsp:cNvPr id="0" name=""/>
        <dsp:cNvSpPr/>
      </dsp:nvSpPr>
      <dsp:spPr>
        <a:xfrm>
          <a:off x="2851476" y="0"/>
          <a:ext cx="2592250" cy="320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Structured Data</a:t>
          </a:r>
        </a:p>
      </dsp:txBody>
      <dsp:txXfrm>
        <a:off x="2851476" y="0"/>
        <a:ext cx="2592250" cy="320951"/>
      </dsp:txXfrm>
    </dsp:sp>
    <dsp:sp modelId="{805917C9-6223-4396-B313-1103B0A18477}">
      <dsp:nvSpPr>
        <dsp:cNvPr id="0" name=""/>
        <dsp:cNvSpPr/>
      </dsp:nvSpPr>
      <dsp:spPr>
        <a:xfrm>
          <a:off x="2851476" y="320951"/>
          <a:ext cx="2592250" cy="2090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Structured data refers to data that is organized into a specific format, making it easy to search, sort, and analyze. It is commonly used in databases and spreadsheets.</a:t>
          </a:r>
        </a:p>
      </dsp:txBody>
      <dsp:txXfrm>
        <a:off x="2851476" y="320951"/>
        <a:ext cx="2592250" cy="2090292"/>
      </dsp:txXfrm>
    </dsp:sp>
    <dsp:sp modelId="{8994933B-6975-45BC-983D-5295A26A5205}">
      <dsp:nvSpPr>
        <dsp:cNvPr id="0" name=""/>
        <dsp:cNvSpPr/>
      </dsp:nvSpPr>
      <dsp:spPr>
        <a:xfrm>
          <a:off x="5702952" y="0"/>
          <a:ext cx="2592250" cy="320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Unstructured Data</a:t>
          </a:r>
        </a:p>
      </dsp:txBody>
      <dsp:txXfrm>
        <a:off x="5702952" y="0"/>
        <a:ext cx="2592250" cy="320951"/>
      </dsp:txXfrm>
    </dsp:sp>
    <dsp:sp modelId="{8B48A78E-CFB9-4AAB-9EFC-CE10C93BC870}">
      <dsp:nvSpPr>
        <dsp:cNvPr id="0" name=""/>
        <dsp:cNvSpPr/>
      </dsp:nvSpPr>
      <dsp:spPr>
        <a:xfrm>
          <a:off x="5702952" y="320951"/>
          <a:ext cx="2592250" cy="2090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Unstructured data refers to data that is not organized in a specific format, making it difficult to search, sort, and analyze. It includes data such as emails, social media posts, and images.</a:t>
          </a:r>
        </a:p>
      </dsp:txBody>
      <dsp:txXfrm>
        <a:off x="5702952" y="320951"/>
        <a:ext cx="2592250" cy="2090292"/>
      </dsp:txXfrm>
    </dsp:sp>
    <dsp:sp modelId="{486A806B-C56D-4481-BC87-3FC8DD2F5CC5}">
      <dsp:nvSpPr>
        <dsp:cNvPr id="0" name=""/>
        <dsp:cNvSpPr/>
      </dsp:nvSpPr>
      <dsp:spPr>
        <a:xfrm>
          <a:off x="8554428" y="0"/>
          <a:ext cx="2592250" cy="320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Big Data</a:t>
          </a:r>
        </a:p>
      </dsp:txBody>
      <dsp:txXfrm>
        <a:off x="8554428" y="0"/>
        <a:ext cx="2592250" cy="320951"/>
      </dsp:txXfrm>
    </dsp:sp>
    <dsp:sp modelId="{B7C46819-9AB3-4F21-83FE-25E23F74D8F1}">
      <dsp:nvSpPr>
        <dsp:cNvPr id="0" name=""/>
        <dsp:cNvSpPr/>
      </dsp:nvSpPr>
      <dsp:spPr>
        <a:xfrm>
          <a:off x="8554428" y="320951"/>
          <a:ext cx="2592250" cy="2090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Big data refers to data sets that are too large to be analyzed by traditional data processing tools. It requires specialized tools and technologies to store, process, and analyze.</a:t>
          </a:r>
        </a:p>
      </dsp:txBody>
      <dsp:txXfrm>
        <a:off x="8554428" y="320951"/>
        <a:ext cx="2592250" cy="2090292"/>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DBD84A-E274-4935-A872-A1E460892886}" type="datetimeFigureOut">
              <a:rPr lang="en-IN" smtClean="0"/>
              <a:t>03-Oct-2024 Thu</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0BF369-99E3-4A84-9FB9-BF5BFB2DD12B}" type="slidenum">
              <a:rPr lang="en-IN" smtClean="0"/>
              <a:t>‹#›</a:t>
            </a:fld>
            <a:endParaRPr lang="en-IN"/>
          </a:p>
        </p:txBody>
      </p:sp>
    </p:spTree>
    <p:extLst>
      <p:ext uri="{BB962C8B-B14F-4D97-AF65-F5344CB8AC3E}">
        <p14:creationId xmlns:p14="http://schemas.microsoft.com/office/powerpoint/2010/main" val="856579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is the foundation of the digital age, and it comes in many forms, from structured data to unstructured data, to the emerging field of big data. In this presentation, we will delve into the various types of data and explore their differences, uses, and challenges.</a:t>
            </a:r>
          </a:p>
        </p:txBody>
      </p:sp>
      <p:sp>
        <p:nvSpPr>
          <p:cNvPr id="4" name="Slide Number Placeholder 3"/>
          <p:cNvSpPr>
            <a:spLocks noGrp="1"/>
          </p:cNvSpPr>
          <p:nvPr>
            <p:ph type="sldNum" sz="quarter" idx="5"/>
          </p:nvPr>
        </p:nvSpPr>
        <p:spPr/>
        <p:txBody>
          <a:bodyPr/>
          <a:lstStyle/>
          <a:p>
            <a:fld id="{1842A370-C676-452B-A70E-1B62CA9DC4BE}" type="slidenum">
              <a:rPr lang="en-IN" smtClean="0"/>
              <a:t>1</a:t>
            </a:fld>
            <a:endParaRPr lang="en-IN"/>
          </a:p>
        </p:txBody>
      </p:sp>
    </p:spTree>
    <p:extLst>
      <p:ext uri="{BB962C8B-B14F-4D97-AF65-F5344CB8AC3E}">
        <p14:creationId xmlns:p14="http://schemas.microsoft.com/office/powerpoint/2010/main" val="1866004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 will start by examining the differences between structured and unstructured data, and the benefits and challenges of each. Then, we will explore the emerging field of big data, its definition, technologies, and applications, and the challenges it brings.</a:t>
            </a:r>
          </a:p>
        </p:txBody>
      </p:sp>
      <p:sp>
        <p:nvSpPr>
          <p:cNvPr id="4" name="Slide Number Placeholder 3"/>
          <p:cNvSpPr>
            <a:spLocks noGrp="1"/>
          </p:cNvSpPr>
          <p:nvPr>
            <p:ph type="sldNum" sz="quarter" idx="5"/>
          </p:nvPr>
        </p:nvSpPr>
        <p:spPr/>
        <p:txBody>
          <a:bodyPr/>
          <a:lstStyle/>
          <a:p>
            <a:fld id="{1842A370-C676-452B-A70E-1B62CA9DC4BE}" type="slidenum">
              <a:rPr lang="en-IN" smtClean="0"/>
              <a:t>2</a:t>
            </a:fld>
            <a:endParaRPr lang="en-IN"/>
          </a:p>
        </p:txBody>
      </p:sp>
    </p:spTree>
    <p:extLst>
      <p:ext uri="{BB962C8B-B14F-4D97-AF65-F5344CB8AC3E}">
        <p14:creationId xmlns:p14="http://schemas.microsoft.com/office/powerpoint/2010/main" val="3557966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Structured and unstructured data are the two main types of data in the digital ecosystem. Structured data is organized, easily searchable, and easily analyzed, while unstructured data is difficult to categorize and analyze.</a:t>
            </a:r>
          </a:p>
        </p:txBody>
      </p:sp>
      <p:sp>
        <p:nvSpPr>
          <p:cNvPr id="4" name="Slide Number Placeholder 3"/>
          <p:cNvSpPr>
            <a:spLocks noGrp="1"/>
          </p:cNvSpPr>
          <p:nvPr>
            <p:ph type="sldNum" sz="quarter" idx="5"/>
          </p:nvPr>
        </p:nvSpPr>
        <p:spPr/>
        <p:txBody>
          <a:bodyPr/>
          <a:lstStyle/>
          <a:p>
            <a:fld id="{1842A370-C676-452B-A70E-1B62CA9DC4BE}" type="slidenum">
              <a:rPr lang="en-IN" smtClean="0"/>
              <a:t>3</a:t>
            </a:fld>
            <a:endParaRPr lang="en-IN"/>
          </a:p>
        </p:txBody>
      </p:sp>
    </p:spTree>
    <p:extLst>
      <p:ext uri="{BB962C8B-B14F-4D97-AF65-F5344CB8AC3E}">
        <p14:creationId xmlns:p14="http://schemas.microsoft.com/office/powerpoint/2010/main" val="99457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Structured data is highly organized and easily searchable. It is typically stored in a database and can be easily analyzed with traditional data analytics tools.</a:t>
            </a:r>
          </a:p>
        </p:txBody>
      </p:sp>
      <p:sp>
        <p:nvSpPr>
          <p:cNvPr id="4" name="Slide Number Placeholder 3"/>
          <p:cNvSpPr>
            <a:spLocks noGrp="1"/>
          </p:cNvSpPr>
          <p:nvPr>
            <p:ph type="sldNum" sz="quarter" idx="5"/>
          </p:nvPr>
        </p:nvSpPr>
        <p:spPr/>
        <p:txBody>
          <a:bodyPr/>
          <a:lstStyle/>
          <a:p>
            <a:fld id="{1842A370-C676-452B-A70E-1B62CA9DC4BE}" type="slidenum">
              <a:rPr lang="en-IN" smtClean="0"/>
              <a:t>4</a:t>
            </a:fld>
            <a:endParaRPr lang="en-IN"/>
          </a:p>
        </p:txBody>
      </p:sp>
    </p:spTree>
    <p:extLst>
      <p:ext uri="{BB962C8B-B14F-4D97-AF65-F5344CB8AC3E}">
        <p14:creationId xmlns:p14="http://schemas.microsoft.com/office/powerpoint/2010/main" val="1351540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Unstructured data is data that does not have a predefined data model or structure. Examples of unstructured data include text, images, and videos. It is difficult to analyze with traditional data analytics tools.</a:t>
            </a:r>
          </a:p>
        </p:txBody>
      </p:sp>
      <p:sp>
        <p:nvSpPr>
          <p:cNvPr id="4" name="Slide Number Placeholder 3"/>
          <p:cNvSpPr>
            <a:spLocks noGrp="1"/>
          </p:cNvSpPr>
          <p:nvPr>
            <p:ph type="sldNum" sz="quarter" idx="5"/>
          </p:nvPr>
        </p:nvSpPr>
        <p:spPr/>
        <p:txBody>
          <a:bodyPr/>
          <a:lstStyle/>
          <a:p>
            <a:fld id="{1842A370-C676-452B-A70E-1B62CA9DC4BE}" type="slidenum">
              <a:rPr lang="en-IN" smtClean="0"/>
              <a:t>5</a:t>
            </a:fld>
            <a:endParaRPr lang="en-IN"/>
          </a:p>
        </p:txBody>
      </p:sp>
    </p:spTree>
    <p:extLst>
      <p:ext uri="{BB962C8B-B14F-4D97-AF65-F5344CB8AC3E}">
        <p14:creationId xmlns:p14="http://schemas.microsoft.com/office/powerpoint/2010/main" val="21728134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Semi-structured data is a combination of structured and unstructured data. It has some organizational structure, but also contains elements of unstructured data.</a:t>
            </a:r>
          </a:p>
        </p:txBody>
      </p:sp>
      <p:sp>
        <p:nvSpPr>
          <p:cNvPr id="4" name="Slide Number Placeholder 3"/>
          <p:cNvSpPr>
            <a:spLocks noGrp="1"/>
          </p:cNvSpPr>
          <p:nvPr>
            <p:ph type="sldNum" sz="quarter" idx="5"/>
          </p:nvPr>
        </p:nvSpPr>
        <p:spPr/>
        <p:txBody>
          <a:bodyPr/>
          <a:lstStyle/>
          <a:p>
            <a:fld id="{1842A370-C676-452B-A70E-1B62CA9DC4BE}" type="slidenum">
              <a:rPr lang="en-IN" smtClean="0"/>
              <a:t>6</a:t>
            </a:fld>
            <a:endParaRPr lang="en-IN"/>
          </a:p>
        </p:txBody>
      </p:sp>
    </p:spTree>
    <p:extLst>
      <p:ext uri="{BB962C8B-B14F-4D97-AF65-F5344CB8AC3E}">
        <p14:creationId xmlns:p14="http://schemas.microsoft.com/office/powerpoint/2010/main" val="3900479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Structured and unstructured data have different use cases and challenges. Structured data is ideal for traditional data analytics, while unstructured data requires more advanced tools, such as natural language processing and machine learning.</a:t>
            </a:r>
          </a:p>
        </p:txBody>
      </p:sp>
      <p:sp>
        <p:nvSpPr>
          <p:cNvPr id="4" name="Slide Number Placeholder 3"/>
          <p:cNvSpPr>
            <a:spLocks noGrp="1"/>
          </p:cNvSpPr>
          <p:nvPr>
            <p:ph type="sldNum" sz="quarter" idx="5"/>
          </p:nvPr>
        </p:nvSpPr>
        <p:spPr/>
        <p:txBody>
          <a:bodyPr/>
          <a:lstStyle/>
          <a:p>
            <a:fld id="{1842A370-C676-452B-A70E-1B62CA9DC4BE}" type="slidenum">
              <a:rPr lang="en-IN" smtClean="0"/>
              <a:t>7</a:t>
            </a:fld>
            <a:endParaRPr lang="en-IN"/>
          </a:p>
        </p:txBody>
      </p:sp>
    </p:spTree>
    <p:extLst>
      <p:ext uri="{BB962C8B-B14F-4D97-AF65-F5344CB8AC3E}">
        <p14:creationId xmlns:p14="http://schemas.microsoft.com/office/powerpoint/2010/main" val="19515730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Big data is a term used to describe the large and complex datasets that are difficult to process with traditional data processing tools. The field of big data has emerged to help organizations make sense of this data and unlock its potential.</a:t>
            </a:r>
          </a:p>
        </p:txBody>
      </p:sp>
      <p:sp>
        <p:nvSpPr>
          <p:cNvPr id="4" name="Slide Number Placeholder 3"/>
          <p:cNvSpPr>
            <a:spLocks noGrp="1"/>
          </p:cNvSpPr>
          <p:nvPr>
            <p:ph type="sldNum" sz="quarter" idx="5"/>
          </p:nvPr>
        </p:nvSpPr>
        <p:spPr/>
        <p:txBody>
          <a:bodyPr/>
          <a:lstStyle/>
          <a:p>
            <a:fld id="{1842A370-C676-452B-A70E-1B62CA9DC4BE}" type="slidenum">
              <a:rPr lang="en-IN" smtClean="0"/>
              <a:t>8</a:t>
            </a:fld>
            <a:endParaRPr lang="en-IN"/>
          </a:p>
        </p:txBody>
      </p:sp>
    </p:spTree>
    <p:extLst>
      <p:ext uri="{BB962C8B-B14F-4D97-AF65-F5344CB8AC3E}">
        <p14:creationId xmlns:p14="http://schemas.microsoft.com/office/powerpoint/2010/main" val="3486167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Big data is defined by the four Vs: volume, velocity, variety, and veracity. Big data is characterized by its sheer size, speed, and complexity.</a:t>
            </a:r>
          </a:p>
        </p:txBody>
      </p:sp>
      <p:sp>
        <p:nvSpPr>
          <p:cNvPr id="4" name="Slide Number Placeholder 3"/>
          <p:cNvSpPr>
            <a:spLocks noGrp="1"/>
          </p:cNvSpPr>
          <p:nvPr>
            <p:ph type="sldNum" sz="quarter" idx="5"/>
          </p:nvPr>
        </p:nvSpPr>
        <p:spPr/>
        <p:txBody>
          <a:bodyPr/>
          <a:lstStyle/>
          <a:p>
            <a:fld id="{1842A370-C676-452B-A70E-1B62CA9DC4BE}" type="slidenum">
              <a:rPr lang="en-IN" smtClean="0"/>
              <a:t>9</a:t>
            </a:fld>
            <a:endParaRPr lang="en-IN"/>
          </a:p>
        </p:txBody>
      </p:sp>
    </p:spTree>
    <p:extLst>
      <p:ext uri="{BB962C8B-B14F-4D97-AF65-F5344CB8AC3E}">
        <p14:creationId xmlns:p14="http://schemas.microsoft.com/office/powerpoint/2010/main" val="3924473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Big data technologies are designed to handle the unique challenges of big data, such as Hadoop, Spark, and NoSQL databases. These technologies enable organizations to process, store, and analyze large and complex datasets.</a:t>
            </a:r>
          </a:p>
        </p:txBody>
      </p:sp>
      <p:sp>
        <p:nvSpPr>
          <p:cNvPr id="4" name="Slide Number Placeholder 3"/>
          <p:cNvSpPr>
            <a:spLocks noGrp="1"/>
          </p:cNvSpPr>
          <p:nvPr>
            <p:ph type="sldNum" sz="quarter" idx="5"/>
          </p:nvPr>
        </p:nvSpPr>
        <p:spPr/>
        <p:txBody>
          <a:bodyPr/>
          <a:lstStyle/>
          <a:p>
            <a:fld id="{1842A370-C676-452B-A70E-1B62CA9DC4BE}" type="slidenum">
              <a:rPr lang="en-IN" smtClean="0"/>
              <a:t>10</a:t>
            </a:fld>
            <a:endParaRPr lang="en-IN"/>
          </a:p>
        </p:txBody>
      </p:sp>
    </p:spTree>
    <p:extLst>
      <p:ext uri="{BB962C8B-B14F-4D97-AF65-F5344CB8AC3E}">
        <p14:creationId xmlns:p14="http://schemas.microsoft.com/office/powerpoint/2010/main" val="4182653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Big data poses unique challenges, such as data quality, security, and privacy. In addition, there are technical challenges, such as scalability and performance.</a:t>
            </a:r>
          </a:p>
        </p:txBody>
      </p:sp>
      <p:sp>
        <p:nvSpPr>
          <p:cNvPr id="4" name="Slide Number Placeholder 3"/>
          <p:cNvSpPr>
            <a:spLocks noGrp="1"/>
          </p:cNvSpPr>
          <p:nvPr>
            <p:ph type="sldNum" sz="quarter" idx="5"/>
          </p:nvPr>
        </p:nvSpPr>
        <p:spPr/>
        <p:txBody>
          <a:bodyPr/>
          <a:lstStyle/>
          <a:p>
            <a:fld id="{1842A370-C676-452B-A70E-1B62CA9DC4BE}" type="slidenum">
              <a:rPr lang="en-IN" smtClean="0"/>
              <a:t>11</a:t>
            </a:fld>
            <a:endParaRPr lang="en-IN"/>
          </a:p>
        </p:txBody>
      </p:sp>
    </p:spTree>
    <p:extLst>
      <p:ext uri="{BB962C8B-B14F-4D97-AF65-F5344CB8AC3E}">
        <p14:creationId xmlns:p14="http://schemas.microsoft.com/office/powerpoint/2010/main" val="2463213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Big data has many applications, including predictive analytics, personalized marketing, and fraud detection. It has the potential to transform many industries, from healthcare to finance.</a:t>
            </a:r>
          </a:p>
        </p:txBody>
      </p:sp>
      <p:sp>
        <p:nvSpPr>
          <p:cNvPr id="4" name="Slide Number Placeholder 3"/>
          <p:cNvSpPr>
            <a:spLocks noGrp="1"/>
          </p:cNvSpPr>
          <p:nvPr>
            <p:ph type="sldNum" sz="quarter" idx="5"/>
          </p:nvPr>
        </p:nvSpPr>
        <p:spPr/>
        <p:txBody>
          <a:bodyPr/>
          <a:lstStyle/>
          <a:p>
            <a:fld id="{1842A370-C676-452B-A70E-1B62CA9DC4BE}" type="slidenum">
              <a:rPr lang="en-IN" smtClean="0"/>
              <a:t>12</a:t>
            </a:fld>
            <a:endParaRPr lang="en-IN"/>
          </a:p>
        </p:txBody>
      </p:sp>
    </p:spTree>
    <p:extLst>
      <p:ext uri="{BB962C8B-B14F-4D97-AF65-F5344CB8AC3E}">
        <p14:creationId xmlns:p14="http://schemas.microsoft.com/office/powerpoint/2010/main" val="6657744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is the foundation of the digital age, and understanding the different types of data and their unique challenges and benefits is essential for any organization. Whether you're dealing with structured data, unstructured data, or big data, there are tools and technologies available to help you make sense of your data.</a:t>
            </a:r>
          </a:p>
        </p:txBody>
      </p:sp>
      <p:sp>
        <p:nvSpPr>
          <p:cNvPr id="4" name="Slide Number Placeholder 3"/>
          <p:cNvSpPr>
            <a:spLocks noGrp="1"/>
          </p:cNvSpPr>
          <p:nvPr>
            <p:ph type="sldNum" sz="quarter" idx="5"/>
          </p:nvPr>
        </p:nvSpPr>
        <p:spPr/>
        <p:txBody>
          <a:bodyPr/>
          <a:lstStyle/>
          <a:p>
            <a:fld id="{1842A370-C676-452B-A70E-1B62CA9DC4BE}" type="slidenum">
              <a:rPr lang="en-IN" smtClean="0"/>
              <a:t>13</a:t>
            </a:fld>
            <a:endParaRPr lang="en-IN"/>
          </a:p>
        </p:txBody>
      </p:sp>
    </p:spTree>
    <p:extLst>
      <p:ext uri="{BB962C8B-B14F-4D97-AF65-F5344CB8AC3E}">
        <p14:creationId xmlns:p14="http://schemas.microsoft.com/office/powerpoint/2010/main" val="4005000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58E14-23EC-4C25-974C-48FA83988655}"/>
              </a:ext>
            </a:extLst>
          </p:cNvPr>
          <p:cNvSpPr>
            <a:spLocks noGrp="1"/>
          </p:cNvSpPr>
          <p:nvPr>
            <p:ph type="ctrTitle"/>
          </p:nvPr>
        </p:nvSpPr>
        <p:spPr>
          <a:xfrm>
            <a:off x="517870" y="978408"/>
            <a:ext cx="5021183" cy="507422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E9FEDD4-20A1-49F6-9E3E-0B26B426BB73}"/>
              </a:ext>
            </a:extLst>
          </p:cNvPr>
          <p:cNvSpPr>
            <a:spLocks noGrp="1"/>
          </p:cNvSpPr>
          <p:nvPr>
            <p:ph type="subTitle" idx="1"/>
          </p:nvPr>
        </p:nvSpPr>
        <p:spPr>
          <a:xfrm>
            <a:off x="6662167" y="3602038"/>
            <a:ext cx="5021183" cy="2244580"/>
          </a:xfrm>
        </p:spPr>
        <p:txBody>
          <a:bodyPr anchor="b">
            <a:normAutofit/>
          </a:bodyPr>
          <a:lstStyle>
            <a:lvl1pPr marL="0" indent="0" algn="l">
              <a:lnSpc>
                <a:spcPct val="100000"/>
              </a:lnSpc>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580A32F-E6F3-4C2E-B9E3-E47868E42511}"/>
              </a:ext>
            </a:extLst>
          </p:cNvPr>
          <p:cNvSpPr>
            <a:spLocks noGrp="1"/>
          </p:cNvSpPr>
          <p:nvPr>
            <p:ph type="dt" sz="half" idx="10"/>
          </p:nvPr>
        </p:nvSpPr>
        <p:spPr/>
        <p:txBody>
          <a:bodyPr/>
          <a:lstStyle/>
          <a:p>
            <a:fld id="{5FD402E1-5551-4411-9C5A-8F448AD7E12E}" type="datetime1">
              <a:rPr lang="en-US" smtClean="0"/>
              <a:t>10/3/2024</a:t>
            </a:fld>
            <a:endParaRPr lang="en-US"/>
          </a:p>
        </p:txBody>
      </p:sp>
      <p:sp>
        <p:nvSpPr>
          <p:cNvPr id="5" name="Footer Placeholder 4">
            <a:extLst>
              <a:ext uri="{FF2B5EF4-FFF2-40B4-BE49-F238E27FC236}">
                <a16:creationId xmlns:a16="http://schemas.microsoft.com/office/drawing/2014/main" id="{78806724-A87A-4231-BFD9-277482AF78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30D1AF-36B8-4BB8-BD6A-71194F7BC31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8" name="Rectangle 7">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854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63D8A-C68D-4CF9-9D15-3E09BCC09F6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524D94C-E537-4FF3-AAF8-A85F05C31A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824B1D4-6731-4993-8609-16C1D3327986}"/>
              </a:ext>
            </a:extLst>
          </p:cNvPr>
          <p:cNvSpPr>
            <a:spLocks noGrp="1"/>
          </p:cNvSpPr>
          <p:nvPr>
            <p:ph type="dt" sz="half" idx="10"/>
          </p:nvPr>
        </p:nvSpPr>
        <p:spPr/>
        <p:txBody>
          <a:bodyPr/>
          <a:lstStyle/>
          <a:p>
            <a:fld id="{6388FEE0-1C50-40EC-8D89-464FD747BA77}" type="datetime1">
              <a:rPr lang="en-US" smtClean="0"/>
              <a:t>10/3/2024</a:t>
            </a:fld>
            <a:endParaRPr lang="en-US"/>
          </a:p>
        </p:txBody>
      </p:sp>
      <p:sp>
        <p:nvSpPr>
          <p:cNvPr id="5" name="Footer Placeholder 4">
            <a:extLst>
              <a:ext uri="{FF2B5EF4-FFF2-40B4-BE49-F238E27FC236}">
                <a16:creationId xmlns:a16="http://schemas.microsoft.com/office/drawing/2014/main" id="{3DFB7BBD-CEEB-4256-84B2-6D907E1188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972A8B7-F430-4F4A-BB63-481F51E5880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723790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AC1C-A332-4BA5-8C9C-FE0396C81619}"/>
              </a:ext>
            </a:extLst>
          </p:cNvPr>
          <p:cNvSpPr>
            <a:spLocks noGrp="1"/>
          </p:cNvSpPr>
          <p:nvPr>
            <p:ph type="title"/>
          </p:nvPr>
        </p:nvSpPr>
        <p:spPr>
          <a:xfrm>
            <a:off x="517870" y="978408"/>
            <a:ext cx="5020056" cy="4870974"/>
          </a:xfrm>
        </p:spPr>
        <p:txBody>
          <a:bodyPr anchor="t">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8D137-710E-4125-B5E9-F63E7F1C9C9D}"/>
              </a:ext>
            </a:extLst>
          </p:cNvPr>
          <p:cNvSpPr>
            <a:spLocks noGrp="1"/>
          </p:cNvSpPr>
          <p:nvPr>
            <p:ph type="body" idx="1"/>
          </p:nvPr>
        </p:nvSpPr>
        <p:spPr>
          <a:xfrm>
            <a:off x="6662167" y="3566639"/>
            <a:ext cx="5021183" cy="2279979"/>
          </a:xfrm>
        </p:spPr>
        <p:txBody>
          <a:bodyPr anchor="b">
            <a:normAutofit/>
          </a:bodyPr>
          <a:lstStyle>
            <a:lvl1pPr marL="0" indent="0">
              <a:buNone/>
              <a:defRPr sz="2200" i="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5480C5-E9A6-425E-B050-03E444BE92C9}"/>
              </a:ext>
            </a:extLst>
          </p:cNvPr>
          <p:cNvSpPr>
            <a:spLocks noGrp="1"/>
          </p:cNvSpPr>
          <p:nvPr>
            <p:ph type="dt" sz="half" idx="10"/>
          </p:nvPr>
        </p:nvSpPr>
        <p:spPr/>
        <p:txBody>
          <a:bodyPr/>
          <a:lstStyle/>
          <a:p>
            <a:fld id="{7FF17CF4-2912-42BB-B296-06C57641253D}" type="datetime1">
              <a:rPr lang="en-US" smtClean="0"/>
              <a:t>10/3/2024</a:t>
            </a:fld>
            <a:endParaRPr lang="en-US"/>
          </a:p>
        </p:txBody>
      </p:sp>
      <p:sp>
        <p:nvSpPr>
          <p:cNvPr id="5" name="Footer Placeholder 4">
            <a:extLst>
              <a:ext uri="{FF2B5EF4-FFF2-40B4-BE49-F238E27FC236}">
                <a16:creationId xmlns:a16="http://schemas.microsoft.com/office/drawing/2014/main" id="{951B4831-6C0B-4E0B-A341-91E4C5D36B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F011EE6-252D-46DD-94DF-C42657EF2CD9}"/>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62346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4B06-C54A-4B7B-B6D1-436428EAF8E2}"/>
              </a:ext>
            </a:extLst>
          </p:cNvPr>
          <p:cNvSpPr>
            <a:spLocks noGrp="1"/>
          </p:cNvSpPr>
          <p:nvPr>
            <p:ph type="title"/>
          </p:nvPr>
        </p:nvSpPr>
        <p:spPr>
          <a:xfrm>
            <a:off x="517870" y="978408"/>
            <a:ext cx="5021182" cy="520769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723919-9A2F-4D97-8F31-6E35BD5975B0}"/>
              </a:ext>
            </a:extLst>
          </p:cNvPr>
          <p:cNvSpPr>
            <a:spLocks noGrp="1"/>
          </p:cNvSpPr>
          <p:nvPr>
            <p:ph sz="half" idx="1"/>
          </p:nvPr>
        </p:nvSpPr>
        <p:spPr>
          <a:xfrm>
            <a:off x="6063049" y="969264"/>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F8DA345-F684-4BAA-A22C-E725B3A6037F}"/>
              </a:ext>
            </a:extLst>
          </p:cNvPr>
          <p:cNvSpPr>
            <a:spLocks noGrp="1"/>
          </p:cNvSpPr>
          <p:nvPr>
            <p:ph sz="half" idx="2"/>
          </p:nvPr>
        </p:nvSpPr>
        <p:spPr>
          <a:xfrm>
            <a:off x="6063049" y="3621849"/>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399C52-9753-45D8-9646-CF31BB01577C}"/>
              </a:ext>
            </a:extLst>
          </p:cNvPr>
          <p:cNvSpPr>
            <a:spLocks noGrp="1"/>
          </p:cNvSpPr>
          <p:nvPr>
            <p:ph type="dt" sz="half" idx="10"/>
          </p:nvPr>
        </p:nvSpPr>
        <p:spPr/>
        <p:txBody>
          <a:bodyPr/>
          <a:lstStyle/>
          <a:p>
            <a:fld id="{C8C2AF2F-9354-4FE3-B6F2-712E681254AB}" type="datetime1">
              <a:rPr lang="en-US" smtClean="0"/>
              <a:t>10/3/2024</a:t>
            </a:fld>
            <a:endParaRPr lang="en-US"/>
          </a:p>
        </p:txBody>
      </p:sp>
      <p:sp>
        <p:nvSpPr>
          <p:cNvPr id="6" name="Footer Placeholder 5">
            <a:extLst>
              <a:ext uri="{FF2B5EF4-FFF2-40B4-BE49-F238E27FC236}">
                <a16:creationId xmlns:a16="http://schemas.microsoft.com/office/drawing/2014/main" id="{C2F95E57-622C-4199-940E-F5462E1AC44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01B7592-00E8-41EF-B749-2A5EA8E460DA}"/>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513197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2291277-967B-4176-B40B-9EC360626994}"/>
              </a:ext>
            </a:extLst>
          </p:cNvPr>
          <p:cNvSpPr/>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cap="none" spc="0">
              <a:ln w="0"/>
              <a:solidFill>
                <a:schemeClr val="tx1"/>
              </a:solidFill>
              <a:effectLst>
                <a:outerShdw blurRad="38100" dist="19050" dir="2700000" algn="tl" rotWithShape="0">
                  <a:schemeClr val="dk1">
                    <a:alpha val="40000"/>
                  </a:schemeClr>
                </a:outerShdw>
              </a:effectLst>
            </a:endParaRPr>
          </a:p>
        </p:txBody>
      </p:sp>
      <p:sp>
        <p:nvSpPr>
          <p:cNvPr id="2" name="Title 1">
            <a:extLst>
              <a:ext uri="{FF2B5EF4-FFF2-40B4-BE49-F238E27FC236}">
                <a16:creationId xmlns:a16="http://schemas.microsoft.com/office/drawing/2014/main" id="{FCB11C00-F7CB-4484-807A-D12745CD3CC8}"/>
              </a:ext>
            </a:extLst>
          </p:cNvPr>
          <p:cNvSpPr>
            <a:spLocks noGrp="1"/>
          </p:cNvSpPr>
          <p:nvPr>
            <p:ph type="title"/>
          </p:nvPr>
        </p:nvSpPr>
        <p:spPr>
          <a:xfrm>
            <a:off x="517869" y="978119"/>
            <a:ext cx="11165481" cy="107305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FAAA6E-E243-48B3-9585-3C1420B3E19F}"/>
              </a:ext>
            </a:extLst>
          </p:cNvPr>
          <p:cNvSpPr>
            <a:spLocks noGrp="1"/>
          </p:cNvSpPr>
          <p:nvPr>
            <p:ph type="body" idx="1"/>
          </p:nvPr>
        </p:nvSpPr>
        <p:spPr>
          <a:xfrm>
            <a:off x="517870" y="2178908"/>
            <a:ext cx="5020056"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D01B8-0F2E-41A4-B21C-334393F6A677}"/>
              </a:ext>
            </a:extLst>
          </p:cNvPr>
          <p:cNvSpPr>
            <a:spLocks noGrp="1"/>
          </p:cNvSpPr>
          <p:nvPr>
            <p:ph sz="half" idx="2"/>
          </p:nvPr>
        </p:nvSpPr>
        <p:spPr>
          <a:xfrm>
            <a:off x="517870" y="2876085"/>
            <a:ext cx="5020056"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9B23F-3E60-415A-9CE7-0928B5CFB2B3}"/>
              </a:ext>
            </a:extLst>
          </p:cNvPr>
          <p:cNvSpPr>
            <a:spLocks noGrp="1"/>
          </p:cNvSpPr>
          <p:nvPr>
            <p:ph type="body" sz="quarter" idx="3"/>
          </p:nvPr>
        </p:nvSpPr>
        <p:spPr>
          <a:xfrm>
            <a:off x="6662168" y="2178908"/>
            <a:ext cx="5021182"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223446-0CDC-402B-8D71-D9D29F6DFFCC}"/>
              </a:ext>
            </a:extLst>
          </p:cNvPr>
          <p:cNvSpPr>
            <a:spLocks noGrp="1"/>
          </p:cNvSpPr>
          <p:nvPr>
            <p:ph sz="quarter" idx="4"/>
          </p:nvPr>
        </p:nvSpPr>
        <p:spPr>
          <a:xfrm>
            <a:off x="6662168" y="2876085"/>
            <a:ext cx="5021182"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02B77D3-C6EC-4FFD-9E10-24E1AC542019}"/>
              </a:ext>
            </a:extLst>
          </p:cNvPr>
          <p:cNvSpPr>
            <a:spLocks noGrp="1"/>
          </p:cNvSpPr>
          <p:nvPr>
            <p:ph type="dt" sz="half" idx="10"/>
          </p:nvPr>
        </p:nvSpPr>
        <p:spPr>
          <a:xfrm>
            <a:off x="517870" y="6420414"/>
            <a:ext cx="2743200" cy="365125"/>
          </a:xfrm>
        </p:spPr>
        <p:txBody>
          <a:bodyPr/>
          <a:lstStyle/>
          <a:p>
            <a:fld id="{0078AE02-F564-4F99-9921-17DFC5FC27C0}" type="datetime1">
              <a:rPr lang="en-US" smtClean="0"/>
              <a:t>10/3/2024</a:t>
            </a:fld>
            <a:endParaRPr lang="en-US"/>
          </a:p>
        </p:txBody>
      </p:sp>
      <p:sp>
        <p:nvSpPr>
          <p:cNvPr id="8" name="Footer Placeholder 7">
            <a:extLst>
              <a:ext uri="{FF2B5EF4-FFF2-40B4-BE49-F238E27FC236}">
                <a16:creationId xmlns:a16="http://schemas.microsoft.com/office/drawing/2014/main" id="{209DF31B-BD07-4DC2-95C2-B77E51AAEFF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54CE5A-3A0A-4AAB-81D2-F1C20636E54C}"/>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484905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16B8-52AB-412B-BBE7-B6BE698FA29B}"/>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BF779C3-9D19-467E-A5D2-0920834DA13C}"/>
              </a:ext>
            </a:extLst>
          </p:cNvPr>
          <p:cNvSpPr>
            <a:spLocks noGrp="1"/>
          </p:cNvSpPr>
          <p:nvPr>
            <p:ph type="dt" sz="half" idx="10"/>
          </p:nvPr>
        </p:nvSpPr>
        <p:spPr/>
        <p:txBody>
          <a:bodyPr/>
          <a:lstStyle/>
          <a:p>
            <a:fld id="{324CCDD1-2BC5-45EA-83EE-10274B4C1E86}" type="datetime1">
              <a:rPr lang="en-US" smtClean="0"/>
              <a:t>10/3/2024</a:t>
            </a:fld>
            <a:endParaRPr lang="en-US"/>
          </a:p>
        </p:txBody>
      </p:sp>
      <p:sp>
        <p:nvSpPr>
          <p:cNvPr id="4" name="Footer Placeholder 3">
            <a:extLst>
              <a:ext uri="{FF2B5EF4-FFF2-40B4-BE49-F238E27FC236}">
                <a16:creationId xmlns:a16="http://schemas.microsoft.com/office/drawing/2014/main" id="{8E272BB4-C8D8-4F74-9677-5AC979932A7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96B49B8-779F-4492-ABD9-96F0D042AC41}"/>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577949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B976BF-9339-48D6-881A-280D15492E05}"/>
              </a:ext>
            </a:extLst>
          </p:cNvPr>
          <p:cNvSpPr>
            <a:spLocks noGrp="1"/>
          </p:cNvSpPr>
          <p:nvPr>
            <p:ph type="dt" sz="half" idx="10"/>
          </p:nvPr>
        </p:nvSpPr>
        <p:spPr/>
        <p:txBody>
          <a:bodyPr/>
          <a:lstStyle/>
          <a:p>
            <a:fld id="{E57C65C8-F180-4529-9FF1-36BA71046A80}" type="datetime1">
              <a:rPr lang="en-US" smtClean="0"/>
              <a:t>10/3/2024</a:t>
            </a:fld>
            <a:endParaRPr lang="en-US"/>
          </a:p>
        </p:txBody>
      </p:sp>
      <p:sp>
        <p:nvSpPr>
          <p:cNvPr id="3" name="Footer Placeholder 2">
            <a:extLst>
              <a:ext uri="{FF2B5EF4-FFF2-40B4-BE49-F238E27FC236}">
                <a16:creationId xmlns:a16="http://schemas.microsoft.com/office/drawing/2014/main" id="{45277605-C9C8-432E-9662-D7D410B151D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22432B6-4A12-46EF-98A7-B5D50BD516F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683027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191C-AF68-4230-A7B2-F8F07B486EDC}"/>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8F9F11-5FCF-4D7E-BA51-38CB84277DC9}"/>
              </a:ext>
            </a:extLst>
          </p:cNvPr>
          <p:cNvSpPr>
            <a:spLocks noGrp="1"/>
          </p:cNvSpPr>
          <p:nvPr>
            <p:ph idx="1"/>
          </p:nvPr>
        </p:nvSpPr>
        <p:spPr>
          <a:xfrm>
            <a:off x="6653182" y="987423"/>
            <a:ext cx="5020948"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3B519B-06C0-41BC-95FB-FB1FE436375E}"/>
              </a:ext>
            </a:extLst>
          </p:cNvPr>
          <p:cNvSpPr>
            <a:spLocks noGrp="1"/>
          </p:cNvSpPr>
          <p:nvPr>
            <p:ph type="body" sz="half" idx="2"/>
          </p:nvPr>
        </p:nvSpPr>
        <p:spPr>
          <a:xfrm>
            <a:off x="517870" y="3361038"/>
            <a:ext cx="5020948" cy="2507949"/>
          </a:xfrm>
        </p:spPr>
        <p:txBody>
          <a:bodyPr>
            <a:normAutofit/>
          </a:bodyPr>
          <a:lstStyle>
            <a:lvl1pPr marL="0" indent="0">
              <a:buNone/>
              <a:defRPr sz="24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B8B70C-015C-4832-AFF6-D033E022746B}"/>
              </a:ext>
            </a:extLst>
          </p:cNvPr>
          <p:cNvSpPr>
            <a:spLocks noGrp="1"/>
          </p:cNvSpPr>
          <p:nvPr>
            <p:ph type="dt" sz="half" idx="10"/>
          </p:nvPr>
        </p:nvSpPr>
        <p:spPr/>
        <p:txBody>
          <a:bodyPr/>
          <a:lstStyle/>
          <a:p>
            <a:fld id="{4AA88828-E7ED-4EFD-B746-FCF1AC872FC8}" type="datetime1">
              <a:rPr lang="en-US" smtClean="0"/>
              <a:t>10/3/2024</a:t>
            </a:fld>
            <a:endParaRPr lang="en-US"/>
          </a:p>
        </p:txBody>
      </p:sp>
      <p:sp>
        <p:nvSpPr>
          <p:cNvPr id="6" name="Footer Placeholder 5">
            <a:extLst>
              <a:ext uri="{FF2B5EF4-FFF2-40B4-BE49-F238E27FC236}">
                <a16:creationId xmlns:a16="http://schemas.microsoft.com/office/drawing/2014/main" id="{BEF1A6FB-8C14-46D1-90A5-0FF11DE7863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782C585-6FA1-4E94-9C1C-A1DEDE55108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399408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98B43-D1CE-43F4-A367-EF1FE9688913}"/>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2B73978-8CDF-4C0E-ABA1-7291A0347362}"/>
              </a:ext>
            </a:extLst>
          </p:cNvPr>
          <p:cNvSpPr>
            <a:spLocks noGrp="1"/>
          </p:cNvSpPr>
          <p:nvPr>
            <p:ph type="pic" idx="1"/>
          </p:nvPr>
        </p:nvSpPr>
        <p:spPr>
          <a:xfrm>
            <a:off x="6662168" y="987425"/>
            <a:ext cx="502700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5BECC62-ED45-451E-BEC5-A03C6A554D26}"/>
              </a:ext>
            </a:extLst>
          </p:cNvPr>
          <p:cNvSpPr>
            <a:spLocks noGrp="1"/>
          </p:cNvSpPr>
          <p:nvPr>
            <p:ph type="body" sz="half" idx="2"/>
          </p:nvPr>
        </p:nvSpPr>
        <p:spPr>
          <a:xfrm>
            <a:off x="517870" y="3340442"/>
            <a:ext cx="5020948" cy="2528545"/>
          </a:xfrm>
        </p:spPr>
        <p:txBody>
          <a:bodyPr>
            <a:normAutofit/>
          </a:bodyPr>
          <a:lstStyle>
            <a:lvl1pPr marL="0" indent="0">
              <a:buNone/>
              <a:defRPr sz="22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1A7A86-B983-4315-9312-936B4FCF75FE}"/>
              </a:ext>
            </a:extLst>
          </p:cNvPr>
          <p:cNvSpPr>
            <a:spLocks noGrp="1"/>
          </p:cNvSpPr>
          <p:nvPr>
            <p:ph type="dt" sz="half" idx="10"/>
          </p:nvPr>
        </p:nvSpPr>
        <p:spPr/>
        <p:txBody>
          <a:bodyPr/>
          <a:lstStyle/>
          <a:p>
            <a:fld id="{FCE9A5C4-CA67-481E-B7EE-1D56831B6DD3}" type="datetime1">
              <a:rPr lang="en-US" smtClean="0"/>
              <a:t>10/3/2024</a:t>
            </a:fld>
            <a:endParaRPr lang="en-US"/>
          </a:p>
        </p:txBody>
      </p:sp>
      <p:sp>
        <p:nvSpPr>
          <p:cNvPr id="6" name="Footer Placeholder 5">
            <a:extLst>
              <a:ext uri="{FF2B5EF4-FFF2-40B4-BE49-F238E27FC236}">
                <a16:creationId xmlns:a16="http://schemas.microsoft.com/office/drawing/2014/main" id="{1E2E88C0-25A5-46F9-AB35-EAD50E6B913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A0F9EA8-45AD-478E-8606-9328245BC8A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971125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6B8E-1D8E-4105-9BBB-D53AD24B738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3825530-6629-4FEA-9670-EB21A2F5BA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64C7A-A73F-46F5-BC33-696671DAEEE7}"/>
              </a:ext>
            </a:extLst>
          </p:cNvPr>
          <p:cNvSpPr>
            <a:spLocks noGrp="1"/>
          </p:cNvSpPr>
          <p:nvPr>
            <p:ph type="dt" sz="half" idx="10"/>
          </p:nvPr>
        </p:nvSpPr>
        <p:spPr/>
        <p:txBody>
          <a:bodyPr/>
          <a:lstStyle/>
          <a:p>
            <a:fld id="{864636CE-056A-4874-BD9F-28CC8EAD88B8}" type="datetime1">
              <a:rPr lang="en-US" smtClean="0"/>
              <a:t>10/3/2024</a:t>
            </a:fld>
            <a:endParaRPr lang="en-US"/>
          </a:p>
        </p:txBody>
      </p:sp>
      <p:sp>
        <p:nvSpPr>
          <p:cNvPr id="5" name="Footer Placeholder 4">
            <a:extLst>
              <a:ext uri="{FF2B5EF4-FFF2-40B4-BE49-F238E27FC236}">
                <a16:creationId xmlns:a16="http://schemas.microsoft.com/office/drawing/2014/main" id="{512B3CC0-B649-4509-A4B6-DF9D20EFACE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CECCCA-3F2A-46F3-BF45-7C862FF1D752}"/>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72771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50133B-2446-4168-AA17-6538910668FD}"/>
              </a:ext>
            </a:extLst>
          </p:cNvPr>
          <p:cNvSpPr>
            <a:spLocks noGrp="1"/>
          </p:cNvSpPr>
          <p:nvPr>
            <p:ph type="title" orient="vert"/>
          </p:nvPr>
        </p:nvSpPr>
        <p:spPr>
          <a:xfrm>
            <a:off x="6662168" y="996791"/>
            <a:ext cx="5011962" cy="495692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006A9AD-2756-4C51-A958-6756301EB938}"/>
              </a:ext>
            </a:extLst>
          </p:cNvPr>
          <p:cNvSpPr>
            <a:spLocks noGrp="1"/>
          </p:cNvSpPr>
          <p:nvPr>
            <p:ph type="body" orient="vert" idx="1"/>
          </p:nvPr>
        </p:nvSpPr>
        <p:spPr>
          <a:xfrm>
            <a:off x="517870" y="996791"/>
            <a:ext cx="5021183" cy="4956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42995D-CCEA-43AF-973B-8B6B56A567E8}"/>
              </a:ext>
            </a:extLst>
          </p:cNvPr>
          <p:cNvSpPr>
            <a:spLocks noGrp="1"/>
          </p:cNvSpPr>
          <p:nvPr>
            <p:ph type="dt" sz="half" idx="10"/>
          </p:nvPr>
        </p:nvSpPr>
        <p:spPr/>
        <p:txBody>
          <a:bodyPr/>
          <a:lstStyle/>
          <a:p>
            <a:fld id="{58435312-4B40-4BD2-B680-EE0AAB902450}" type="datetime1">
              <a:rPr lang="en-US" smtClean="0"/>
              <a:t>10/3/2024</a:t>
            </a:fld>
            <a:endParaRPr lang="en-US"/>
          </a:p>
        </p:txBody>
      </p:sp>
      <p:sp>
        <p:nvSpPr>
          <p:cNvPr id="5" name="Footer Placeholder 4">
            <a:extLst>
              <a:ext uri="{FF2B5EF4-FFF2-40B4-BE49-F238E27FC236}">
                <a16:creationId xmlns:a16="http://schemas.microsoft.com/office/drawing/2014/main" id="{2A4029CF-BA62-4CCD-956E-FFA0B37B8A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CE0B3D-96AB-41B3-ABDD-5B0DE863DAF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12" name="Rectangle 11">
            <a:extLst>
              <a:ext uri="{FF2B5EF4-FFF2-40B4-BE49-F238E27FC236}">
                <a16:creationId xmlns:a16="http://schemas.microsoft.com/office/drawing/2014/main" id="{4618136A-0796-46EB-89BB-4C73C0258FE9}"/>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644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61AD20-E240-4E6F-AF91-689F7AEEE33A}"/>
              </a:ext>
            </a:extLst>
          </p:cNvPr>
          <p:cNvSpPr>
            <a:spLocks noGrp="1"/>
          </p:cNvSpPr>
          <p:nvPr>
            <p:ph type="title"/>
          </p:nvPr>
        </p:nvSpPr>
        <p:spPr>
          <a:xfrm>
            <a:off x="517870" y="978408"/>
            <a:ext cx="5021182" cy="487045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2E78801-35D1-4C19-BC2B-EAC7EE917E73}"/>
              </a:ext>
            </a:extLst>
          </p:cNvPr>
          <p:cNvSpPr>
            <a:spLocks noGrp="1"/>
          </p:cNvSpPr>
          <p:nvPr>
            <p:ph type="body" idx="1"/>
          </p:nvPr>
        </p:nvSpPr>
        <p:spPr>
          <a:xfrm>
            <a:off x="6662168" y="969264"/>
            <a:ext cx="5021182" cy="48704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1282A45-C5B9-4575-8E28-A35767B4D71C}"/>
              </a:ext>
            </a:extLst>
          </p:cNvPr>
          <p:cNvSpPr>
            <a:spLocks noGrp="1"/>
          </p:cNvSpPr>
          <p:nvPr>
            <p:ph type="dt" sz="half" idx="2"/>
          </p:nvPr>
        </p:nvSpPr>
        <p:spPr>
          <a:xfrm>
            <a:off x="517870" y="6420414"/>
            <a:ext cx="2743200" cy="365125"/>
          </a:xfrm>
          <a:prstGeom prst="rect">
            <a:avLst/>
          </a:prstGeom>
        </p:spPr>
        <p:txBody>
          <a:bodyPr vert="horz" lIns="91440" tIns="45720" rIns="91440" bIns="45720" rtlCol="0" anchor="ctr"/>
          <a:lstStyle>
            <a:lvl1pPr algn="l">
              <a:defRPr sz="900">
                <a:solidFill>
                  <a:schemeClr val="tx1"/>
                </a:solidFill>
              </a:defRPr>
            </a:lvl1pPr>
          </a:lstStyle>
          <a:p>
            <a:fld id="{D5F79831-7CDC-4A84-B952-B7D269DB8AFC}" type="datetime1">
              <a:rPr lang="en-US" smtClean="0"/>
              <a:t>10/3/2024</a:t>
            </a:fld>
            <a:endParaRPr lang="en-US"/>
          </a:p>
        </p:txBody>
      </p:sp>
      <p:sp>
        <p:nvSpPr>
          <p:cNvPr id="5" name="Footer Placeholder 4">
            <a:extLst>
              <a:ext uri="{FF2B5EF4-FFF2-40B4-BE49-F238E27FC236}">
                <a16:creationId xmlns:a16="http://schemas.microsoft.com/office/drawing/2014/main" id="{2E9D0933-AA03-4018-8E37-004CFB9F61D6}"/>
              </a:ext>
            </a:extLst>
          </p:cNvPr>
          <p:cNvSpPr>
            <a:spLocks noGrp="1"/>
          </p:cNvSpPr>
          <p:nvPr>
            <p:ph type="ftr" sz="quarter" idx="3"/>
          </p:nvPr>
        </p:nvSpPr>
        <p:spPr>
          <a:xfrm>
            <a:off x="517870" y="97713"/>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F282A-DF4A-4A2D-9672-8F0F770A3F1A}"/>
              </a:ext>
            </a:extLst>
          </p:cNvPr>
          <p:cNvSpPr>
            <a:spLocks noGrp="1"/>
          </p:cNvSpPr>
          <p:nvPr>
            <p:ph type="sldNum" sz="quarter" idx="4"/>
          </p:nvPr>
        </p:nvSpPr>
        <p:spPr>
          <a:xfrm>
            <a:off x="11454317" y="6420414"/>
            <a:ext cx="637909" cy="365125"/>
          </a:xfrm>
          <a:prstGeom prst="rect">
            <a:avLst/>
          </a:prstGeom>
        </p:spPr>
        <p:txBody>
          <a:bodyPr vert="horz" lIns="91440" tIns="45720" rIns="91440" bIns="45720" rtlCol="0" anchor="ctr"/>
          <a:lstStyle>
            <a:lvl1pPr algn="r">
              <a:defRPr sz="900">
                <a:solidFill>
                  <a:schemeClr val="tx1"/>
                </a:solidFill>
              </a:defRPr>
            </a:lvl1pPr>
          </a:lstStyle>
          <a:p>
            <a:fld id="{DFDF98CC-160E-494C-8C3C-8CDC5FA257DE}" type="slidenum">
              <a:rPr lang="en-US" smtClean="0"/>
              <a:pPr/>
              <a:t>‹#›</a:t>
            </a:fld>
            <a:endParaRPr lang="en-US" dirty="0"/>
          </a:p>
        </p:txBody>
      </p:sp>
      <p:sp>
        <p:nvSpPr>
          <p:cNvPr id="14" name="Rectangle 13">
            <a:extLst>
              <a:ext uri="{FF2B5EF4-FFF2-40B4-BE49-F238E27FC236}">
                <a16:creationId xmlns:a16="http://schemas.microsoft.com/office/drawing/2014/main" id="{ADE57300-C7FF-4578-99A0-42B0295B123C}"/>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B8F8250-7A81-4A19-87AD-FFB2CE4E39A5}"/>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9F38FC-2DEA-2647-C409-EF75720C1017}"/>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40824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74320" indent="-27432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27432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548640" indent="-27432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54864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56C5C09-0043-4549-B800-2101B70D6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5G and AI technology, Global communication network concept.">
            <a:extLst>
              <a:ext uri="{FF2B5EF4-FFF2-40B4-BE49-F238E27FC236}">
                <a16:creationId xmlns:a16="http://schemas.microsoft.com/office/drawing/2014/main" id="{F7601AF1-6801-43E4-A259-436CE2C41B9F}"/>
              </a:ext>
            </a:extLst>
          </p:cNvPr>
          <p:cNvPicPr>
            <a:picLocks noChangeAspect="1"/>
          </p:cNvPicPr>
          <p:nvPr/>
        </p:nvPicPr>
        <p:blipFill>
          <a:blip r:embed="rId3"/>
          <a:srcRect l="14552" r="31775" b="-1"/>
          <a:stretch/>
        </p:blipFill>
        <p:spPr>
          <a:xfrm>
            <a:off x="525664" y="508090"/>
            <a:ext cx="5570336" cy="5837913"/>
          </a:xfrm>
          <a:prstGeom prst="rect">
            <a:avLst/>
          </a:prstGeom>
        </p:spPr>
      </p:pic>
      <p:sp>
        <p:nvSpPr>
          <p:cNvPr id="2" name="Title 1">
            <a:extLst>
              <a:ext uri="{FF2B5EF4-FFF2-40B4-BE49-F238E27FC236}">
                <a16:creationId xmlns:a16="http://schemas.microsoft.com/office/drawing/2014/main" id="{ECA80E64-9362-61FE-4629-F3A65B08C6A7}"/>
              </a:ext>
            </a:extLst>
          </p:cNvPr>
          <p:cNvSpPr>
            <a:spLocks noGrp="1"/>
          </p:cNvSpPr>
          <p:nvPr>
            <p:ph type="ctrTitle"/>
          </p:nvPr>
        </p:nvSpPr>
        <p:spPr>
          <a:xfrm>
            <a:off x="6699869" y="978407"/>
            <a:ext cx="4983480" cy="3976380"/>
          </a:xfrm>
        </p:spPr>
        <p:txBody>
          <a:bodyPr anchor="t">
            <a:normAutofit/>
          </a:bodyPr>
          <a:lstStyle/>
          <a:p>
            <a:r>
              <a:rPr lang="en-IN" sz="6000"/>
              <a:t>Exploring the Data Ecosystem</a:t>
            </a:r>
          </a:p>
        </p:txBody>
      </p:sp>
      <p:sp>
        <p:nvSpPr>
          <p:cNvPr id="3" name="Subtitle 2">
            <a:extLst>
              <a:ext uri="{FF2B5EF4-FFF2-40B4-BE49-F238E27FC236}">
                <a16:creationId xmlns:a16="http://schemas.microsoft.com/office/drawing/2014/main" id="{DDD2BD2A-A920-42E3-F3C6-6239A9B11B26}"/>
              </a:ext>
            </a:extLst>
          </p:cNvPr>
          <p:cNvSpPr>
            <a:spLocks noGrp="1"/>
          </p:cNvSpPr>
          <p:nvPr>
            <p:ph type="subTitle" idx="1"/>
          </p:nvPr>
        </p:nvSpPr>
        <p:spPr>
          <a:xfrm>
            <a:off x="6699869" y="5275825"/>
            <a:ext cx="4983481" cy="1070177"/>
          </a:xfrm>
        </p:spPr>
        <p:txBody>
          <a:bodyPr anchor="t">
            <a:normAutofit/>
          </a:bodyPr>
          <a:lstStyle/>
          <a:p>
            <a:r>
              <a:rPr lang="en-IN" sz="2400"/>
              <a:t>Understanding the many facets of data</a:t>
            </a:r>
          </a:p>
        </p:txBody>
      </p:sp>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3493" y="508090"/>
            <a:ext cx="4983481"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279670F6-E006-F705-786A-2BA595F4E671}"/>
              </a:ext>
            </a:extLst>
          </p:cNvPr>
          <p:cNvSpPr>
            <a:spLocks noGrp="1"/>
          </p:cNvSpPr>
          <p:nvPr>
            <p:ph type="sldNum" sz="quarter" idx="12"/>
          </p:nvPr>
        </p:nvSpPr>
        <p:spPr/>
        <p:txBody>
          <a:bodyPr/>
          <a:lstStyle/>
          <a:p>
            <a:fld id="{DFDF98CC-160E-494C-8C3C-8CDC5FA257DE}" type="slidenum">
              <a:rPr lang="en-US" smtClean="0"/>
              <a:t>1</a:t>
            </a:fld>
            <a:endParaRPr lang="en-US"/>
          </a:p>
        </p:txBody>
      </p:sp>
    </p:spTree>
    <p:extLst>
      <p:ext uri="{BB962C8B-B14F-4D97-AF65-F5344CB8AC3E}">
        <p14:creationId xmlns:p14="http://schemas.microsoft.com/office/powerpoint/2010/main" val="788841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pic>
        <p:nvPicPr>
          <p:cNvPr id="5" name="Content Placeholder 4" descr="Abstract particle graph background.">
            <a:extLst>
              <a:ext uri="{FF2B5EF4-FFF2-40B4-BE49-F238E27FC236}">
                <a16:creationId xmlns:a16="http://schemas.microsoft.com/office/drawing/2014/main" id="{95D74542-D4B4-4C2D-A600-188A6A5FE0F6}"/>
              </a:ext>
            </a:extLst>
          </p:cNvPr>
          <p:cNvPicPr>
            <a:picLocks noGrp="1" noChangeAspect="1"/>
          </p:cNvPicPr>
          <p:nvPr>
            <p:ph sz="half" idx="1"/>
          </p:nvPr>
        </p:nvPicPr>
        <p:blipFill>
          <a:blip r:embed="rId3"/>
          <a:srcRect l="24128" r="10734" b="1"/>
          <a:stretch/>
        </p:blipFill>
        <p:spPr>
          <a:xfrm>
            <a:off x="517868" y="508090"/>
            <a:ext cx="5705856" cy="5846990"/>
          </a:xfrm>
          <a:prstGeom prst="rect">
            <a:avLst/>
          </a:prstGeom>
        </p:spPr>
      </p:pic>
      <p:sp>
        <p:nvSpPr>
          <p:cNvPr id="2" name="Title 1">
            <a:extLst>
              <a:ext uri="{FF2B5EF4-FFF2-40B4-BE49-F238E27FC236}">
                <a16:creationId xmlns:a16="http://schemas.microsoft.com/office/drawing/2014/main" id="{2FF2ECE7-8B3E-90B8-82A6-77DCF50F2830}"/>
              </a:ext>
            </a:extLst>
          </p:cNvPr>
          <p:cNvSpPr>
            <a:spLocks noGrp="1"/>
          </p:cNvSpPr>
          <p:nvPr>
            <p:ph type="title"/>
          </p:nvPr>
        </p:nvSpPr>
        <p:spPr>
          <a:xfrm>
            <a:off x="7001547" y="976160"/>
            <a:ext cx="4822899" cy="1463040"/>
          </a:xfrm>
        </p:spPr>
        <p:txBody>
          <a:bodyPr vert="horz" lIns="91440" tIns="45720" rIns="91440" bIns="45720" rtlCol="0" anchor="t">
            <a:normAutofit/>
          </a:bodyPr>
          <a:lstStyle/>
          <a:p>
            <a:r>
              <a:rPr lang="en-US" sz="4400"/>
              <a:t>Presentation Overview</a:t>
            </a:r>
          </a:p>
        </p:txBody>
      </p:sp>
      <p:sp>
        <p:nvSpPr>
          <p:cNvPr id="4" name="Content Placeholder 3">
            <a:extLst>
              <a:ext uri="{FF2B5EF4-FFF2-40B4-BE49-F238E27FC236}">
                <a16:creationId xmlns:a16="http://schemas.microsoft.com/office/drawing/2014/main" id="{B7266B16-1D05-8C1C-3D22-EF9B25087A59}"/>
              </a:ext>
            </a:extLst>
          </p:cNvPr>
          <p:cNvSpPr>
            <a:spLocks noGrp="1"/>
          </p:cNvSpPr>
          <p:nvPr>
            <p:ph sz="half" idx="2"/>
          </p:nvPr>
        </p:nvSpPr>
        <p:spPr>
          <a:xfrm>
            <a:off x="7001548" y="2578608"/>
            <a:ext cx="4672584" cy="3767328"/>
          </a:xfrm>
        </p:spPr>
        <p:txBody>
          <a:bodyPr vert="horz" lIns="91440" tIns="45720" rIns="91440" bIns="45720" rtlCol="0">
            <a:normAutofit/>
          </a:bodyPr>
          <a:lstStyle/>
          <a:p>
            <a:r>
              <a:rPr lang="en-US" sz="1800"/>
              <a:t>Structured and Unstructured Data</a:t>
            </a:r>
          </a:p>
          <a:p>
            <a:r>
              <a:rPr lang="en-US" sz="1800"/>
              <a:t>Big Data</a:t>
            </a:r>
          </a:p>
        </p:txBody>
      </p:sp>
      <p:sp>
        <p:nvSpPr>
          <p:cNvPr id="18" name="Freeform: Shape 17">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Slide Number Placeholder 2">
            <a:extLst>
              <a:ext uri="{FF2B5EF4-FFF2-40B4-BE49-F238E27FC236}">
                <a16:creationId xmlns:a16="http://schemas.microsoft.com/office/drawing/2014/main" id="{9ED830BB-92E4-409D-AB17-DA03BBB5EC8A}"/>
              </a:ext>
            </a:extLst>
          </p:cNvPr>
          <p:cNvSpPr>
            <a:spLocks noGrp="1"/>
          </p:cNvSpPr>
          <p:nvPr>
            <p:ph type="sldNum" sz="quarter" idx="12"/>
          </p:nvPr>
        </p:nvSpPr>
        <p:spPr/>
        <p:txBody>
          <a:bodyPr/>
          <a:lstStyle/>
          <a:p>
            <a:fld id="{DFDF98CC-160E-494C-8C3C-8CDC5FA257DE}" type="slidenum">
              <a:rPr lang="en-US" smtClean="0"/>
              <a:t>2</a:t>
            </a:fld>
            <a:endParaRPr lang="en-US"/>
          </a:p>
        </p:txBody>
      </p:sp>
    </p:spTree>
    <p:extLst>
      <p:ext uri="{BB962C8B-B14F-4D97-AF65-F5344CB8AC3E}">
        <p14:creationId xmlns:p14="http://schemas.microsoft.com/office/powerpoint/2010/main" val="31144876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E9A97B-1917-9176-B980-E15E8CBDB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5A53F54D-2A6D-2453-E405-D0DE5C5EB486}"/>
              </a:ext>
            </a:extLst>
          </p:cNvPr>
          <p:cNvSpPr>
            <a:spLocks noGrp="1"/>
          </p:cNvSpPr>
          <p:nvPr>
            <p:ph type="title"/>
          </p:nvPr>
        </p:nvSpPr>
        <p:spPr>
          <a:xfrm>
            <a:off x="521208" y="1211766"/>
            <a:ext cx="7237052" cy="4727988"/>
          </a:xfrm>
        </p:spPr>
        <p:txBody>
          <a:bodyPr vert="horz" lIns="91440" tIns="45720" rIns="91440" bIns="45720" rtlCol="0" anchor="b">
            <a:normAutofit/>
          </a:bodyPr>
          <a:lstStyle/>
          <a:p>
            <a:r>
              <a:rPr lang="en-US" sz="7400"/>
              <a:t>Structured and Unstructured Data</a:t>
            </a:r>
          </a:p>
        </p:txBody>
      </p:sp>
      <p:sp>
        <p:nvSpPr>
          <p:cNvPr id="19" name="Freeform: Shape 1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Slide Number Placeholder 2">
            <a:extLst>
              <a:ext uri="{FF2B5EF4-FFF2-40B4-BE49-F238E27FC236}">
                <a16:creationId xmlns:a16="http://schemas.microsoft.com/office/drawing/2014/main" id="{10BE0C1A-6715-F858-7EC2-7377CBD6B727}"/>
              </a:ext>
            </a:extLst>
          </p:cNvPr>
          <p:cNvSpPr>
            <a:spLocks noGrp="1"/>
          </p:cNvSpPr>
          <p:nvPr>
            <p:ph type="sldNum" sz="quarter" idx="12"/>
          </p:nvPr>
        </p:nvSpPr>
        <p:spPr/>
        <p:txBody>
          <a:bodyPr/>
          <a:lstStyle/>
          <a:p>
            <a:fld id="{DFDF98CC-160E-494C-8C3C-8CDC5FA257DE}" type="slidenum">
              <a:rPr lang="en-US" smtClean="0"/>
              <a:t>3</a:t>
            </a:fld>
            <a:endParaRPr lang="en-US"/>
          </a:p>
        </p:txBody>
      </p:sp>
    </p:spTree>
    <p:extLst>
      <p:ext uri="{BB962C8B-B14F-4D97-AF65-F5344CB8AC3E}">
        <p14:creationId xmlns:p14="http://schemas.microsoft.com/office/powerpoint/2010/main" val="292473304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Database symbols with arrows and file folder">
            <a:extLst>
              <a:ext uri="{FF2B5EF4-FFF2-40B4-BE49-F238E27FC236}">
                <a16:creationId xmlns:a16="http://schemas.microsoft.com/office/drawing/2014/main" id="{4F8BFC0F-CA2D-4769-B932-1D8B6037DB43}"/>
              </a:ext>
            </a:extLst>
          </p:cNvPr>
          <p:cNvPicPr>
            <a:picLocks noGrp="1" noChangeAspect="1"/>
          </p:cNvPicPr>
          <p:nvPr>
            <p:ph sz="half" idx="1"/>
          </p:nvPr>
        </p:nvPicPr>
        <p:blipFill>
          <a:blip r:embed="rId3"/>
          <a:srcRect t="19976" r="1" b="18415"/>
          <a:stretch/>
        </p:blipFill>
        <p:spPr>
          <a:xfrm>
            <a:off x="517864" y="1863633"/>
            <a:ext cx="8687096" cy="4482371"/>
          </a:xfrm>
          <a:prstGeom prst="rect">
            <a:avLst/>
          </a:prstGeom>
        </p:spPr>
      </p:pic>
      <p:sp>
        <p:nvSpPr>
          <p:cNvPr id="2" name="Title 1">
            <a:extLst>
              <a:ext uri="{FF2B5EF4-FFF2-40B4-BE49-F238E27FC236}">
                <a16:creationId xmlns:a16="http://schemas.microsoft.com/office/drawing/2014/main" id="{8E942A7B-9BDC-5F39-9840-05260EC4CC99}"/>
              </a:ext>
            </a:extLst>
          </p:cNvPr>
          <p:cNvSpPr>
            <a:spLocks noGrp="1"/>
          </p:cNvSpPr>
          <p:nvPr>
            <p:ph type="title"/>
          </p:nvPr>
        </p:nvSpPr>
        <p:spPr>
          <a:xfrm>
            <a:off x="517865" y="976160"/>
            <a:ext cx="8686800" cy="813063"/>
          </a:xfrm>
        </p:spPr>
        <p:txBody>
          <a:bodyPr vert="horz" lIns="91440" tIns="45720" rIns="91440" bIns="45720" rtlCol="0" anchor="t">
            <a:normAutofit/>
          </a:bodyPr>
          <a:lstStyle/>
          <a:p>
            <a:r>
              <a:rPr lang="en-US" sz="4400"/>
              <a:t>Structured Data</a:t>
            </a:r>
          </a:p>
        </p:txBody>
      </p:sp>
      <p:sp>
        <p:nvSpPr>
          <p:cNvPr id="4" name="Content Placeholder 3">
            <a:extLst>
              <a:ext uri="{FF2B5EF4-FFF2-40B4-BE49-F238E27FC236}">
                <a16:creationId xmlns:a16="http://schemas.microsoft.com/office/drawing/2014/main" id="{636B7A70-00EC-C72E-FCB0-69FBCA8F27E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631680" y="1863632"/>
            <a:ext cx="2042449" cy="4482371"/>
          </a:xfrm>
        </p:spPr>
        <p:txBody>
          <a:bodyPr>
            <a:normAutofit/>
          </a:bodyPr>
          <a:lstStyle/>
          <a:p>
            <a:pPr marL="0" indent="0">
              <a:spcBef>
                <a:spcPts val="2500"/>
              </a:spcBef>
              <a:buNone/>
            </a:pPr>
            <a:endParaRPr lang="en-US" sz="1400" b="1"/>
          </a:p>
          <a:p>
            <a:pPr marL="0" lvl="1" indent="0">
              <a:buNone/>
            </a:pPr>
            <a:r>
              <a:rPr lang="en-US" sz="1400"/>
              <a:t>Structured data is highly organized and easily searchable, allowing users to quickly find the information they need.</a:t>
            </a:r>
            <a:endParaRPr lang="en-IN" sz="1400"/>
          </a:p>
        </p:txBody>
      </p:sp>
      <p:sp>
        <p:nvSpPr>
          <p:cNvPr id="18" name="Rectangle 1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5" y="508090"/>
            <a:ext cx="811123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0" name="Freeform: Shape 19">
            <a:extLst>
              <a:ext uri="{FF2B5EF4-FFF2-40B4-BE49-F238E27FC236}">
                <a16:creationId xmlns:a16="http://schemas.microsoft.com/office/drawing/2014/main" id="{E94EA6C1-5B73-CB10-F9FB-B671500C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868680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Slide Number Placeholder 2">
            <a:extLst>
              <a:ext uri="{FF2B5EF4-FFF2-40B4-BE49-F238E27FC236}">
                <a16:creationId xmlns:a16="http://schemas.microsoft.com/office/drawing/2014/main" id="{8F53973C-F33E-DCEC-F8B9-DBE732EF9EB7}"/>
              </a:ext>
            </a:extLst>
          </p:cNvPr>
          <p:cNvSpPr>
            <a:spLocks noGrp="1"/>
          </p:cNvSpPr>
          <p:nvPr>
            <p:ph type="sldNum" sz="quarter" idx="12"/>
          </p:nvPr>
        </p:nvSpPr>
        <p:spPr/>
        <p:txBody>
          <a:bodyPr/>
          <a:lstStyle/>
          <a:p>
            <a:fld id="{DFDF98CC-160E-494C-8C3C-8CDC5FA257DE}" type="slidenum">
              <a:rPr lang="en-US" smtClean="0"/>
              <a:t>4</a:t>
            </a:fld>
            <a:endParaRPr lang="en-US"/>
          </a:p>
        </p:txBody>
      </p:sp>
    </p:spTree>
    <p:extLst>
      <p:ext uri="{BB962C8B-B14F-4D97-AF65-F5344CB8AC3E}">
        <p14:creationId xmlns:p14="http://schemas.microsoft.com/office/powerpoint/2010/main" val="5272862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4C32CD27-7027-AB2B-38F1-71C08EB84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Piles of paper">
            <a:extLst>
              <a:ext uri="{FF2B5EF4-FFF2-40B4-BE49-F238E27FC236}">
                <a16:creationId xmlns:a16="http://schemas.microsoft.com/office/drawing/2014/main" id="{86118461-0DB5-4FCF-9C4B-9DCD9C7908BF}"/>
              </a:ext>
            </a:extLst>
          </p:cNvPr>
          <p:cNvPicPr>
            <a:picLocks noGrp="1" noChangeAspect="1"/>
          </p:cNvPicPr>
          <p:nvPr>
            <p:ph sz="half" idx="1"/>
          </p:nvPr>
        </p:nvPicPr>
        <p:blipFill>
          <a:blip r:embed="rId3"/>
          <a:srcRect l="35442" r="16286" b="1"/>
          <a:stretch/>
        </p:blipFill>
        <p:spPr>
          <a:xfrm>
            <a:off x="517869" y="508091"/>
            <a:ext cx="4221911" cy="5837918"/>
          </a:xfrm>
          <a:prstGeom prst="rect">
            <a:avLst/>
          </a:prstGeom>
        </p:spPr>
      </p:pic>
      <p:sp>
        <p:nvSpPr>
          <p:cNvPr id="2" name="Title 1">
            <a:extLst>
              <a:ext uri="{FF2B5EF4-FFF2-40B4-BE49-F238E27FC236}">
                <a16:creationId xmlns:a16="http://schemas.microsoft.com/office/drawing/2014/main" id="{E3478ED1-692F-1DAE-ECC1-F48DF3F3CEF9}"/>
              </a:ext>
            </a:extLst>
          </p:cNvPr>
          <p:cNvSpPr>
            <a:spLocks noGrp="1"/>
          </p:cNvSpPr>
          <p:nvPr>
            <p:ph type="title"/>
          </p:nvPr>
        </p:nvSpPr>
        <p:spPr>
          <a:xfrm>
            <a:off x="5438762" y="976160"/>
            <a:ext cx="6232310" cy="1463040"/>
          </a:xfrm>
        </p:spPr>
        <p:txBody>
          <a:bodyPr vert="horz" lIns="91440" tIns="45720" rIns="91440" bIns="45720" rtlCol="0" anchor="t">
            <a:normAutofit/>
          </a:bodyPr>
          <a:lstStyle/>
          <a:p>
            <a:r>
              <a:rPr lang="en-US" sz="4400"/>
              <a:t>Unstructured Data</a:t>
            </a:r>
          </a:p>
        </p:txBody>
      </p:sp>
      <p:sp>
        <p:nvSpPr>
          <p:cNvPr id="4" name="Content Placeholder 3">
            <a:extLst>
              <a:ext uri="{FF2B5EF4-FFF2-40B4-BE49-F238E27FC236}">
                <a16:creationId xmlns:a16="http://schemas.microsoft.com/office/drawing/2014/main" id="{68A67076-BBB2-A4BB-770B-A4B8DB2BE00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38775" y="2577871"/>
            <a:ext cx="6232310" cy="3768137"/>
          </a:xfrm>
        </p:spPr>
        <p:txBody>
          <a:bodyPr>
            <a:normAutofit/>
          </a:bodyPr>
          <a:lstStyle/>
          <a:p>
            <a:pPr marL="0" indent="0">
              <a:spcBef>
                <a:spcPts val="2500"/>
              </a:spcBef>
              <a:buNone/>
            </a:pPr>
            <a:r>
              <a:rPr lang="en-US" sz="1400" b="1"/>
              <a:t>Definition of Unstructured Data</a:t>
            </a:r>
          </a:p>
          <a:p>
            <a:pPr marL="0" lvl="1" indent="0">
              <a:buNone/>
            </a:pPr>
            <a:r>
              <a:rPr lang="en-US" sz="1400"/>
              <a:t>Unstructured data is data that does not follow a specific structure or format, making it difficult to manage and analyze with traditional data analytics tools.</a:t>
            </a:r>
          </a:p>
          <a:p>
            <a:pPr marL="0" indent="0">
              <a:spcBef>
                <a:spcPts val="2500"/>
              </a:spcBef>
              <a:buNone/>
            </a:pPr>
            <a:r>
              <a:rPr lang="en-US" sz="1400" b="1"/>
              <a:t>Examples of Unstructured Data</a:t>
            </a:r>
          </a:p>
          <a:p>
            <a:pPr marL="0" lvl="1" indent="0">
              <a:buNone/>
            </a:pPr>
            <a:r>
              <a:rPr lang="en-US" sz="1400"/>
              <a:t>Examples of unstructured data include text, images, videos, audio files, and social media posts.</a:t>
            </a:r>
          </a:p>
          <a:p>
            <a:pPr marL="0" indent="0">
              <a:spcBef>
                <a:spcPts val="2500"/>
              </a:spcBef>
              <a:buNone/>
            </a:pPr>
            <a:r>
              <a:rPr lang="en-US" sz="1400" b="1"/>
              <a:t>Challenges of Analyzing Unstructured Data</a:t>
            </a:r>
          </a:p>
          <a:p>
            <a:pPr marL="0" lvl="1" indent="0">
              <a:buNone/>
            </a:pPr>
            <a:r>
              <a:rPr lang="en-US" sz="1400"/>
              <a:t>Unstructured data is difficult to analyze with traditional data analytics tools because of its lack of structure and format. It requires specialized tools and techniques to extract meaningful insights from unstructured data.</a:t>
            </a:r>
            <a:endParaRPr lang="en-IN" sz="1400"/>
          </a:p>
        </p:txBody>
      </p:sp>
      <p:sp>
        <p:nvSpPr>
          <p:cNvPr id="18" name="Freeform: Shape 17">
            <a:extLst>
              <a:ext uri="{FF2B5EF4-FFF2-40B4-BE49-F238E27FC236}">
                <a16:creationId xmlns:a16="http://schemas.microsoft.com/office/drawing/2014/main" id="{C6DD38CD-CFFE-4ABA-3DC8-01ED90559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lide Number Placeholder 2">
            <a:extLst>
              <a:ext uri="{FF2B5EF4-FFF2-40B4-BE49-F238E27FC236}">
                <a16:creationId xmlns:a16="http://schemas.microsoft.com/office/drawing/2014/main" id="{AC50A4E5-2833-DD03-22B8-E2FAFBD188B9}"/>
              </a:ext>
            </a:extLst>
          </p:cNvPr>
          <p:cNvSpPr>
            <a:spLocks noGrp="1"/>
          </p:cNvSpPr>
          <p:nvPr>
            <p:ph type="sldNum" sz="quarter" idx="12"/>
          </p:nvPr>
        </p:nvSpPr>
        <p:spPr/>
        <p:txBody>
          <a:bodyPr/>
          <a:lstStyle/>
          <a:p>
            <a:fld id="{DFDF98CC-160E-494C-8C3C-8CDC5FA257DE}" type="slidenum">
              <a:rPr lang="en-US" smtClean="0"/>
              <a:t>5</a:t>
            </a:fld>
            <a:endParaRPr lang="en-US"/>
          </a:p>
        </p:txBody>
      </p:sp>
    </p:spTree>
    <p:extLst>
      <p:ext uri="{BB962C8B-B14F-4D97-AF65-F5344CB8AC3E}">
        <p14:creationId xmlns:p14="http://schemas.microsoft.com/office/powerpoint/2010/main" val="19611482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Transistors on the circuit. The circuit is wrong side up, but can be seen on the top part of the photo, where it is focused. Also has nice and recognizable structure.">
            <a:extLst>
              <a:ext uri="{FF2B5EF4-FFF2-40B4-BE49-F238E27FC236}">
                <a16:creationId xmlns:a16="http://schemas.microsoft.com/office/drawing/2014/main" id="{E0F80F10-C7DA-49F0-B90F-385A56FCB71B}"/>
              </a:ext>
            </a:extLst>
          </p:cNvPr>
          <p:cNvPicPr>
            <a:picLocks noGrp="1" noChangeAspect="1"/>
          </p:cNvPicPr>
          <p:nvPr>
            <p:ph sz="half" idx="1"/>
          </p:nvPr>
        </p:nvPicPr>
        <p:blipFill>
          <a:blip r:embed="rId3"/>
          <a:srcRect t="7058" r="1" b="15931"/>
          <a:stretch/>
        </p:blipFill>
        <p:spPr>
          <a:xfrm>
            <a:off x="517864" y="1863633"/>
            <a:ext cx="8687096" cy="4482371"/>
          </a:xfrm>
          <a:prstGeom prst="rect">
            <a:avLst/>
          </a:prstGeom>
        </p:spPr>
      </p:pic>
      <p:sp>
        <p:nvSpPr>
          <p:cNvPr id="2" name="Title 1">
            <a:extLst>
              <a:ext uri="{FF2B5EF4-FFF2-40B4-BE49-F238E27FC236}">
                <a16:creationId xmlns:a16="http://schemas.microsoft.com/office/drawing/2014/main" id="{157A8034-8D20-96D1-14D5-5F4A1BFA43B1}"/>
              </a:ext>
            </a:extLst>
          </p:cNvPr>
          <p:cNvSpPr>
            <a:spLocks noGrp="1"/>
          </p:cNvSpPr>
          <p:nvPr>
            <p:ph type="title"/>
          </p:nvPr>
        </p:nvSpPr>
        <p:spPr>
          <a:xfrm>
            <a:off x="517865" y="976160"/>
            <a:ext cx="8686800" cy="813063"/>
          </a:xfrm>
        </p:spPr>
        <p:txBody>
          <a:bodyPr vert="horz" lIns="91440" tIns="45720" rIns="91440" bIns="45720" rtlCol="0" anchor="t">
            <a:normAutofit/>
          </a:bodyPr>
          <a:lstStyle/>
          <a:p>
            <a:r>
              <a:rPr lang="en-US" sz="4400"/>
              <a:t>Semi-Structured Data</a:t>
            </a:r>
          </a:p>
        </p:txBody>
      </p:sp>
      <p:sp>
        <p:nvSpPr>
          <p:cNvPr id="4" name="Content Placeholder 3">
            <a:extLst>
              <a:ext uri="{FF2B5EF4-FFF2-40B4-BE49-F238E27FC236}">
                <a16:creationId xmlns:a16="http://schemas.microsoft.com/office/drawing/2014/main" id="{CAEA97FA-2A10-5700-6C40-69D1F721980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631680" y="1863632"/>
            <a:ext cx="2042449" cy="4482371"/>
          </a:xfrm>
        </p:spPr>
        <p:txBody>
          <a:bodyPr>
            <a:normAutofit/>
          </a:bodyPr>
          <a:lstStyle/>
          <a:p>
            <a:pPr marL="0" indent="0">
              <a:spcBef>
                <a:spcPts val="2500"/>
              </a:spcBef>
              <a:buNone/>
            </a:pPr>
            <a:endParaRPr lang="en-US" sz="1400" b="1"/>
          </a:p>
          <a:p>
            <a:pPr marL="0" lvl="1" indent="0">
              <a:buNone/>
            </a:pPr>
            <a:r>
              <a:rPr lang="en-US" sz="1400"/>
              <a:t>Semi-structured data is a type of data that contains both structured and unstructured elements. It has some organizational structure, but also allows for flexibility in the data model and content.</a:t>
            </a:r>
            <a:endParaRPr lang="en-IN" sz="1400"/>
          </a:p>
        </p:txBody>
      </p:sp>
      <p:sp>
        <p:nvSpPr>
          <p:cNvPr id="18" name="Rectangle 1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5" y="508090"/>
            <a:ext cx="811123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0" name="Freeform: Shape 19">
            <a:extLst>
              <a:ext uri="{FF2B5EF4-FFF2-40B4-BE49-F238E27FC236}">
                <a16:creationId xmlns:a16="http://schemas.microsoft.com/office/drawing/2014/main" id="{E94EA6C1-5B73-CB10-F9FB-B671500C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868680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Slide Number Placeholder 2">
            <a:extLst>
              <a:ext uri="{FF2B5EF4-FFF2-40B4-BE49-F238E27FC236}">
                <a16:creationId xmlns:a16="http://schemas.microsoft.com/office/drawing/2014/main" id="{3E4E3C7A-03D6-99F6-9620-31F47F322DDA}"/>
              </a:ext>
            </a:extLst>
          </p:cNvPr>
          <p:cNvSpPr>
            <a:spLocks noGrp="1"/>
          </p:cNvSpPr>
          <p:nvPr>
            <p:ph type="sldNum" sz="quarter" idx="12"/>
          </p:nvPr>
        </p:nvSpPr>
        <p:spPr/>
        <p:txBody>
          <a:bodyPr/>
          <a:lstStyle/>
          <a:p>
            <a:fld id="{DFDF98CC-160E-494C-8C3C-8CDC5FA257DE}" type="slidenum">
              <a:rPr lang="en-US" smtClean="0"/>
              <a:t>6</a:t>
            </a:fld>
            <a:endParaRPr lang="en-US"/>
          </a:p>
        </p:txBody>
      </p:sp>
    </p:spTree>
    <p:extLst>
      <p:ext uri="{BB962C8B-B14F-4D97-AF65-F5344CB8AC3E}">
        <p14:creationId xmlns:p14="http://schemas.microsoft.com/office/powerpoint/2010/main" val="1128813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pic>
        <p:nvPicPr>
          <p:cNvPr id="5" name="Content Placeholder 4" descr="science abstract element">
            <a:extLst>
              <a:ext uri="{FF2B5EF4-FFF2-40B4-BE49-F238E27FC236}">
                <a16:creationId xmlns:a16="http://schemas.microsoft.com/office/drawing/2014/main" id="{D7A56AF9-60C9-4DF1-8D14-15082424ED06}"/>
              </a:ext>
            </a:extLst>
          </p:cNvPr>
          <p:cNvPicPr>
            <a:picLocks noGrp="1" noChangeAspect="1"/>
          </p:cNvPicPr>
          <p:nvPr>
            <p:ph sz="half" idx="1"/>
          </p:nvPr>
        </p:nvPicPr>
        <p:blipFill>
          <a:blip r:embed="rId3"/>
          <a:srcRect l="6525" r="19990" b="-1"/>
          <a:stretch/>
        </p:blipFill>
        <p:spPr>
          <a:xfrm>
            <a:off x="5958018" y="508090"/>
            <a:ext cx="5709726" cy="5846989"/>
          </a:xfrm>
          <a:prstGeom prst="rect">
            <a:avLst/>
          </a:prstGeom>
        </p:spPr>
      </p:pic>
      <p:sp>
        <p:nvSpPr>
          <p:cNvPr id="2" name="Title 1">
            <a:extLst>
              <a:ext uri="{FF2B5EF4-FFF2-40B4-BE49-F238E27FC236}">
                <a16:creationId xmlns:a16="http://schemas.microsoft.com/office/drawing/2014/main" id="{2CDF4940-FFD6-2D42-7E4A-82F426B11814}"/>
              </a:ext>
            </a:extLst>
          </p:cNvPr>
          <p:cNvSpPr>
            <a:spLocks noGrp="1"/>
          </p:cNvSpPr>
          <p:nvPr>
            <p:ph type="title"/>
          </p:nvPr>
        </p:nvSpPr>
        <p:spPr>
          <a:xfrm>
            <a:off x="517871" y="976160"/>
            <a:ext cx="4798200" cy="1463040"/>
          </a:xfrm>
        </p:spPr>
        <p:txBody>
          <a:bodyPr vert="horz" lIns="91440" tIns="45720" rIns="91440" bIns="45720" rtlCol="0" anchor="t">
            <a:normAutofit/>
          </a:bodyPr>
          <a:lstStyle/>
          <a:p>
            <a:r>
              <a:rPr lang="en-US" sz="4400"/>
              <a:t>Differences and Use Cases</a:t>
            </a:r>
          </a:p>
        </p:txBody>
      </p:sp>
      <p:sp>
        <p:nvSpPr>
          <p:cNvPr id="4" name="Content Placeholder 3">
            <a:extLst>
              <a:ext uri="{FF2B5EF4-FFF2-40B4-BE49-F238E27FC236}">
                <a16:creationId xmlns:a16="http://schemas.microsoft.com/office/drawing/2014/main" id="{3BD0BF8E-AD93-9122-0143-3515D0CA0F5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7871" y="2578608"/>
            <a:ext cx="4672966" cy="3767328"/>
          </a:xfrm>
        </p:spPr>
        <p:txBody>
          <a:bodyPr>
            <a:normAutofit/>
          </a:bodyPr>
          <a:lstStyle/>
          <a:p>
            <a:pPr marL="0" indent="0">
              <a:spcBef>
                <a:spcPts val="2500"/>
              </a:spcBef>
              <a:buNone/>
            </a:pPr>
            <a:r>
              <a:rPr lang="en-US" sz="1400" b="1"/>
              <a:t>Structured Data</a:t>
            </a:r>
          </a:p>
          <a:p>
            <a:pPr marL="0" lvl="1" indent="0">
              <a:buNone/>
            </a:pPr>
            <a:r>
              <a:rPr lang="en-US" sz="1400"/>
              <a:t>Structured data is highly organized and can be easily analyzed using traditional data analytics tools. It is ideal for data that has a well-defined schema and is stored in tables or spreadsheets.</a:t>
            </a:r>
          </a:p>
          <a:p>
            <a:pPr marL="0" indent="0">
              <a:spcBef>
                <a:spcPts val="2500"/>
              </a:spcBef>
              <a:buNone/>
            </a:pPr>
            <a:r>
              <a:rPr lang="en-US" sz="1400" b="1"/>
              <a:t>Unstructured Data</a:t>
            </a:r>
          </a:p>
          <a:p>
            <a:pPr marL="0" lvl="1" indent="0">
              <a:buNone/>
            </a:pPr>
            <a:r>
              <a:rPr lang="en-US" sz="1400"/>
              <a:t>Unstructured data is not organized and cannot be easily analyzed using traditional data analytics tools. It requires more advanced tools, such as natural language processing and machine learning. It is ideal for data that is not easily classified, such as social media posts and emails.</a:t>
            </a:r>
            <a:endParaRPr lang="en-IN" sz="1400"/>
          </a:p>
        </p:txBody>
      </p:sp>
      <p:sp>
        <p:nvSpPr>
          <p:cNvPr id="18" name="Rectangle 17">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Slide Number Placeholder 2">
            <a:extLst>
              <a:ext uri="{FF2B5EF4-FFF2-40B4-BE49-F238E27FC236}">
                <a16:creationId xmlns:a16="http://schemas.microsoft.com/office/drawing/2014/main" id="{F073C339-D6D0-4C7A-494E-5E487DACF6EC}"/>
              </a:ext>
            </a:extLst>
          </p:cNvPr>
          <p:cNvSpPr>
            <a:spLocks noGrp="1"/>
          </p:cNvSpPr>
          <p:nvPr>
            <p:ph type="sldNum" sz="quarter" idx="12"/>
          </p:nvPr>
        </p:nvSpPr>
        <p:spPr/>
        <p:txBody>
          <a:bodyPr/>
          <a:lstStyle/>
          <a:p>
            <a:fld id="{DFDF98CC-160E-494C-8C3C-8CDC5FA257DE}" type="slidenum">
              <a:rPr lang="en-US" smtClean="0"/>
              <a:t>7</a:t>
            </a:fld>
            <a:endParaRPr lang="en-US"/>
          </a:p>
        </p:txBody>
      </p:sp>
    </p:spTree>
    <p:extLst>
      <p:ext uri="{BB962C8B-B14F-4D97-AF65-F5344CB8AC3E}">
        <p14:creationId xmlns:p14="http://schemas.microsoft.com/office/powerpoint/2010/main" val="30227075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E9A97B-1917-9176-B980-E15E8CBDB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88EC1CDD-FD2A-96E4-85A8-AD7825D21F55}"/>
              </a:ext>
            </a:extLst>
          </p:cNvPr>
          <p:cNvSpPr>
            <a:spLocks noGrp="1"/>
          </p:cNvSpPr>
          <p:nvPr>
            <p:ph type="title"/>
          </p:nvPr>
        </p:nvSpPr>
        <p:spPr>
          <a:xfrm>
            <a:off x="521208" y="1211766"/>
            <a:ext cx="7237052" cy="4727988"/>
          </a:xfrm>
        </p:spPr>
        <p:txBody>
          <a:bodyPr vert="horz" lIns="91440" tIns="45720" rIns="91440" bIns="45720" rtlCol="0" anchor="b">
            <a:normAutofit/>
          </a:bodyPr>
          <a:lstStyle/>
          <a:p>
            <a:r>
              <a:rPr lang="en-US" sz="7400"/>
              <a:t>Big Data</a:t>
            </a:r>
          </a:p>
        </p:txBody>
      </p:sp>
      <p:sp>
        <p:nvSpPr>
          <p:cNvPr id="19" name="Freeform: Shape 1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Slide Number Placeholder 2">
            <a:extLst>
              <a:ext uri="{FF2B5EF4-FFF2-40B4-BE49-F238E27FC236}">
                <a16:creationId xmlns:a16="http://schemas.microsoft.com/office/drawing/2014/main" id="{DB64F268-9FE2-C905-17E3-19CD2E794942}"/>
              </a:ext>
            </a:extLst>
          </p:cNvPr>
          <p:cNvSpPr>
            <a:spLocks noGrp="1"/>
          </p:cNvSpPr>
          <p:nvPr>
            <p:ph type="sldNum" sz="quarter" idx="12"/>
          </p:nvPr>
        </p:nvSpPr>
        <p:spPr/>
        <p:txBody>
          <a:bodyPr/>
          <a:lstStyle/>
          <a:p>
            <a:fld id="{DFDF98CC-160E-494C-8C3C-8CDC5FA257DE}" type="slidenum">
              <a:rPr lang="en-US" smtClean="0"/>
              <a:t>8</a:t>
            </a:fld>
            <a:endParaRPr lang="en-US"/>
          </a:p>
        </p:txBody>
      </p:sp>
    </p:spTree>
    <p:extLst>
      <p:ext uri="{BB962C8B-B14F-4D97-AF65-F5344CB8AC3E}">
        <p14:creationId xmlns:p14="http://schemas.microsoft.com/office/powerpoint/2010/main" val="3636276435"/>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pic>
        <p:nvPicPr>
          <p:cNvPr id="5" name="Content Placeholder 4" descr="Big Data banner - abstract background technology image, concept for big data analytics, data science, cloud big data. 3d rendered image isolated on white background.">
            <a:extLst>
              <a:ext uri="{FF2B5EF4-FFF2-40B4-BE49-F238E27FC236}">
                <a16:creationId xmlns:a16="http://schemas.microsoft.com/office/drawing/2014/main" id="{5927F1AB-672D-4FFD-830E-808308B6F26A}"/>
              </a:ext>
            </a:extLst>
          </p:cNvPr>
          <p:cNvPicPr>
            <a:picLocks noGrp="1" noChangeAspect="1"/>
          </p:cNvPicPr>
          <p:nvPr>
            <p:ph sz="half" idx="1"/>
          </p:nvPr>
        </p:nvPicPr>
        <p:blipFill>
          <a:blip r:embed="rId3"/>
          <a:srcRect l="18352" r="26757" b="1"/>
          <a:stretch/>
        </p:blipFill>
        <p:spPr>
          <a:xfrm>
            <a:off x="517868" y="508090"/>
            <a:ext cx="5705856" cy="5846990"/>
          </a:xfrm>
          <a:prstGeom prst="rect">
            <a:avLst/>
          </a:prstGeom>
        </p:spPr>
      </p:pic>
      <p:sp>
        <p:nvSpPr>
          <p:cNvPr id="2" name="Title 1">
            <a:extLst>
              <a:ext uri="{FF2B5EF4-FFF2-40B4-BE49-F238E27FC236}">
                <a16:creationId xmlns:a16="http://schemas.microsoft.com/office/drawing/2014/main" id="{C565D3F9-3B71-9465-D5F3-96323EF36CB4}"/>
              </a:ext>
            </a:extLst>
          </p:cNvPr>
          <p:cNvSpPr>
            <a:spLocks noGrp="1"/>
          </p:cNvSpPr>
          <p:nvPr>
            <p:ph type="title"/>
          </p:nvPr>
        </p:nvSpPr>
        <p:spPr>
          <a:xfrm>
            <a:off x="7001547" y="976160"/>
            <a:ext cx="4822899" cy="1463040"/>
          </a:xfrm>
        </p:spPr>
        <p:txBody>
          <a:bodyPr vert="horz" lIns="91440" tIns="45720" rIns="91440" bIns="45720" rtlCol="0" anchor="t">
            <a:normAutofit/>
          </a:bodyPr>
          <a:lstStyle/>
          <a:p>
            <a:r>
              <a:rPr lang="en-US" sz="4400"/>
              <a:t>Definition of Big Data</a:t>
            </a:r>
          </a:p>
        </p:txBody>
      </p:sp>
      <p:sp>
        <p:nvSpPr>
          <p:cNvPr id="4" name="Content Placeholder 3">
            <a:extLst>
              <a:ext uri="{FF2B5EF4-FFF2-40B4-BE49-F238E27FC236}">
                <a16:creationId xmlns:a16="http://schemas.microsoft.com/office/drawing/2014/main" id="{A0E8489E-D7F6-C2B5-86C8-916CA67CB7E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01548" y="2578608"/>
            <a:ext cx="4672584" cy="3767328"/>
          </a:xfrm>
        </p:spPr>
        <p:txBody>
          <a:bodyPr>
            <a:normAutofit/>
          </a:bodyPr>
          <a:lstStyle/>
          <a:p>
            <a:pPr marL="0" indent="0">
              <a:spcBef>
                <a:spcPts val="2500"/>
              </a:spcBef>
              <a:buNone/>
            </a:pPr>
            <a:endParaRPr lang="en-US" sz="1400" b="1"/>
          </a:p>
          <a:p>
            <a:pPr marL="0" lvl="1" indent="0">
              <a:buNone/>
            </a:pPr>
            <a:r>
              <a:rPr lang="en-US" sz="1400"/>
              <a:t>Big data is defined by the four Vs: volume, velocity, variety, and veracity. Volume refers to the sheer size of data, velocity refers to the speed at which data is generated, variety refers to the different types of data, and veracity refers to the accuracy and reliability of data.</a:t>
            </a:r>
            <a:endParaRPr lang="en-IN" sz="1400"/>
          </a:p>
        </p:txBody>
      </p:sp>
      <p:sp>
        <p:nvSpPr>
          <p:cNvPr id="18" name="Freeform: Shape 17">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Slide Number Placeholder 2">
            <a:extLst>
              <a:ext uri="{FF2B5EF4-FFF2-40B4-BE49-F238E27FC236}">
                <a16:creationId xmlns:a16="http://schemas.microsoft.com/office/drawing/2014/main" id="{8D6AC438-0AB1-751A-95B3-15672E99FD8B}"/>
              </a:ext>
            </a:extLst>
          </p:cNvPr>
          <p:cNvSpPr>
            <a:spLocks noGrp="1"/>
          </p:cNvSpPr>
          <p:nvPr>
            <p:ph type="sldNum" sz="quarter" idx="12"/>
          </p:nvPr>
        </p:nvSpPr>
        <p:spPr/>
        <p:txBody>
          <a:bodyPr/>
          <a:lstStyle/>
          <a:p>
            <a:fld id="{DFDF98CC-160E-494C-8C3C-8CDC5FA257DE}" type="slidenum">
              <a:rPr lang="en-US" smtClean="0"/>
              <a:t>9</a:t>
            </a:fld>
            <a:endParaRPr lang="en-US"/>
          </a:p>
        </p:txBody>
      </p:sp>
    </p:spTree>
    <p:extLst>
      <p:ext uri="{BB962C8B-B14F-4D97-AF65-F5344CB8AC3E}">
        <p14:creationId xmlns:p14="http://schemas.microsoft.com/office/powerpoint/2010/main" val="34918148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Big data internet technology">
            <a:extLst>
              <a:ext uri="{FF2B5EF4-FFF2-40B4-BE49-F238E27FC236}">
                <a16:creationId xmlns:a16="http://schemas.microsoft.com/office/drawing/2014/main" id="{84179EC5-2DDA-4A3F-9A4E-2DC09ADE5BF0}"/>
              </a:ext>
            </a:extLst>
          </p:cNvPr>
          <p:cNvPicPr>
            <a:picLocks noGrp="1" noChangeAspect="1"/>
          </p:cNvPicPr>
          <p:nvPr>
            <p:ph sz="half" idx="1"/>
          </p:nvPr>
        </p:nvPicPr>
        <p:blipFill>
          <a:blip r:embed="rId3"/>
          <a:srcRect t="10347" r="-4" b="9002"/>
          <a:stretch/>
        </p:blipFill>
        <p:spPr>
          <a:xfrm>
            <a:off x="517867" y="2577661"/>
            <a:ext cx="4672584" cy="3768343"/>
          </a:xfrm>
          <a:prstGeom prst="rect">
            <a:avLst/>
          </a:prstGeom>
        </p:spPr>
      </p:pic>
      <p:sp>
        <p:nvSpPr>
          <p:cNvPr id="2" name="Title 1">
            <a:extLst>
              <a:ext uri="{FF2B5EF4-FFF2-40B4-BE49-F238E27FC236}">
                <a16:creationId xmlns:a16="http://schemas.microsoft.com/office/drawing/2014/main" id="{F20A1D89-6D70-91FB-54FA-653E7E0303D8}"/>
              </a:ext>
            </a:extLst>
          </p:cNvPr>
          <p:cNvSpPr>
            <a:spLocks noGrp="1"/>
          </p:cNvSpPr>
          <p:nvPr>
            <p:ph type="title"/>
          </p:nvPr>
        </p:nvSpPr>
        <p:spPr>
          <a:xfrm>
            <a:off x="517867" y="976160"/>
            <a:ext cx="4809314" cy="1447163"/>
          </a:xfrm>
        </p:spPr>
        <p:txBody>
          <a:bodyPr vert="horz" lIns="91440" tIns="45720" rIns="91440" bIns="45720" rtlCol="0" anchor="t">
            <a:normAutofit/>
          </a:bodyPr>
          <a:lstStyle/>
          <a:p>
            <a:r>
              <a:rPr lang="en-US" sz="4400"/>
              <a:t>Big Data Technologies</a:t>
            </a:r>
          </a:p>
        </p:txBody>
      </p:sp>
      <p:sp>
        <p:nvSpPr>
          <p:cNvPr id="4" name="Content Placeholder 3">
            <a:extLst>
              <a:ext uri="{FF2B5EF4-FFF2-40B4-BE49-F238E27FC236}">
                <a16:creationId xmlns:a16="http://schemas.microsoft.com/office/drawing/2014/main" id="{7368CFC8-3446-578D-BCC7-B8A52D0F682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2000" y="1033272"/>
            <a:ext cx="5832133" cy="5312732"/>
          </a:xfrm>
        </p:spPr>
        <p:txBody>
          <a:bodyPr>
            <a:normAutofit/>
          </a:bodyPr>
          <a:lstStyle/>
          <a:p>
            <a:pPr marL="0" indent="0">
              <a:spcBef>
                <a:spcPts val="2500"/>
              </a:spcBef>
              <a:buNone/>
            </a:pPr>
            <a:r>
              <a:rPr lang="en-US" sz="1400" b="1"/>
              <a:t>Hadoop</a:t>
            </a:r>
          </a:p>
          <a:p>
            <a:pPr marL="0" lvl="1" indent="0">
              <a:buNone/>
            </a:pPr>
            <a:r>
              <a:rPr lang="en-US" sz="1400"/>
              <a:t>Hadoop is an open-source big data processing framework that allows large data sets to be stored and processed across clusters of computers. It is designed to scale from a single server to thousands of machines, offering fault tolerance and easy recovery from system failures.</a:t>
            </a:r>
          </a:p>
          <a:p>
            <a:pPr marL="0" indent="0">
              <a:spcBef>
                <a:spcPts val="2500"/>
              </a:spcBef>
              <a:buNone/>
            </a:pPr>
            <a:r>
              <a:rPr lang="en-US" sz="1400" b="1"/>
              <a:t>Spark</a:t>
            </a:r>
          </a:p>
          <a:p>
            <a:pPr marL="0" lvl="1" indent="0">
              <a:buNone/>
            </a:pPr>
            <a:r>
              <a:rPr lang="en-US" sz="1400"/>
              <a:t>Spark is another popular open-source big data processing framework that is designed to be fast, flexible, and easy to use. Spark provides an interface for programming entire clusters with implicit data parallelism and fault tolerance.</a:t>
            </a:r>
          </a:p>
          <a:p>
            <a:pPr marL="0" indent="0">
              <a:spcBef>
                <a:spcPts val="2500"/>
              </a:spcBef>
              <a:buNone/>
            </a:pPr>
            <a:r>
              <a:rPr lang="en-US" sz="1400" b="1"/>
              <a:t>NoSQL Databases</a:t>
            </a:r>
          </a:p>
          <a:p>
            <a:pPr marL="0" lvl="1" indent="0">
              <a:buNone/>
            </a:pPr>
            <a:r>
              <a:rPr lang="en-US" sz="1400"/>
              <a:t>NoSQL databases are designed to handle large and complex datasets that cannot be easily modeled in a tabular form. NoSQL databases provide high scalability, availability, and fault tolerance, making them well-suited for big data applications.</a:t>
            </a:r>
            <a:endParaRPr lang="en-IN" sz="1400"/>
          </a:p>
        </p:txBody>
      </p:sp>
      <p:sp>
        <p:nvSpPr>
          <p:cNvPr id="18" name="Rectangle 1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7258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04CE525F-3761-DCE6-9599-834B945F0855}"/>
              </a:ext>
            </a:extLst>
          </p:cNvPr>
          <p:cNvSpPr>
            <a:spLocks noGrp="1"/>
          </p:cNvSpPr>
          <p:nvPr>
            <p:ph type="sldNum" sz="quarter" idx="12"/>
          </p:nvPr>
        </p:nvSpPr>
        <p:spPr/>
        <p:txBody>
          <a:bodyPr/>
          <a:lstStyle/>
          <a:p>
            <a:fld id="{DFDF98CC-160E-494C-8C3C-8CDC5FA257DE}" type="slidenum">
              <a:rPr lang="en-US" smtClean="0"/>
              <a:t>10</a:t>
            </a:fld>
            <a:endParaRPr lang="en-US"/>
          </a:p>
        </p:txBody>
      </p:sp>
    </p:spTree>
    <p:extLst>
      <p:ext uri="{BB962C8B-B14F-4D97-AF65-F5344CB8AC3E}">
        <p14:creationId xmlns:p14="http://schemas.microsoft.com/office/powerpoint/2010/main" val="28863146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3d illustration">
            <a:extLst>
              <a:ext uri="{FF2B5EF4-FFF2-40B4-BE49-F238E27FC236}">
                <a16:creationId xmlns:a16="http://schemas.microsoft.com/office/drawing/2014/main" id="{D1FC101F-FD05-4172-9F01-B6A28B0938BB}"/>
              </a:ext>
            </a:extLst>
          </p:cNvPr>
          <p:cNvPicPr>
            <a:picLocks noGrp="1" noChangeAspect="1"/>
          </p:cNvPicPr>
          <p:nvPr>
            <p:ph sz="half" idx="1"/>
          </p:nvPr>
        </p:nvPicPr>
        <p:blipFill>
          <a:blip r:embed="rId3"/>
          <a:srcRect t="18460" r="1" b="29942"/>
          <a:stretch/>
        </p:blipFill>
        <p:spPr>
          <a:xfrm>
            <a:off x="517864" y="1863633"/>
            <a:ext cx="8687096" cy="4482371"/>
          </a:xfrm>
          <a:prstGeom prst="rect">
            <a:avLst/>
          </a:prstGeom>
        </p:spPr>
      </p:pic>
      <p:sp>
        <p:nvSpPr>
          <p:cNvPr id="2" name="Title 1">
            <a:extLst>
              <a:ext uri="{FF2B5EF4-FFF2-40B4-BE49-F238E27FC236}">
                <a16:creationId xmlns:a16="http://schemas.microsoft.com/office/drawing/2014/main" id="{19293EEC-8062-E0B8-B5ED-158A1E42F64E}"/>
              </a:ext>
            </a:extLst>
          </p:cNvPr>
          <p:cNvSpPr>
            <a:spLocks noGrp="1"/>
          </p:cNvSpPr>
          <p:nvPr>
            <p:ph type="title"/>
          </p:nvPr>
        </p:nvSpPr>
        <p:spPr>
          <a:xfrm>
            <a:off x="517865" y="976160"/>
            <a:ext cx="8686800" cy="813063"/>
          </a:xfrm>
        </p:spPr>
        <p:txBody>
          <a:bodyPr vert="horz" lIns="91440" tIns="45720" rIns="91440" bIns="45720" rtlCol="0" anchor="t">
            <a:normAutofit/>
          </a:bodyPr>
          <a:lstStyle/>
          <a:p>
            <a:r>
              <a:rPr lang="en-US" sz="4400"/>
              <a:t>Challenges of Big Data</a:t>
            </a:r>
          </a:p>
        </p:txBody>
      </p:sp>
      <p:sp>
        <p:nvSpPr>
          <p:cNvPr id="4" name="Content Placeholder 3">
            <a:extLst>
              <a:ext uri="{FF2B5EF4-FFF2-40B4-BE49-F238E27FC236}">
                <a16:creationId xmlns:a16="http://schemas.microsoft.com/office/drawing/2014/main" id="{21750363-FAF7-BBDE-5F81-9FB8C0C3F6F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631680" y="1863632"/>
            <a:ext cx="2042449" cy="4482371"/>
          </a:xfrm>
        </p:spPr>
        <p:txBody>
          <a:bodyPr>
            <a:normAutofit/>
          </a:bodyPr>
          <a:lstStyle/>
          <a:p>
            <a:pPr marL="0" indent="0">
              <a:spcBef>
                <a:spcPts val="2500"/>
              </a:spcBef>
              <a:buNone/>
            </a:pPr>
            <a:endParaRPr lang="en-US" sz="1400" b="1"/>
          </a:p>
          <a:p>
            <a:pPr marL="0" lvl="1" indent="0">
              <a:buNone/>
            </a:pPr>
            <a:r>
              <a:rPr lang="en-US" sz="1400"/>
              <a:t>Big data poses several unique challenges, including data quality, security, and privacy. Technical challenges such as scalability and performance also present significant hurdles.</a:t>
            </a:r>
            <a:endParaRPr lang="en-IN" sz="1400"/>
          </a:p>
        </p:txBody>
      </p:sp>
      <p:sp>
        <p:nvSpPr>
          <p:cNvPr id="18" name="Rectangle 17">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5" y="508090"/>
            <a:ext cx="811123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0" name="Freeform: Shape 19">
            <a:extLst>
              <a:ext uri="{FF2B5EF4-FFF2-40B4-BE49-F238E27FC236}">
                <a16:creationId xmlns:a16="http://schemas.microsoft.com/office/drawing/2014/main" id="{E94EA6C1-5B73-CB10-F9FB-B671500C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868680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Slide Number Placeholder 2">
            <a:extLst>
              <a:ext uri="{FF2B5EF4-FFF2-40B4-BE49-F238E27FC236}">
                <a16:creationId xmlns:a16="http://schemas.microsoft.com/office/drawing/2014/main" id="{31D1A568-480F-2CF7-B8B4-C18F74912D61}"/>
              </a:ext>
            </a:extLst>
          </p:cNvPr>
          <p:cNvSpPr>
            <a:spLocks noGrp="1"/>
          </p:cNvSpPr>
          <p:nvPr>
            <p:ph type="sldNum" sz="quarter" idx="12"/>
          </p:nvPr>
        </p:nvSpPr>
        <p:spPr/>
        <p:txBody>
          <a:bodyPr/>
          <a:lstStyle/>
          <a:p>
            <a:fld id="{DFDF98CC-160E-494C-8C3C-8CDC5FA257DE}" type="slidenum">
              <a:rPr lang="en-US" smtClean="0"/>
              <a:t>11</a:t>
            </a:fld>
            <a:endParaRPr lang="en-US"/>
          </a:p>
        </p:txBody>
      </p:sp>
    </p:spTree>
    <p:extLst>
      <p:ext uri="{BB962C8B-B14F-4D97-AF65-F5344CB8AC3E}">
        <p14:creationId xmlns:p14="http://schemas.microsoft.com/office/powerpoint/2010/main" val="8825831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E57300-C7FF-4578-99A0-42B0295B1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8F8250-7A81-4A19-87AD-FFB2CE4E3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9F38FC-2DEA-2647-C409-EF75720C1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4C32CD27-7027-AB2B-38F1-71C08EB84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Computer Graphics Resource With Internet Connectios Concept. Big Data, Internet of Things, Cryptocurrency, Bitcoin.">
            <a:extLst>
              <a:ext uri="{FF2B5EF4-FFF2-40B4-BE49-F238E27FC236}">
                <a16:creationId xmlns:a16="http://schemas.microsoft.com/office/drawing/2014/main" id="{5B3F9D47-6AE1-493F-988B-17F30A50A693}"/>
              </a:ext>
            </a:extLst>
          </p:cNvPr>
          <p:cNvPicPr>
            <a:picLocks noGrp="1" noChangeAspect="1"/>
          </p:cNvPicPr>
          <p:nvPr>
            <p:ph sz="half" idx="1"/>
          </p:nvPr>
        </p:nvPicPr>
        <p:blipFill>
          <a:blip r:embed="rId3"/>
          <a:srcRect l="30194" r="29126" b="-1"/>
          <a:stretch/>
        </p:blipFill>
        <p:spPr>
          <a:xfrm>
            <a:off x="517869" y="508091"/>
            <a:ext cx="4221911" cy="5837918"/>
          </a:xfrm>
          <a:prstGeom prst="rect">
            <a:avLst/>
          </a:prstGeom>
        </p:spPr>
      </p:pic>
      <p:sp>
        <p:nvSpPr>
          <p:cNvPr id="2" name="Title 1">
            <a:extLst>
              <a:ext uri="{FF2B5EF4-FFF2-40B4-BE49-F238E27FC236}">
                <a16:creationId xmlns:a16="http://schemas.microsoft.com/office/drawing/2014/main" id="{806E4265-9D09-EEB2-CF30-6374756AC746}"/>
              </a:ext>
            </a:extLst>
          </p:cNvPr>
          <p:cNvSpPr>
            <a:spLocks noGrp="1"/>
          </p:cNvSpPr>
          <p:nvPr>
            <p:ph type="title"/>
          </p:nvPr>
        </p:nvSpPr>
        <p:spPr>
          <a:xfrm>
            <a:off x="5438762" y="976160"/>
            <a:ext cx="6232310" cy="1463040"/>
          </a:xfrm>
        </p:spPr>
        <p:txBody>
          <a:bodyPr vert="horz" lIns="91440" tIns="45720" rIns="91440" bIns="45720" rtlCol="0" anchor="t">
            <a:normAutofit/>
          </a:bodyPr>
          <a:lstStyle/>
          <a:p>
            <a:r>
              <a:rPr lang="en-US" sz="4400"/>
              <a:t>Big Data Applications</a:t>
            </a:r>
          </a:p>
        </p:txBody>
      </p:sp>
      <p:sp>
        <p:nvSpPr>
          <p:cNvPr id="4" name="Content Placeholder 3">
            <a:extLst>
              <a:ext uri="{FF2B5EF4-FFF2-40B4-BE49-F238E27FC236}">
                <a16:creationId xmlns:a16="http://schemas.microsoft.com/office/drawing/2014/main" id="{8DCDC76A-C5FC-2A8A-EA0C-219CE2EC00E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38775" y="2577871"/>
            <a:ext cx="6232310" cy="3768137"/>
          </a:xfrm>
        </p:spPr>
        <p:txBody>
          <a:bodyPr>
            <a:normAutofit/>
          </a:bodyPr>
          <a:lstStyle/>
          <a:p>
            <a:pPr marL="0" indent="0">
              <a:spcBef>
                <a:spcPts val="2500"/>
              </a:spcBef>
              <a:buNone/>
            </a:pPr>
            <a:r>
              <a:rPr lang="en-US" sz="1400" b="1"/>
              <a:t>Predictive Analytics</a:t>
            </a:r>
          </a:p>
          <a:p>
            <a:pPr marL="0" lvl="1" indent="0">
              <a:buNone/>
            </a:pPr>
            <a:r>
              <a:rPr lang="en-US" sz="1400"/>
              <a:t>Predictive analytics is a big data application that uses advanced algorithms to analyze large datasets and find patterns that can help predict future outcomes or trends.</a:t>
            </a:r>
          </a:p>
          <a:p>
            <a:pPr marL="0" indent="0">
              <a:spcBef>
                <a:spcPts val="2500"/>
              </a:spcBef>
              <a:buNone/>
            </a:pPr>
            <a:r>
              <a:rPr lang="en-US" sz="1400" b="1"/>
              <a:t>Personalized Marketing</a:t>
            </a:r>
          </a:p>
          <a:p>
            <a:pPr marL="0" lvl="1" indent="0">
              <a:buNone/>
            </a:pPr>
            <a:r>
              <a:rPr lang="en-US" sz="1400"/>
              <a:t>Personalized marketing is a big data application that uses customer data to create targeted and relevant marketing campaigns that increase engagement and conversion rates.</a:t>
            </a:r>
          </a:p>
          <a:p>
            <a:pPr marL="0" indent="0">
              <a:spcBef>
                <a:spcPts val="2500"/>
              </a:spcBef>
              <a:buNone/>
            </a:pPr>
            <a:r>
              <a:rPr lang="en-US" sz="1400" b="1"/>
              <a:t>Fraud Detection</a:t>
            </a:r>
          </a:p>
          <a:p>
            <a:pPr marL="0" lvl="1" indent="0">
              <a:buNone/>
            </a:pPr>
            <a:r>
              <a:rPr lang="en-US" sz="1400"/>
              <a:t>Fraud detection is a big data application that uses machine learning algorithms to analyze large amounts of financial data and identify patterns of fraudulent activity.</a:t>
            </a:r>
            <a:endParaRPr lang="en-IN" sz="1400"/>
          </a:p>
        </p:txBody>
      </p:sp>
      <p:sp>
        <p:nvSpPr>
          <p:cNvPr id="18" name="Freeform: Shape 17">
            <a:extLst>
              <a:ext uri="{FF2B5EF4-FFF2-40B4-BE49-F238E27FC236}">
                <a16:creationId xmlns:a16="http://schemas.microsoft.com/office/drawing/2014/main" id="{C6DD38CD-CFFE-4ABA-3DC8-01ED90559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4611" y="508090"/>
            <a:ext cx="6186474"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lide Number Placeholder 2">
            <a:extLst>
              <a:ext uri="{FF2B5EF4-FFF2-40B4-BE49-F238E27FC236}">
                <a16:creationId xmlns:a16="http://schemas.microsoft.com/office/drawing/2014/main" id="{D27F24D4-043F-8761-3236-C3F200BF48D4}"/>
              </a:ext>
            </a:extLst>
          </p:cNvPr>
          <p:cNvSpPr>
            <a:spLocks noGrp="1"/>
          </p:cNvSpPr>
          <p:nvPr>
            <p:ph type="sldNum" sz="quarter" idx="12"/>
          </p:nvPr>
        </p:nvSpPr>
        <p:spPr/>
        <p:txBody>
          <a:bodyPr/>
          <a:lstStyle/>
          <a:p>
            <a:fld id="{DFDF98CC-160E-494C-8C3C-8CDC5FA257DE}" type="slidenum">
              <a:rPr lang="en-US" smtClean="0"/>
              <a:t>12</a:t>
            </a:fld>
            <a:endParaRPr lang="en-US"/>
          </a:p>
        </p:txBody>
      </p:sp>
    </p:spTree>
    <p:extLst>
      <p:ext uri="{BB962C8B-B14F-4D97-AF65-F5344CB8AC3E}">
        <p14:creationId xmlns:p14="http://schemas.microsoft.com/office/powerpoint/2010/main" val="36814639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1" name="Freeform: Shape 10">
            <a:extLst>
              <a:ext uri="{FF2B5EF4-FFF2-40B4-BE49-F238E27FC236}">
                <a16:creationId xmlns:a16="http://schemas.microsoft.com/office/drawing/2014/main" id="{C6D5B03A-B780-A698-DFA9-C9932F22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845" y="3079474"/>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C926512F-7B3E-C37E-88AD-7385B375BDA2}"/>
              </a:ext>
            </a:extLst>
          </p:cNvPr>
          <p:cNvSpPr>
            <a:spLocks noGrp="1"/>
          </p:cNvSpPr>
          <p:nvPr>
            <p:ph type="title"/>
          </p:nvPr>
        </p:nvSpPr>
        <p:spPr>
          <a:xfrm>
            <a:off x="517869" y="1327295"/>
            <a:ext cx="11153214" cy="1408176"/>
          </a:xfrm>
        </p:spPr>
        <p:txBody>
          <a:bodyPr anchor="b">
            <a:normAutofit/>
          </a:bodyPr>
          <a:lstStyle/>
          <a:p>
            <a:r>
              <a:rPr lang="en-IN" sz="6800"/>
              <a:t>Conclusion</a:t>
            </a:r>
          </a:p>
        </p:txBody>
      </p:sp>
      <p:graphicFrame>
        <p:nvGraphicFramePr>
          <p:cNvPr id="4" name="Content Placeholder 2">
            <a:extLst>
              <a:ext uri="{FF2B5EF4-FFF2-40B4-BE49-F238E27FC236}">
                <a16:creationId xmlns:a16="http://schemas.microsoft.com/office/drawing/2014/main" id="{AFC57EC5-DFC8-BCFE-3427-64493875842A}"/>
              </a:ext>
            </a:extLst>
          </p:cNvPr>
          <p:cNvGraphicFramePr>
            <a:graphicFrameLocks noGrp="1"/>
          </p:cNvGraphicFramePr>
          <p:nvPr>
            <p:ph idx="1"/>
            <p:extLst>
              <p:ext uri="{D42A27DB-BD31-4B8C-83A1-F6EECF244321}">
                <p14:modId xmlns:p14="http://schemas.microsoft.com/office/powerpoint/2010/main" val="2907088133"/>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17869" y="3789578"/>
          <a:ext cx="11153214" cy="24688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A90E59D7-7D0E-0A00-36C0-895267F13ADF}"/>
              </a:ext>
            </a:extLst>
          </p:cNvPr>
          <p:cNvSpPr>
            <a:spLocks noGrp="1"/>
          </p:cNvSpPr>
          <p:nvPr>
            <p:ph type="sldNum" sz="quarter" idx="12"/>
          </p:nvPr>
        </p:nvSpPr>
        <p:spPr/>
        <p:txBody>
          <a:bodyPr/>
          <a:lstStyle/>
          <a:p>
            <a:fld id="{DFDF98CC-160E-494C-8C3C-8CDC5FA257DE}" type="slidenum">
              <a:rPr lang="en-US" smtClean="0"/>
              <a:t>13</a:t>
            </a:fld>
            <a:endParaRPr lang="en-US"/>
          </a:p>
        </p:txBody>
      </p:sp>
    </p:spTree>
    <p:extLst>
      <p:ext uri="{BB962C8B-B14F-4D97-AF65-F5344CB8AC3E}">
        <p14:creationId xmlns:p14="http://schemas.microsoft.com/office/powerpoint/2010/main" val="981900714"/>
      </p:ext>
    </p:extLst>
  </p:cSld>
  <p:clrMapOvr>
    <a:overrideClrMapping bg1="dk1" tx1="lt1" bg2="dk2" tx2="lt2" accent1="accent1" accent2="accent2" accent3="accent3" accent4="accent4" accent5="accent5" accent6="accent6" hlink="hlink" folHlink="folHlink"/>
  </p:clrMapOvr>
  <p:transition>
    <p:fade/>
  </p:transition>
</p:sld>
</file>

<file path=ppt/theme/theme1.xml><?xml version="1.0" encoding="utf-8"?>
<a:theme xmlns:a="http://schemas.openxmlformats.org/drawingml/2006/main" name="GestaltVTI">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1250</Words>
  <Application>Microsoft Office PowerPoint</Application>
  <PresentationFormat>Widescreen</PresentationFormat>
  <Paragraphs>93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Bierstadt</vt:lpstr>
      <vt:lpstr>GestaltVTI</vt:lpstr>
      <vt:lpstr>Exploring the Data Ecosystem</vt:lpstr>
      <vt:lpstr>Presentation Overview</vt:lpstr>
      <vt:lpstr>Structured and Unstructured Data</vt:lpstr>
      <vt:lpstr>Structured Data</vt:lpstr>
      <vt:lpstr>Unstructured Data</vt:lpstr>
      <vt:lpstr>Semi-Structured Data</vt:lpstr>
      <vt:lpstr>Differences and Use Cases</vt:lpstr>
      <vt:lpstr>Big Data</vt:lpstr>
      <vt:lpstr>Definition of Big Data</vt:lpstr>
      <vt:lpstr>Big Data Technologies</vt:lpstr>
      <vt:lpstr>Challenges of Big Data</vt:lpstr>
      <vt:lpstr>Big Data Applications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Arnab Chakraborty</dc:creator>
  <cp:lastModifiedBy>Arnab Chakraborty</cp:lastModifiedBy>
  <cp:revision>2</cp:revision>
  <dcterms:created xsi:type="dcterms:W3CDTF">2024-10-03T07:53:05Z</dcterms:created>
  <dcterms:modified xsi:type="dcterms:W3CDTF">2024-10-03T12:56:52Z</dcterms:modified>
</cp:coreProperties>
</file>