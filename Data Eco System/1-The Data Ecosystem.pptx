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8"/>
  </p:notesMasterIdLst>
  <p:sldIdLst>
    <p:sldId id="2561" r:id="rId2"/>
    <p:sldId id="2562" r:id="rId3"/>
    <p:sldId id="2563" r:id="rId4"/>
    <p:sldId id="2564" r:id="rId5"/>
    <p:sldId id="2565" r:id="rId6"/>
    <p:sldId id="2566" r:id="rId7"/>
    <p:sldId id="2567" r:id="rId8"/>
    <p:sldId id="2568" r:id="rId9"/>
    <p:sldId id="2569" r:id="rId10"/>
    <p:sldId id="2570" r:id="rId11"/>
    <p:sldId id="2571" r:id="rId12"/>
    <p:sldId id="2572" r:id="rId13"/>
    <p:sldId id="2573" r:id="rId14"/>
    <p:sldId id="2574" r:id="rId15"/>
    <p:sldId id="2575" r:id="rId16"/>
    <p:sldId id="2576"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he Data Ecosystem: Comprehensive Course Outline" id="{6F4ED0EB-B0BB-4325-AC31-F00E60DA028E}">
          <p14:sldIdLst>
            <p14:sldId id="2561"/>
            <p14:sldId id="2562"/>
          </p14:sldIdLst>
        </p14:section>
        <p14:section name="Introduction to the Data Ecosystem" id="{6E8852B1-66FC-44C1-9DB8-81F2C1ADDEEC}">
          <p14:sldIdLst>
            <p14:sldId id="2563"/>
            <p14:sldId id="2564"/>
            <p14:sldId id="2565"/>
            <p14:sldId id="2566"/>
            <p14:sldId id="2567"/>
          </p14:sldIdLst>
        </p14:section>
        <p14:section name="Sources of Data" id="{4040914F-95D9-4C40-96AB-EEBA53AFFE49}">
          <p14:sldIdLst>
            <p14:sldId id="2568"/>
            <p14:sldId id="2569"/>
            <p14:sldId id="2570"/>
            <p14:sldId id="2571"/>
          </p14:sldIdLst>
        </p14:section>
        <p14:section name="Databases" id="{922F8F39-0B4C-4D13-952E-BEF245E6201B}">
          <p14:sldIdLst>
            <p14:sldId id="2572"/>
            <p14:sldId id="2573"/>
            <p14:sldId id="2574"/>
            <p14:sldId id="2575"/>
            <p14:sldId id="257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994" autoAdjust="0"/>
  </p:normalViewPr>
  <p:slideViewPr>
    <p:cSldViewPr snapToGrid="0">
      <p:cViewPr varScale="1">
        <p:scale>
          <a:sx n="81" d="100"/>
          <a:sy n="81" d="100"/>
        </p:scale>
        <p:origin x="437" y="221"/>
      </p:cViewPr>
      <p:guideLst/>
    </p:cSldViewPr>
  </p:slideViewPr>
  <p:notesTextViewPr>
    <p:cViewPr>
      <p:scale>
        <a:sx n="1" d="1"/>
        <a:sy n="1" d="1"/>
      </p:scale>
      <p:origin x="0" y="0"/>
    </p:cViewPr>
  </p:notesTextViewPr>
  <p:sorterViewPr>
    <p:cViewPr>
      <p:scale>
        <a:sx n="100" d="100"/>
        <a:sy n="100" d="100"/>
      </p:scale>
      <p:origin x="0" y="-4877"/>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C94175C-B6C7-41F8-87DE-7B1D63D8388F}" type="datetimeFigureOut">
              <a:rPr lang="en-IN" smtClean="0"/>
              <a:t>03-Oct-2024 Thu</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DC42CC0-B21C-4D42-BB22-52BAB69223DF}" type="slidenum">
              <a:rPr lang="en-IN" smtClean="0"/>
              <a:t>‹#›</a:t>
            </a:fld>
            <a:endParaRPr lang="en-IN"/>
          </a:p>
        </p:txBody>
      </p:sp>
    </p:spTree>
    <p:extLst>
      <p:ext uri="{BB962C8B-B14F-4D97-AF65-F5344CB8AC3E}">
        <p14:creationId xmlns:p14="http://schemas.microsoft.com/office/powerpoint/2010/main" val="10068424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The data ecosystem is a complex and dynamic system that is critical to decision-making and business operations in the digital age. In this course, we will explore the various components of the data ecosystem, including data sources, databases, and analytics tools.</a:t>
            </a:r>
          </a:p>
        </p:txBody>
      </p:sp>
      <p:sp>
        <p:nvSpPr>
          <p:cNvPr id="4" name="Slide Number Placeholder 3"/>
          <p:cNvSpPr>
            <a:spLocks noGrp="1"/>
          </p:cNvSpPr>
          <p:nvPr>
            <p:ph type="sldNum" sz="quarter" idx="5"/>
          </p:nvPr>
        </p:nvSpPr>
        <p:spPr/>
        <p:txBody>
          <a:bodyPr/>
          <a:lstStyle/>
          <a:p>
            <a:fld id="{E954C772-523D-4240-82DD-A66BB6769814}" type="slidenum">
              <a:rPr lang="en-IN" smtClean="0"/>
              <a:t>1</a:t>
            </a:fld>
            <a:endParaRPr lang="en-IN"/>
          </a:p>
        </p:txBody>
      </p:sp>
    </p:spTree>
    <p:extLst>
      <p:ext uri="{BB962C8B-B14F-4D97-AF65-F5344CB8AC3E}">
        <p14:creationId xmlns:p14="http://schemas.microsoft.com/office/powerpoint/2010/main" val="407290179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In this course, we will start by providing an overview of the data ecosystem, its importance in decision-making and business operations, and its key components. Then, we will delve into the various sources of data, including internal and external sources, real-time and batch data, and transactional systems, IoT and sensor data, social media platforms, surveys and polls, and third-party datasets. Finally, we will explore databases, including their different types, management systems, and operations.</a:t>
            </a:r>
          </a:p>
        </p:txBody>
      </p:sp>
      <p:sp>
        <p:nvSpPr>
          <p:cNvPr id="4" name="Slide Number Placeholder 3"/>
          <p:cNvSpPr>
            <a:spLocks noGrp="1"/>
          </p:cNvSpPr>
          <p:nvPr>
            <p:ph type="sldNum" sz="quarter" idx="5"/>
          </p:nvPr>
        </p:nvSpPr>
        <p:spPr/>
        <p:txBody>
          <a:bodyPr/>
          <a:lstStyle/>
          <a:p>
            <a:fld id="{E954C772-523D-4240-82DD-A66BB6769814}" type="slidenum">
              <a:rPr lang="en-IN" smtClean="0"/>
              <a:t>2</a:t>
            </a:fld>
            <a:endParaRPr lang="en-IN"/>
          </a:p>
        </p:txBody>
      </p:sp>
    </p:spTree>
    <p:extLst>
      <p:ext uri="{BB962C8B-B14F-4D97-AF65-F5344CB8AC3E}">
        <p14:creationId xmlns:p14="http://schemas.microsoft.com/office/powerpoint/2010/main" val="344610373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The data ecosystem is a complex and dynamic system that is critical to decision-making and business operations in the digital age. In this section, we will provide an overview of the data ecosystem, its importance in decision-making and business operations, key components, and evolution over time.</a:t>
            </a:r>
          </a:p>
        </p:txBody>
      </p:sp>
      <p:sp>
        <p:nvSpPr>
          <p:cNvPr id="4" name="Slide Number Placeholder 3"/>
          <p:cNvSpPr>
            <a:spLocks noGrp="1"/>
          </p:cNvSpPr>
          <p:nvPr>
            <p:ph type="sldNum" sz="quarter" idx="5"/>
          </p:nvPr>
        </p:nvSpPr>
        <p:spPr/>
        <p:txBody>
          <a:bodyPr/>
          <a:lstStyle/>
          <a:p>
            <a:fld id="{E954C772-523D-4240-82DD-A66BB6769814}" type="slidenum">
              <a:rPr lang="en-IN" smtClean="0"/>
              <a:t>3</a:t>
            </a:fld>
            <a:endParaRPr lang="en-IN"/>
          </a:p>
        </p:txBody>
      </p:sp>
    </p:spTree>
    <p:extLst>
      <p:ext uri="{BB962C8B-B14F-4D97-AF65-F5344CB8AC3E}">
        <p14:creationId xmlns:p14="http://schemas.microsoft.com/office/powerpoint/2010/main" val="412310543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The data ecosystem is a complex network of people, processes, and technologies that interact to produce, manage, and analyze data. It includes data sources, databases, analytics tools, and human operators. Understanding the data ecosystem is critical to making informed decisions and achieving business success.</a:t>
            </a:r>
          </a:p>
        </p:txBody>
      </p:sp>
      <p:sp>
        <p:nvSpPr>
          <p:cNvPr id="4" name="Slide Number Placeholder 3"/>
          <p:cNvSpPr>
            <a:spLocks noGrp="1"/>
          </p:cNvSpPr>
          <p:nvPr>
            <p:ph type="sldNum" sz="quarter" idx="5"/>
          </p:nvPr>
        </p:nvSpPr>
        <p:spPr/>
        <p:txBody>
          <a:bodyPr/>
          <a:lstStyle/>
          <a:p>
            <a:fld id="{E954C772-523D-4240-82DD-A66BB6769814}" type="slidenum">
              <a:rPr lang="en-IN" smtClean="0"/>
              <a:t>4</a:t>
            </a:fld>
            <a:endParaRPr lang="en-IN"/>
          </a:p>
        </p:txBody>
      </p:sp>
    </p:spTree>
    <p:extLst>
      <p:ext uri="{BB962C8B-B14F-4D97-AF65-F5344CB8AC3E}">
        <p14:creationId xmlns:p14="http://schemas.microsoft.com/office/powerpoint/2010/main" val="18219956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Data is the lifeblood of modern business operations. It provides valuable insights into customer behavior, market trends, and operational efficiency. With the right data, businesses can make informed decisions that drive growth and profitability.</a:t>
            </a:r>
          </a:p>
        </p:txBody>
      </p:sp>
      <p:sp>
        <p:nvSpPr>
          <p:cNvPr id="4" name="Slide Number Placeholder 3"/>
          <p:cNvSpPr>
            <a:spLocks noGrp="1"/>
          </p:cNvSpPr>
          <p:nvPr>
            <p:ph type="sldNum" sz="quarter" idx="5"/>
          </p:nvPr>
        </p:nvSpPr>
        <p:spPr/>
        <p:txBody>
          <a:bodyPr/>
          <a:lstStyle/>
          <a:p>
            <a:fld id="{E954C772-523D-4240-82DD-A66BB6769814}" type="slidenum">
              <a:rPr lang="en-IN" smtClean="0"/>
              <a:t>5</a:t>
            </a:fld>
            <a:endParaRPr lang="en-IN"/>
          </a:p>
        </p:txBody>
      </p:sp>
    </p:spTree>
    <p:extLst>
      <p:ext uri="{BB962C8B-B14F-4D97-AF65-F5344CB8AC3E}">
        <p14:creationId xmlns:p14="http://schemas.microsoft.com/office/powerpoint/2010/main" val="94775984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The data ecosystem comprises several key components, including data sources, databases, analytics tools, and human operators. Each component plays a crucial role in producing, managing, and analyzing data.</a:t>
            </a:r>
          </a:p>
        </p:txBody>
      </p:sp>
      <p:sp>
        <p:nvSpPr>
          <p:cNvPr id="4" name="Slide Number Placeholder 3"/>
          <p:cNvSpPr>
            <a:spLocks noGrp="1"/>
          </p:cNvSpPr>
          <p:nvPr>
            <p:ph type="sldNum" sz="quarter" idx="5"/>
          </p:nvPr>
        </p:nvSpPr>
        <p:spPr/>
        <p:txBody>
          <a:bodyPr/>
          <a:lstStyle/>
          <a:p>
            <a:fld id="{E954C772-523D-4240-82DD-A66BB6769814}" type="slidenum">
              <a:rPr lang="en-IN" smtClean="0"/>
              <a:t>6</a:t>
            </a:fld>
            <a:endParaRPr lang="en-IN"/>
          </a:p>
        </p:txBody>
      </p:sp>
    </p:spTree>
    <p:extLst>
      <p:ext uri="{BB962C8B-B14F-4D97-AF65-F5344CB8AC3E}">
        <p14:creationId xmlns:p14="http://schemas.microsoft.com/office/powerpoint/2010/main" val="23332361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The data ecosystem has evolved significantly over the last few decades, driven by advances in technology and changes in business needs. Understanding this evolution is critical to staying current with the latest trends and practices in the field.</a:t>
            </a:r>
          </a:p>
        </p:txBody>
      </p:sp>
      <p:sp>
        <p:nvSpPr>
          <p:cNvPr id="4" name="Slide Number Placeholder 3"/>
          <p:cNvSpPr>
            <a:spLocks noGrp="1"/>
          </p:cNvSpPr>
          <p:nvPr>
            <p:ph type="sldNum" sz="quarter" idx="5"/>
          </p:nvPr>
        </p:nvSpPr>
        <p:spPr/>
        <p:txBody>
          <a:bodyPr/>
          <a:lstStyle/>
          <a:p>
            <a:fld id="{E954C772-523D-4240-82DD-A66BB6769814}" type="slidenum">
              <a:rPr lang="en-IN" smtClean="0"/>
              <a:t>7</a:t>
            </a:fld>
            <a:endParaRPr lang="en-IN"/>
          </a:p>
        </p:txBody>
      </p:sp>
    </p:spTree>
    <p:extLst>
      <p:ext uri="{BB962C8B-B14F-4D97-AF65-F5344CB8AC3E}">
        <p14:creationId xmlns:p14="http://schemas.microsoft.com/office/powerpoint/2010/main" val="89151032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Data comes from a variety of sources, both internal and external to the organization. In this section, we will explore the different types of data sources, common data sources, and data capture methods.</a:t>
            </a:r>
          </a:p>
        </p:txBody>
      </p:sp>
      <p:sp>
        <p:nvSpPr>
          <p:cNvPr id="4" name="Slide Number Placeholder 3"/>
          <p:cNvSpPr>
            <a:spLocks noGrp="1"/>
          </p:cNvSpPr>
          <p:nvPr>
            <p:ph type="sldNum" sz="quarter" idx="5"/>
          </p:nvPr>
        </p:nvSpPr>
        <p:spPr/>
        <p:txBody>
          <a:bodyPr/>
          <a:lstStyle/>
          <a:p>
            <a:fld id="{E954C772-523D-4240-82DD-A66BB6769814}" type="slidenum">
              <a:rPr lang="en-IN" smtClean="0"/>
              <a:t>8</a:t>
            </a:fld>
            <a:endParaRPr lang="en-IN"/>
          </a:p>
        </p:txBody>
      </p:sp>
    </p:spTree>
    <p:extLst>
      <p:ext uri="{BB962C8B-B14F-4D97-AF65-F5344CB8AC3E}">
        <p14:creationId xmlns:p14="http://schemas.microsoft.com/office/powerpoint/2010/main" val="228978860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Data sources can be categorized based on several factors, including whether they are internal or external, public or private, and real-time or batch data. Each type of data source has its own unique characteristics and challenges.</a:t>
            </a:r>
          </a:p>
        </p:txBody>
      </p:sp>
      <p:sp>
        <p:nvSpPr>
          <p:cNvPr id="4" name="Slide Number Placeholder 3"/>
          <p:cNvSpPr>
            <a:spLocks noGrp="1"/>
          </p:cNvSpPr>
          <p:nvPr>
            <p:ph type="sldNum" sz="quarter" idx="5"/>
          </p:nvPr>
        </p:nvSpPr>
        <p:spPr/>
        <p:txBody>
          <a:bodyPr/>
          <a:lstStyle/>
          <a:p>
            <a:fld id="{E954C772-523D-4240-82DD-A66BB6769814}" type="slidenum">
              <a:rPr lang="en-IN" smtClean="0"/>
              <a:t>9</a:t>
            </a:fld>
            <a:endParaRPr lang="en-IN"/>
          </a:p>
        </p:txBody>
      </p:sp>
    </p:spTree>
    <p:extLst>
      <p:ext uri="{BB962C8B-B14F-4D97-AF65-F5344CB8AC3E}">
        <p14:creationId xmlns:p14="http://schemas.microsoft.com/office/powerpoint/2010/main" val="153916724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There are several common data sources, including transactional systems, IoT and sensor data, social media platforms, surveys and polls, and third-party datasets. Understanding these sources and their characteristics is crucial to successfully analyzing and managing data.</a:t>
            </a:r>
          </a:p>
        </p:txBody>
      </p:sp>
      <p:sp>
        <p:nvSpPr>
          <p:cNvPr id="4" name="Slide Number Placeholder 3"/>
          <p:cNvSpPr>
            <a:spLocks noGrp="1"/>
          </p:cNvSpPr>
          <p:nvPr>
            <p:ph type="sldNum" sz="quarter" idx="5"/>
          </p:nvPr>
        </p:nvSpPr>
        <p:spPr/>
        <p:txBody>
          <a:bodyPr/>
          <a:lstStyle/>
          <a:p>
            <a:fld id="{E954C772-523D-4240-82DD-A66BB6769814}" type="slidenum">
              <a:rPr lang="en-IN" smtClean="0"/>
              <a:t>10</a:t>
            </a:fld>
            <a:endParaRPr lang="en-IN"/>
          </a:p>
        </p:txBody>
      </p:sp>
    </p:spTree>
    <p:extLst>
      <p:ext uri="{BB962C8B-B14F-4D97-AF65-F5344CB8AC3E}">
        <p14:creationId xmlns:p14="http://schemas.microsoft.com/office/powerpoint/2010/main" val="34792381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Data can be captured using several methods, including APIs and data streams, web scraping, and manual data entry vs. automated collection. Each method has its own advantages and disadvantages, and choosing the right method depends on the specific needs of the organization.</a:t>
            </a:r>
          </a:p>
        </p:txBody>
      </p:sp>
      <p:sp>
        <p:nvSpPr>
          <p:cNvPr id="4" name="Slide Number Placeholder 3"/>
          <p:cNvSpPr>
            <a:spLocks noGrp="1"/>
          </p:cNvSpPr>
          <p:nvPr>
            <p:ph type="sldNum" sz="quarter" idx="5"/>
          </p:nvPr>
        </p:nvSpPr>
        <p:spPr/>
        <p:txBody>
          <a:bodyPr/>
          <a:lstStyle/>
          <a:p>
            <a:fld id="{E954C772-523D-4240-82DD-A66BB6769814}" type="slidenum">
              <a:rPr lang="en-IN" smtClean="0"/>
              <a:t>11</a:t>
            </a:fld>
            <a:endParaRPr lang="en-IN"/>
          </a:p>
        </p:txBody>
      </p:sp>
    </p:spTree>
    <p:extLst>
      <p:ext uri="{BB962C8B-B14F-4D97-AF65-F5344CB8AC3E}">
        <p14:creationId xmlns:p14="http://schemas.microsoft.com/office/powerpoint/2010/main" val="7852520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Databases are essential for managing and analyzing large volumes of data. In this section, we will explore the different types of databases, database management systems, and database operations.</a:t>
            </a:r>
          </a:p>
        </p:txBody>
      </p:sp>
      <p:sp>
        <p:nvSpPr>
          <p:cNvPr id="4" name="Slide Number Placeholder 3"/>
          <p:cNvSpPr>
            <a:spLocks noGrp="1"/>
          </p:cNvSpPr>
          <p:nvPr>
            <p:ph type="sldNum" sz="quarter" idx="5"/>
          </p:nvPr>
        </p:nvSpPr>
        <p:spPr/>
        <p:txBody>
          <a:bodyPr/>
          <a:lstStyle/>
          <a:p>
            <a:fld id="{E954C772-523D-4240-82DD-A66BB6769814}" type="slidenum">
              <a:rPr lang="en-IN" smtClean="0"/>
              <a:t>12</a:t>
            </a:fld>
            <a:endParaRPr lang="en-IN"/>
          </a:p>
        </p:txBody>
      </p:sp>
    </p:spTree>
    <p:extLst>
      <p:ext uri="{BB962C8B-B14F-4D97-AF65-F5344CB8AC3E}">
        <p14:creationId xmlns:p14="http://schemas.microsoft.com/office/powerpoint/2010/main" val="405581992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A database is a structured collection of data that is organized in a way that allows for efficient storage, retrieval, and analysis. Databases are essential for managing large volumes of data and ensuring data integrity.</a:t>
            </a:r>
          </a:p>
        </p:txBody>
      </p:sp>
      <p:sp>
        <p:nvSpPr>
          <p:cNvPr id="4" name="Slide Number Placeholder 3"/>
          <p:cNvSpPr>
            <a:spLocks noGrp="1"/>
          </p:cNvSpPr>
          <p:nvPr>
            <p:ph type="sldNum" sz="quarter" idx="5"/>
          </p:nvPr>
        </p:nvSpPr>
        <p:spPr/>
        <p:txBody>
          <a:bodyPr/>
          <a:lstStyle/>
          <a:p>
            <a:fld id="{E954C772-523D-4240-82DD-A66BB6769814}" type="slidenum">
              <a:rPr lang="en-IN" smtClean="0"/>
              <a:t>13</a:t>
            </a:fld>
            <a:endParaRPr lang="en-IN"/>
          </a:p>
        </p:txBody>
      </p:sp>
    </p:spTree>
    <p:extLst>
      <p:ext uri="{BB962C8B-B14F-4D97-AF65-F5344CB8AC3E}">
        <p14:creationId xmlns:p14="http://schemas.microsoft.com/office/powerpoint/2010/main" val="93769232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There are several types of databases, including relational databases, NoSQL databases, key-value stores, column-family stores, and document stores. Each type of database has its own unique advantages and disadvantages, and choosing the right type depends on the specific needs of the organization.</a:t>
            </a:r>
          </a:p>
        </p:txBody>
      </p:sp>
      <p:sp>
        <p:nvSpPr>
          <p:cNvPr id="4" name="Slide Number Placeholder 3"/>
          <p:cNvSpPr>
            <a:spLocks noGrp="1"/>
          </p:cNvSpPr>
          <p:nvPr>
            <p:ph type="sldNum" sz="quarter" idx="5"/>
          </p:nvPr>
        </p:nvSpPr>
        <p:spPr/>
        <p:txBody>
          <a:bodyPr/>
          <a:lstStyle/>
          <a:p>
            <a:fld id="{E954C772-523D-4240-82DD-A66BB6769814}" type="slidenum">
              <a:rPr lang="en-IN" smtClean="0"/>
              <a:t>14</a:t>
            </a:fld>
            <a:endParaRPr lang="en-IN"/>
          </a:p>
        </p:txBody>
      </p:sp>
    </p:spTree>
    <p:extLst>
      <p:ext uri="{BB962C8B-B14F-4D97-AF65-F5344CB8AC3E}">
        <p14:creationId xmlns:p14="http://schemas.microsoft.com/office/powerpoint/2010/main" val="162223837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A database management system (DBMS) is software that provides functions for creating, maintaining, and accessing databases. Popular DBMS solutions include MySQL, Oracle, and Microsoft SQL Server.</a:t>
            </a:r>
          </a:p>
        </p:txBody>
      </p:sp>
      <p:sp>
        <p:nvSpPr>
          <p:cNvPr id="4" name="Slide Number Placeholder 3"/>
          <p:cNvSpPr>
            <a:spLocks noGrp="1"/>
          </p:cNvSpPr>
          <p:nvPr>
            <p:ph type="sldNum" sz="quarter" idx="5"/>
          </p:nvPr>
        </p:nvSpPr>
        <p:spPr/>
        <p:txBody>
          <a:bodyPr/>
          <a:lstStyle/>
          <a:p>
            <a:fld id="{E954C772-523D-4240-82DD-A66BB6769814}" type="slidenum">
              <a:rPr lang="en-IN" smtClean="0"/>
              <a:t>15</a:t>
            </a:fld>
            <a:endParaRPr lang="en-IN"/>
          </a:p>
        </p:txBody>
      </p:sp>
    </p:spTree>
    <p:extLst>
      <p:ext uri="{BB962C8B-B14F-4D97-AF65-F5344CB8AC3E}">
        <p14:creationId xmlns:p14="http://schemas.microsoft.com/office/powerpoint/2010/main" val="405818345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Database operations include create, read, update, and delete (CRUD) operations, as well as query languages, such as SQL. Understanding these operations is essential for effectively managing and analyzing data.</a:t>
            </a:r>
          </a:p>
        </p:txBody>
      </p:sp>
      <p:sp>
        <p:nvSpPr>
          <p:cNvPr id="4" name="Slide Number Placeholder 3"/>
          <p:cNvSpPr>
            <a:spLocks noGrp="1"/>
          </p:cNvSpPr>
          <p:nvPr>
            <p:ph type="sldNum" sz="quarter" idx="5"/>
          </p:nvPr>
        </p:nvSpPr>
        <p:spPr/>
        <p:txBody>
          <a:bodyPr/>
          <a:lstStyle/>
          <a:p>
            <a:fld id="{E954C772-523D-4240-82DD-A66BB6769814}" type="slidenum">
              <a:rPr lang="en-IN" smtClean="0"/>
              <a:t>16</a:t>
            </a:fld>
            <a:endParaRPr lang="en-IN"/>
          </a:p>
        </p:txBody>
      </p:sp>
    </p:spTree>
    <p:extLst>
      <p:ext uri="{BB962C8B-B14F-4D97-AF65-F5344CB8AC3E}">
        <p14:creationId xmlns:p14="http://schemas.microsoft.com/office/powerpoint/2010/main" val="33878094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45610A-17B4-4656-93CF-E1D9982860F7}"/>
              </a:ext>
            </a:extLst>
          </p:cNvPr>
          <p:cNvSpPr>
            <a:spLocks noGrp="1"/>
          </p:cNvSpPr>
          <p:nvPr>
            <p:ph type="ctrTitle"/>
          </p:nvPr>
        </p:nvSpPr>
        <p:spPr>
          <a:xfrm>
            <a:off x="640080" y="1371599"/>
            <a:ext cx="6675120" cy="2951825"/>
          </a:xfrm>
        </p:spPr>
        <p:txBody>
          <a:bodyPr anchor="t">
            <a:normAutofit/>
          </a:bodyPr>
          <a:lstStyle>
            <a:lvl1pPr algn="l">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A451C80B-DFD6-415B-BA5B-E56E510CD12B}"/>
              </a:ext>
            </a:extLst>
          </p:cNvPr>
          <p:cNvSpPr>
            <a:spLocks noGrp="1"/>
          </p:cNvSpPr>
          <p:nvPr>
            <p:ph type="subTitle" idx="1"/>
          </p:nvPr>
        </p:nvSpPr>
        <p:spPr>
          <a:xfrm>
            <a:off x="640080" y="4584879"/>
            <a:ext cx="6675120" cy="1287887"/>
          </a:xfrm>
        </p:spPr>
        <p:txBody>
          <a:bodyPr anchor="b">
            <a:normAutofit/>
          </a:bodyPr>
          <a:lstStyle>
            <a:lvl1pPr marL="0" indent="0" algn="l">
              <a:lnSpc>
                <a:spcPct val="130000"/>
              </a:lnSpc>
              <a:buNone/>
              <a:defRPr sz="1800" b="1" cap="all" spc="3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67A2065B-06FF-4991-9F8A-4BE25457B479}"/>
              </a:ext>
            </a:extLst>
          </p:cNvPr>
          <p:cNvSpPr>
            <a:spLocks noGrp="1"/>
          </p:cNvSpPr>
          <p:nvPr>
            <p:ph type="dt" sz="half" idx="10"/>
          </p:nvPr>
        </p:nvSpPr>
        <p:spPr/>
        <p:txBody>
          <a:bodyPr/>
          <a:lstStyle/>
          <a:p>
            <a:fld id="{D1E4F734-4CE0-43CD-8447-D0FEC0900068}" type="datetime1">
              <a:rPr lang="en-US" smtClean="0"/>
              <a:t>10/3/2024</a:t>
            </a:fld>
            <a:endParaRPr lang="en-US"/>
          </a:p>
        </p:txBody>
      </p:sp>
      <p:sp>
        <p:nvSpPr>
          <p:cNvPr id="5" name="Footer Placeholder 4">
            <a:extLst>
              <a:ext uri="{FF2B5EF4-FFF2-40B4-BE49-F238E27FC236}">
                <a16:creationId xmlns:a16="http://schemas.microsoft.com/office/drawing/2014/main" id="{B20DF2FA-C604-45D8-A633-11D3742EC14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02EE5DA9-2D04-4850-AB9F-BD353816504A}"/>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34815809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08B246-6A68-46BE-9DBD-614FA8CF4E26}"/>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3E47706-8D18-4093-A7C1-F30D7543CED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EC7C8FC-AAEA-4AB6-9DB5-2503F58F0E69}"/>
              </a:ext>
            </a:extLst>
          </p:cNvPr>
          <p:cNvSpPr>
            <a:spLocks noGrp="1"/>
          </p:cNvSpPr>
          <p:nvPr>
            <p:ph type="dt" sz="half" idx="10"/>
          </p:nvPr>
        </p:nvSpPr>
        <p:spPr/>
        <p:txBody>
          <a:bodyPr/>
          <a:lstStyle/>
          <a:p>
            <a:fld id="{F4014EAD-FB97-404E-9D07-8D8C94BF29A3}" type="datetime1">
              <a:rPr lang="en-US" smtClean="0"/>
              <a:t>10/3/2024</a:t>
            </a:fld>
            <a:endParaRPr lang="en-US"/>
          </a:p>
        </p:txBody>
      </p:sp>
      <p:sp>
        <p:nvSpPr>
          <p:cNvPr id="5" name="Footer Placeholder 4">
            <a:extLst>
              <a:ext uri="{FF2B5EF4-FFF2-40B4-BE49-F238E27FC236}">
                <a16:creationId xmlns:a16="http://schemas.microsoft.com/office/drawing/2014/main" id="{E8B1616B-3F08-4869-A522-773C38940F66}"/>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3E030CE6-9124-4B3A-A912-AE16B5C34003}"/>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40701093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1BB59B6-79B9-97F5-AC3B-DF65899D39D8}"/>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6C78885-57B2-4930-BD7D-CBF916EDF1C6}"/>
              </a:ext>
            </a:extLst>
          </p:cNvPr>
          <p:cNvSpPr>
            <a:spLocks noGrp="1"/>
          </p:cNvSpPr>
          <p:nvPr>
            <p:ph type="title"/>
          </p:nvPr>
        </p:nvSpPr>
        <p:spPr>
          <a:xfrm>
            <a:off x="640080" y="1291366"/>
            <a:ext cx="9214884" cy="3159974"/>
          </a:xfrm>
        </p:spPr>
        <p:txBody>
          <a:bodyPr anchor="b">
            <a:normAutofit/>
          </a:bodyPr>
          <a:lstStyle>
            <a:lvl1pPr>
              <a:defRPr sz="54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9BE495E4-2F8B-4CC7-88AC-A312067E60D2}"/>
              </a:ext>
            </a:extLst>
          </p:cNvPr>
          <p:cNvSpPr>
            <a:spLocks noGrp="1"/>
          </p:cNvSpPr>
          <p:nvPr>
            <p:ph type="body" idx="1"/>
          </p:nvPr>
        </p:nvSpPr>
        <p:spPr>
          <a:xfrm>
            <a:off x="640080" y="5018567"/>
            <a:ext cx="7907079" cy="1073889"/>
          </a:xfrm>
        </p:spPr>
        <p:txBody>
          <a:bodyPr>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8585CC9-BAD3-4807-90BB-97DA2D6A6BE2}"/>
              </a:ext>
            </a:extLst>
          </p:cNvPr>
          <p:cNvSpPr>
            <a:spLocks noGrp="1"/>
          </p:cNvSpPr>
          <p:nvPr>
            <p:ph type="dt" sz="half" idx="10"/>
          </p:nvPr>
        </p:nvSpPr>
        <p:spPr/>
        <p:txBody>
          <a:bodyPr/>
          <a:lstStyle/>
          <a:p>
            <a:fld id="{B2B3B33E-B881-4659-A565-7234118CACB2}" type="datetime1">
              <a:rPr lang="en-US" smtClean="0"/>
              <a:t>10/3/2024</a:t>
            </a:fld>
            <a:endParaRPr lang="en-US"/>
          </a:p>
        </p:txBody>
      </p:sp>
      <p:sp>
        <p:nvSpPr>
          <p:cNvPr id="5" name="Footer Placeholder 4">
            <a:extLst>
              <a:ext uri="{FF2B5EF4-FFF2-40B4-BE49-F238E27FC236}">
                <a16:creationId xmlns:a16="http://schemas.microsoft.com/office/drawing/2014/main" id="{5F108CEF-165F-4D7E-9666-5CD0156B497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E0EBC3D-3277-4D34-9F67-71040C21E3B3}"/>
              </a:ext>
            </a:extLst>
          </p:cNvPr>
          <p:cNvSpPr>
            <a:spLocks noGrp="1"/>
          </p:cNvSpPr>
          <p:nvPr>
            <p:ph type="sldNum" sz="quarter" idx="12"/>
          </p:nvPr>
        </p:nvSpPr>
        <p:spPr/>
        <p:txBody>
          <a:bodyPr/>
          <a:lstStyle/>
          <a:p>
            <a:fld id="{70C12960-6E85-460F-B6E3-5B82CB31AF3D}" type="slidenum">
              <a:rPr lang="en-US" smtClean="0"/>
              <a:t>‹#›</a:t>
            </a:fld>
            <a:endParaRPr lang="en-US"/>
          </a:p>
        </p:txBody>
      </p:sp>
      <p:cxnSp>
        <p:nvCxnSpPr>
          <p:cNvPr id="7" name="Straight Connector 6">
            <a:extLst>
              <a:ext uri="{FF2B5EF4-FFF2-40B4-BE49-F238E27FC236}">
                <a16:creationId xmlns:a16="http://schemas.microsoft.com/office/drawing/2014/main" id="{FF05EAE5-4812-F718-6D75-9627884180BF}"/>
              </a:ext>
              <a:ext uri="{C183D7F6-B498-43B3-948B-1728B52AA6E4}">
                <adec:decorative xmlns:adec="http://schemas.microsoft.com/office/drawing/2017/decorative" val="1"/>
              </a:ext>
            </a:extLst>
          </p:cNvPr>
          <p:cNvCxnSpPr>
            <a:cxnSpLocks/>
          </p:cNvCxnSpPr>
          <p:nvPr/>
        </p:nvCxnSpPr>
        <p:spPr>
          <a:xfrm>
            <a:off x="716281" y="4715234"/>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697009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B477A4-4D01-45B6-9563-0BF13BA72F7C}"/>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EE17E00-96AC-45F0-82B2-9F601E9B93C2}"/>
              </a:ext>
            </a:extLst>
          </p:cNvPr>
          <p:cNvSpPr>
            <a:spLocks noGrp="1"/>
          </p:cNvSpPr>
          <p:nvPr>
            <p:ph sz="half" idx="1"/>
          </p:nvPr>
        </p:nvSpPr>
        <p:spPr>
          <a:xfrm>
            <a:off x="640080" y="2633472"/>
            <a:ext cx="5212080" cy="35661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72BA30CD-95C0-427B-A571-A7D8A53278F4}"/>
              </a:ext>
            </a:extLst>
          </p:cNvPr>
          <p:cNvSpPr>
            <a:spLocks noGrp="1"/>
          </p:cNvSpPr>
          <p:nvPr>
            <p:ph sz="half" idx="2"/>
          </p:nvPr>
        </p:nvSpPr>
        <p:spPr>
          <a:xfrm>
            <a:off x="6318928" y="2633472"/>
            <a:ext cx="5212080" cy="35661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6F67CAC-53E4-44AF-BEAC-8FFB96F05A86}"/>
              </a:ext>
            </a:extLst>
          </p:cNvPr>
          <p:cNvSpPr>
            <a:spLocks noGrp="1"/>
          </p:cNvSpPr>
          <p:nvPr>
            <p:ph type="dt" sz="half" idx="10"/>
          </p:nvPr>
        </p:nvSpPr>
        <p:spPr/>
        <p:txBody>
          <a:bodyPr/>
          <a:lstStyle/>
          <a:p>
            <a:fld id="{E50D4C3A-C44D-488C-A59F-2D971770C289}" type="datetime1">
              <a:rPr lang="en-US" smtClean="0"/>
              <a:t>10/3/2024</a:t>
            </a:fld>
            <a:endParaRPr lang="en-US"/>
          </a:p>
        </p:txBody>
      </p:sp>
      <p:sp>
        <p:nvSpPr>
          <p:cNvPr id="6" name="Footer Placeholder 5">
            <a:extLst>
              <a:ext uri="{FF2B5EF4-FFF2-40B4-BE49-F238E27FC236}">
                <a16:creationId xmlns:a16="http://schemas.microsoft.com/office/drawing/2014/main" id="{083D9F3A-E7F0-45E7-AFA8-0D4A669EC16C}"/>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3C5F008B-58BB-45FF-923F-5909DAB49D34}"/>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21166525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97B549-9E51-42E0-992A-73E775957773}"/>
              </a:ext>
            </a:extLst>
          </p:cNvPr>
          <p:cNvSpPr>
            <a:spLocks noGrp="1"/>
          </p:cNvSpPr>
          <p:nvPr>
            <p:ph type="title"/>
          </p:nvPr>
        </p:nvSpPr>
        <p:spPr>
          <a:xfrm>
            <a:off x="640079" y="1371599"/>
            <a:ext cx="10890929" cy="939753"/>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C81A5FDC-7C4B-45FB-8462-E2CE79919F33}"/>
              </a:ext>
            </a:extLst>
          </p:cNvPr>
          <p:cNvSpPr>
            <a:spLocks noGrp="1"/>
          </p:cNvSpPr>
          <p:nvPr>
            <p:ph type="body" idx="1"/>
          </p:nvPr>
        </p:nvSpPr>
        <p:spPr>
          <a:xfrm>
            <a:off x="640079" y="2311352"/>
            <a:ext cx="5212080" cy="695373"/>
          </a:xfrm>
        </p:spPr>
        <p:txBody>
          <a:bodyPr anchor="b">
            <a:normAutofit/>
          </a:bodyPr>
          <a:lstStyle>
            <a:lvl1pPr marL="0" indent="0">
              <a:buNone/>
              <a:defRPr sz="18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BD8B686-2E92-45B9-A3D7-9DCAA0C50B36}"/>
              </a:ext>
            </a:extLst>
          </p:cNvPr>
          <p:cNvSpPr>
            <a:spLocks noGrp="1"/>
          </p:cNvSpPr>
          <p:nvPr>
            <p:ph sz="half" idx="2"/>
          </p:nvPr>
        </p:nvSpPr>
        <p:spPr>
          <a:xfrm>
            <a:off x="640079" y="3006725"/>
            <a:ext cx="5212080" cy="31912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86ADB526-4A44-47B6-8D14-93202E590AA7}"/>
              </a:ext>
            </a:extLst>
          </p:cNvPr>
          <p:cNvSpPr>
            <a:spLocks noGrp="1"/>
          </p:cNvSpPr>
          <p:nvPr>
            <p:ph type="body" sz="quarter" idx="3"/>
          </p:nvPr>
        </p:nvSpPr>
        <p:spPr>
          <a:xfrm>
            <a:off x="6318928" y="2311352"/>
            <a:ext cx="5212080" cy="695373"/>
          </a:xfrm>
        </p:spPr>
        <p:txBody>
          <a:bodyPr anchor="b">
            <a:normAutofit/>
          </a:bodyPr>
          <a:lstStyle>
            <a:lvl1pPr marL="0" indent="0">
              <a:buNone/>
              <a:defRPr sz="18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74177CA-5C13-4311-BFD3-B98FBD942DA5}"/>
              </a:ext>
            </a:extLst>
          </p:cNvPr>
          <p:cNvSpPr>
            <a:spLocks noGrp="1"/>
          </p:cNvSpPr>
          <p:nvPr>
            <p:ph sz="quarter" idx="4"/>
          </p:nvPr>
        </p:nvSpPr>
        <p:spPr>
          <a:xfrm>
            <a:off x="6318928" y="3006725"/>
            <a:ext cx="5212080" cy="31912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DEA255A-4CB5-40CA-B756-1AA5E27C20BF}"/>
              </a:ext>
            </a:extLst>
          </p:cNvPr>
          <p:cNvSpPr>
            <a:spLocks noGrp="1"/>
          </p:cNvSpPr>
          <p:nvPr>
            <p:ph type="dt" sz="half" idx="10"/>
          </p:nvPr>
        </p:nvSpPr>
        <p:spPr/>
        <p:txBody>
          <a:bodyPr/>
          <a:lstStyle/>
          <a:p>
            <a:fld id="{54DC9CEB-4F18-437A-8D73-7D5084A9D972}" type="datetime1">
              <a:rPr lang="en-US" smtClean="0"/>
              <a:t>10/3/2024</a:t>
            </a:fld>
            <a:endParaRPr lang="en-US"/>
          </a:p>
        </p:txBody>
      </p:sp>
      <p:sp>
        <p:nvSpPr>
          <p:cNvPr id="8" name="Footer Placeholder 7">
            <a:extLst>
              <a:ext uri="{FF2B5EF4-FFF2-40B4-BE49-F238E27FC236}">
                <a16:creationId xmlns:a16="http://schemas.microsoft.com/office/drawing/2014/main" id="{FF3072C4-10F1-49B8-B0BF-69204EDDCFAE}"/>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4A5ACC97-44C1-4887-909B-E6732D3C1FFE}"/>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9183345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27D313-943A-47E0-8A7A-DFFBCC297AB7}"/>
              </a:ext>
            </a:extLst>
          </p:cNvPr>
          <p:cNvSpPr>
            <a:spLocks noGrp="1"/>
          </p:cNvSpPr>
          <p:nvPr>
            <p:ph type="title"/>
          </p:nvPr>
        </p:nvSpPr>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23AC25A7-81C8-4AA1-AD9F-C78A451FDE2E}"/>
              </a:ext>
            </a:extLst>
          </p:cNvPr>
          <p:cNvSpPr>
            <a:spLocks noGrp="1"/>
          </p:cNvSpPr>
          <p:nvPr>
            <p:ph type="dt" sz="half" idx="10"/>
          </p:nvPr>
        </p:nvSpPr>
        <p:spPr/>
        <p:txBody>
          <a:bodyPr/>
          <a:lstStyle/>
          <a:p>
            <a:fld id="{6B54A011-4834-4B70-89AF-63F33F30F174}" type="datetime1">
              <a:rPr lang="en-US" smtClean="0"/>
              <a:t>10/3/2024</a:t>
            </a:fld>
            <a:endParaRPr lang="en-US"/>
          </a:p>
        </p:txBody>
      </p:sp>
      <p:sp>
        <p:nvSpPr>
          <p:cNvPr id="4" name="Footer Placeholder 3">
            <a:extLst>
              <a:ext uri="{FF2B5EF4-FFF2-40B4-BE49-F238E27FC236}">
                <a16:creationId xmlns:a16="http://schemas.microsoft.com/office/drawing/2014/main" id="{6EF54740-6022-46B2-9C55-B60E9651684F}"/>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089497C9-6B5E-46D6-8FE9-0A5E0CF7F95B}"/>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37488810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useBgFill="1">
        <p:nvSpPr>
          <p:cNvPr id="5" name="Rectangle 4">
            <a:extLst>
              <a:ext uri="{FF2B5EF4-FFF2-40B4-BE49-F238E27FC236}">
                <a16:creationId xmlns:a16="http://schemas.microsoft.com/office/drawing/2014/main" id="{149F9F0F-FB8C-5565-247C-BDCC156B5CAF}"/>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Date Placeholder 1">
            <a:extLst>
              <a:ext uri="{FF2B5EF4-FFF2-40B4-BE49-F238E27FC236}">
                <a16:creationId xmlns:a16="http://schemas.microsoft.com/office/drawing/2014/main" id="{92740D3C-270A-401A-810C-2F86BBBB87D4}"/>
              </a:ext>
            </a:extLst>
          </p:cNvPr>
          <p:cNvSpPr>
            <a:spLocks noGrp="1"/>
          </p:cNvSpPr>
          <p:nvPr>
            <p:ph type="dt" sz="half" idx="10"/>
          </p:nvPr>
        </p:nvSpPr>
        <p:spPr/>
        <p:txBody>
          <a:bodyPr/>
          <a:lstStyle/>
          <a:p>
            <a:fld id="{68F2FF13-229D-47DA-BFAB-1ACBABD1465D}" type="datetime1">
              <a:rPr lang="en-US" smtClean="0"/>
              <a:t>10/3/2024</a:t>
            </a:fld>
            <a:endParaRPr lang="en-US"/>
          </a:p>
        </p:txBody>
      </p:sp>
      <p:sp>
        <p:nvSpPr>
          <p:cNvPr id="3" name="Footer Placeholder 2">
            <a:extLst>
              <a:ext uri="{FF2B5EF4-FFF2-40B4-BE49-F238E27FC236}">
                <a16:creationId xmlns:a16="http://schemas.microsoft.com/office/drawing/2014/main" id="{DDCBE9F8-1765-4F36-A4DE-1DB136025AC9}"/>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7790CF9E-A6C6-4873-ADBE-7A2939319E58}"/>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5214615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8CDF8-00AD-4441-A6D5-9D7A659EB6C0}"/>
              </a:ext>
            </a:extLst>
          </p:cNvPr>
          <p:cNvSpPr>
            <a:spLocks noGrp="1"/>
          </p:cNvSpPr>
          <p:nvPr>
            <p:ph type="title"/>
          </p:nvPr>
        </p:nvSpPr>
        <p:spPr>
          <a:xfrm>
            <a:off x="640080" y="1371600"/>
            <a:ext cx="3859397" cy="1451723"/>
          </a:xfrm>
        </p:spPr>
        <p:txBody>
          <a:bodyPr anchor="t">
            <a:normAutofit/>
          </a:bodyPr>
          <a:lstStyle>
            <a:lvl1pPr>
              <a:defRPr sz="36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8C330AF-CB7E-420A-AE8A-E02E90325885}"/>
              </a:ext>
            </a:extLst>
          </p:cNvPr>
          <p:cNvSpPr>
            <a:spLocks noGrp="1"/>
          </p:cNvSpPr>
          <p:nvPr>
            <p:ph idx="1"/>
          </p:nvPr>
        </p:nvSpPr>
        <p:spPr>
          <a:xfrm>
            <a:off x="4936519" y="1031001"/>
            <a:ext cx="6594490" cy="5166360"/>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F43257AD-2422-4CDA-9C55-700F4B5BF251}"/>
              </a:ext>
            </a:extLst>
          </p:cNvPr>
          <p:cNvSpPr>
            <a:spLocks noGrp="1"/>
          </p:cNvSpPr>
          <p:nvPr>
            <p:ph type="body" sz="half" idx="2"/>
          </p:nvPr>
        </p:nvSpPr>
        <p:spPr>
          <a:xfrm>
            <a:off x="640080" y="2972168"/>
            <a:ext cx="3859397" cy="3226826"/>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51B7454-C1CC-46F2-A6FB-1FE786C48F49}"/>
              </a:ext>
            </a:extLst>
          </p:cNvPr>
          <p:cNvSpPr>
            <a:spLocks noGrp="1"/>
          </p:cNvSpPr>
          <p:nvPr>
            <p:ph type="dt" sz="half" idx="10"/>
          </p:nvPr>
        </p:nvSpPr>
        <p:spPr/>
        <p:txBody>
          <a:bodyPr/>
          <a:lstStyle/>
          <a:p>
            <a:fld id="{197A8884-856C-439B-AF7C-1C7D2861978C}" type="datetime1">
              <a:rPr lang="en-US" smtClean="0"/>
              <a:t>10/3/2024</a:t>
            </a:fld>
            <a:endParaRPr lang="en-US"/>
          </a:p>
        </p:txBody>
      </p:sp>
      <p:sp>
        <p:nvSpPr>
          <p:cNvPr id="6" name="Footer Placeholder 5">
            <a:extLst>
              <a:ext uri="{FF2B5EF4-FFF2-40B4-BE49-F238E27FC236}">
                <a16:creationId xmlns:a16="http://schemas.microsoft.com/office/drawing/2014/main" id="{49077DBE-6CC7-421B-AB5E-341E20BD922B}"/>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FD6EAB8F-7526-4CDB-B782-FAD8B3E70B0A}"/>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9563668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31647F-5A61-44C9-81DC-331C9AE5DDAE}"/>
              </a:ext>
            </a:extLst>
          </p:cNvPr>
          <p:cNvSpPr>
            <a:spLocks noGrp="1"/>
          </p:cNvSpPr>
          <p:nvPr>
            <p:ph type="title"/>
          </p:nvPr>
        </p:nvSpPr>
        <p:spPr>
          <a:xfrm>
            <a:off x="640080" y="1371600"/>
            <a:ext cx="3859397" cy="1451723"/>
          </a:xfrm>
        </p:spPr>
        <p:txBody>
          <a:bodyPr anchor="t">
            <a:normAutofit/>
          </a:bodyPr>
          <a:lstStyle>
            <a:lvl1pPr>
              <a:defRPr sz="36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31627A0F-F1B8-49BE-A0FF-7FE16E3BDCC1}"/>
              </a:ext>
            </a:extLst>
          </p:cNvPr>
          <p:cNvSpPr>
            <a:spLocks noGrp="1"/>
          </p:cNvSpPr>
          <p:nvPr>
            <p:ph type="pic" idx="1"/>
          </p:nvPr>
        </p:nvSpPr>
        <p:spPr>
          <a:xfrm>
            <a:off x="4937760" y="1033271"/>
            <a:ext cx="6592824" cy="516636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C86D1BD6-1519-4431-9FAF-7D4F4129972C}"/>
              </a:ext>
            </a:extLst>
          </p:cNvPr>
          <p:cNvSpPr>
            <a:spLocks noGrp="1"/>
          </p:cNvSpPr>
          <p:nvPr>
            <p:ph type="body" sz="half" idx="2"/>
          </p:nvPr>
        </p:nvSpPr>
        <p:spPr>
          <a:xfrm>
            <a:off x="640080" y="2972167"/>
            <a:ext cx="3859397" cy="322682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5A587A0-353B-42C2-BA96-B1ADEDF642BE}"/>
              </a:ext>
            </a:extLst>
          </p:cNvPr>
          <p:cNvSpPr>
            <a:spLocks noGrp="1"/>
          </p:cNvSpPr>
          <p:nvPr>
            <p:ph type="dt" sz="half" idx="10"/>
          </p:nvPr>
        </p:nvSpPr>
        <p:spPr/>
        <p:txBody>
          <a:bodyPr/>
          <a:lstStyle/>
          <a:p>
            <a:fld id="{E9D4B2D7-05CB-4198-85A9-12D37B00971F}" type="datetime1">
              <a:rPr lang="en-US" smtClean="0"/>
              <a:t>10/3/2024</a:t>
            </a:fld>
            <a:endParaRPr lang="en-US"/>
          </a:p>
        </p:txBody>
      </p:sp>
      <p:sp>
        <p:nvSpPr>
          <p:cNvPr id="6" name="Footer Placeholder 5">
            <a:extLst>
              <a:ext uri="{FF2B5EF4-FFF2-40B4-BE49-F238E27FC236}">
                <a16:creationId xmlns:a16="http://schemas.microsoft.com/office/drawing/2014/main" id="{44D5A88E-3957-4B76-B1BE-4164029217B5}"/>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A5F7C5FD-E56A-4C66-8F23-087F95A2FD0E}"/>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20997878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E4BB7-3F30-4C31-9BB2-8EC24FC0A1D6}"/>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1ECF4134-70F5-4EE6-88BE-49D129630CD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C19EABC7-C044-44DE-B303-55A0581DA1E8}"/>
              </a:ext>
            </a:extLst>
          </p:cNvPr>
          <p:cNvSpPr>
            <a:spLocks noGrp="1"/>
          </p:cNvSpPr>
          <p:nvPr>
            <p:ph type="dt" sz="half" idx="10"/>
          </p:nvPr>
        </p:nvSpPr>
        <p:spPr/>
        <p:txBody>
          <a:bodyPr/>
          <a:lstStyle/>
          <a:p>
            <a:fld id="{42DC1B8E-6FE3-4F2C-AD7F-9570F93D14BD}" type="datetime1">
              <a:rPr lang="en-US" smtClean="0"/>
              <a:t>10/3/2024</a:t>
            </a:fld>
            <a:endParaRPr lang="en-US"/>
          </a:p>
        </p:txBody>
      </p:sp>
      <p:sp>
        <p:nvSpPr>
          <p:cNvPr id="5" name="Footer Placeholder 4">
            <a:extLst>
              <a:ext uri="{FF2B5EF4-FFF2-40B4-BE49-F238E27FC236}">
                <a16:creationId xmlns:a16="http://schemas.microsoft.com/office/drawing/2014/main" id="{4D4A63E1-5BC5-402E-9916-BAB84BCF0BB2}"/>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0A2EF915-AF64-4ECC-8B1A-B7E6A89B7917}"/>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7430775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1CB3635-47E1-90D8-B693-DA85A66B3831}"/>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Vertical Title 1">
            <a:extLst>
              <a:ext uri="{FF2B5EF4-FFF2-40B4-BE49-F238E27FC236}">
                <a16:creationId xmlns:a16="http://schemas.microsoft.com/office/drawing/2014/main" id="{6EB09414-2AA1-4D8E-A00A-C092FBC92D91}"/>
              </a:ext>
            </a:extLst>
          </p:cNvPr>
          <p:cNvSpPr>
            <a:spLocks noGrp="1"/>
          </p:cNvSpPr>
          <p:nvPr>
            <p:ph type="title" orient="vert"/>
          </p:nvPr>
        </p:nvSpPr>
        <p:spPr>
          <a:xfrm>
            <a:off x="9209219" y="640079"/>
            <a:ext cx="1811773" cy="5536884"/>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D42C3A78-37C5-46D0-9DF4-CB78AF883C2C}"/>
              </a:ext>
            </a:extLst>
          </p:cNvPr>
          <p:cNvSpPr>
            <a:spLocks noGrp="1"/>
          </p:cNvSpPr>
          <p:nvPr>
            <p:ph type="body" orient="vert" idx="1"/>
          </p:nvPr>
        </p:nvSpPr>
        <p:spPr>
          <a:xfrm>
            <a:off x="640080" y="640080"/>
            <a:ext cx="8412422" cy="553688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49D8705E-925D-4F57-8268-107CE3CF4C45}"/>
              </a:ext>
            </a:extLst>
          </p:cNvPr>
          <p:cNvSpPr>
            <a:spLocks noGrp="1"/>
          </p:cNvSpPr>
          <p:nvPr>
            <p:ph type="dt" sz="half" idx="10"/>
          </p:nvPr>
        </p:nvSpPr>
        <p:spPr/>
        <p:txBody>
          <a:bodyPr/>
          <a:lstStyle/>
          <a:p>
            <a:fld id="{C49B7B7F-3388-4A80-B4F4-95316F49B099}" type="datetime1">
              <a:rPr lang="en-US" smtClean="0"/>
              <a:t>10/3/2024</a:t>
            </a:fld>
            <a:endParaRPr lang="en-US"/>
          </a:p>
        </p:txBody>
      </p:sp>
      <p:sp>
        <p:nvSpPr>
          <p:cNvPr id="5" name="Footer Placeholder 4">
            <a:extLst>
              <a:ext uri="{FF2B5EF4-FFF2-40B4-BE49-F238E27FC236}">
                <a16:creationId xmlns:a16="http://schemas.microsoft.com/office/drawing/2014/main" id="{50FE207E-070D-4EC8-A44C-21F1815FDAA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15D01D1-C266-4161-A820-C084B980131C}"/>
              </a:ext>
            </a:extLst>
          </p:cNvPr>
          <p:cNvSpPr>
            <a:spLocks noGrp="1"/>
          </p:cNvSpPr>
          <p:nvPr>
            <p:ph type="sldNum" sz="quarter" idx="12"/>
          </p:nvPr>
        </p:nvSpPr>
        <p:spPr/>
        <p:txBody>
          <a:bodyPr/>
          <a:lstStyle/>
          <a:p>
            <a:fld id="{70C12960-6E85-460F-B6E3-5B82CB31AF3D}" type="slidenum">
              <a:rPr lang="en-US" smtClean="0"/>
              <a:t>‹#›</a:t>
            </a:fld>
            <a:endParaRPr lang="en-US"/>
          </a:p>
        </p:txBody>
      </p:sp>
      <p:cxnSp>
        <p:nvCxnSpPr>
          <p:cNvPr id="7" name="Straight Connector 6">
            <a:extLst>
              <a:ext uri="{FF2B5EF4-FFF2-40B4-BE49-F238E27FC236}">
                <a16:creationId xmlns:a16="http://schemas.microsoft.com/office/drawing/2014/main" id="{3230604F-219C-2DEE-830E-27274CC2FE19}"/>
              </a:ext>
              <a:ext uri="{C183D7F6-B498-43B3-948B-1728B52AA6E4}">
                <adec:decorative xmlns:adec="http://schemas.microsoft.com/office/drawing/2017/decorative" val="1"/>
              </a:ext>
            </a:extLst>
          </p:cNvPr>
          <p:cNvCxnSpPr>
            <a:cxnSpLocks/>
          </p:cNvCxnSpPr>
          <p:nvPr/>
        </p:nvCxnSpPr>
        <p:spPr>
          <a:xfrm rot="5400000">
            <a:off x="10872154" y="1192438"/>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239277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AB4E786-7636-4278-8595-D365D28A796A}"/>
              </a:ext>
            </a:extLst>
          </p:cNvPr>
          <p:cNvSpPr>
            <a:spLocks noGrp="1"/>
          </p:cNvSpPr>
          <p:nvPr>
            <p:ph type="title"/>
          </p:nvPr>
        </p:nvSpPr>
        <p:spPr>
          <a:xfrm>
            <a:off x="640079" y="1371601"/>
            <a:ext cx="10890929" cy="109728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EA740849-7059-4C70-992B-5304D2EE9BAB}"/>
              </a:ext>
            </a:extLst>
          </p:cNvPr>
          <p:cNvSpPr>
            <a:spLocks noGrp="1"/>
          </p:cNvSpPr>
          <p:nvPr>
            <p:ph type="body" idx="1"/>
          </p:nvPr>
        </p:nvSpPr>
        <p:spPr>
          <a:xfrm>
            <a:off x="640080" y="2633472"/>
            <a:ext cx="10890928" cy="356616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D09FEBF6-CEA6-4332-87B3-697807571C84}"/>
              </a:ext>
            </a:extLst>
          </p:cNvPr>
          <p:cNvSpPr>
            <a:spLocks noGrp="1"/>
          </p:cNvSpPr>
          <p:nvPr>
            <p:ph type="dt" sz="half" idx="2"/>
          </p:nvPr>
        </p:nvSpPr>
        <p:spPr>
          <a:xfrm>
            <a:off x="640080" y="6356350"/>
            <a:ext cx="2743200" cy="365125"/>
          </a:xfrm>
          <a:prstGeom prst="rect">
            <a:avLst/>
          </a:prstGeom>
        </p:spPr>
        <p:txBody>
          <a:bodyPr vert="horz" lIns="91440" tIns="45720" rIns="91440" bIns="45720" rtlCol="0" anchor="ctr"/>
          <a:lstStyle>
            <a:lvl1pPr algn="l">
              <a:defRPr sz="900" b="1" cap="all" spc="300" baseline="0">
                <a:solidFill>
                  <a:schemeClr val="tx1"/>
                </a:solidFill>
              </a:defRPr>
            </a:lvl1pPr>
          </a:lstStyle>
          <a:p>
            <a:fld id="{8F75A8C0-D565-48B6-A3F1-32BF0C2CE7CC}" type="datetime1">
              <a:rPr lang="en-US" smtClean="0"/>
              <a:t>10/3/2024</a:t>
            </a:fld>
            <a:endParaRPr lang="en-US"/>
          </a:p>
        </p:txBody>
      </p:sp>
      <p:sp>
        <p:nvSpPr>
          <p:cNvPr id="5" name="Footer Placeholder 4">
            <a:extLst>
              <a:ext uri="{FF2B5EF4-FFF2-40B4-BE49-F238E27FC236}">
                <a16:creationId xmlns:a16="http://schemas.microsoft.com/office/drawing/2014/main" id="{BC6BAF94-621C-43E1-BA0C-410A6899031B}"/>
              </a:ext>
            </a:extLst>
          </p:cNvPr>
          <p:cNvSpPr>
            <a:spLocks noGrp="1"/>
          </p:cNvSpPr>
          <p:nvPr>
            <p:ph type="ftr" sz="quarter" idx="3"/>
          </p:nvPr>
        </p:nvSpPr>
        <p:spPr>
          <a:xfrm>
            <a:off x="6767622" y="6356350"/>
            <a:ext cx="4040373" cy="365125"/>
          </a:xfrm>
          <a:prstGeom prst="rect">
            <a:avLst/>
          </a:prstGeom>
        </p:spPr>
        <p:txBody>
          <a:bodyPr vert="horz" lIns="91440" tIns="45720" rIns="91440" bIns="45720" rtlCol="0" anchor="ctr"/>
          <a:lstStyle>
            <a:lvl1pPr algn="r">
              <a:defRPr sz="900" b="1" cap="all" spc="300" baseline="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137D19E5-9E16-48C9-AAE2-0C70679A8D7B}"/>
              </a:ext>
            </a:extLst>
          </p:cNvPr>
          <p:cNvSpPr>
            <a:spLocks noGrp="1"/>
          </p:cNvSpPr>
          <p:nvPr>
            <p:ph type="sldNum" sz="quarter" idx="4"/>
          </p:nvPr>
        </p:nvSpPr>
        <p:spPr>
          <a:xfrm>
            <a:off x="10807995" y="6356350"/>
            <a:ext cx="723014" cy="365125"/>
          </a:xfrm>
          <a:prstGeom prst="rect">
            <a:avLst/>
          </a:prstGeom>
        </p:spPr>
        <p:txBody>
          <a:bodyPr vert="horz" lIns="91440" tIns="45720" rIns="91440" bIns="45720" rtlCol="0" anchor="ctr"/>
          <a:lstStyle>
            <a:lvl1pPr algn="r">
              <a:defRPr sz="900" b="1" cap="all" spc="300" baseline="0">
                <a:solidFill>
                  <a:schemeClr val="tx1"/>
                </a:solidFill>
              </a:defRPr>
            </a:lvl1pPr>
          </a:lstStyle>
          <a:p>
            <a:fld id="{70C12960-6E85-460F-B6E3-5B82CB31AF3D}" type="slidenum">
              <a:rPr lang="en-US" smtClean="0"/>
              <a:pPr/>
              <a:t>‹#›</a:t>
            </a:fld>
            <a:endParaRPr lang="en-US" dirty="0"/>
          </a:p>
        </p:txBody>
      </p:sp>
      <p:cxnSp>
        <p:nvCxnSpPr>
          <p:cNvPr id="9" name="Straight Connector 8">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p:cNvCxnSpPr>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0952524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100000"/>
        </a:lnSpc>
        <a:spcBef>
          <a:spcPct val="0"/>
        </a:spcBef>
        <a:buNone/>
        <a:defRPr sz="40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87000"/>
        <a:buFont typeface="Arial" panose="020B0604020202020204" pitchFamily="34" charset="0"/>
        <a:buChar char="•"/>
        <a:defRPr sz="2000" kern="1200">
          <a:solidFill>
            <a:schemeClr val="tx1"/>
          </a:solidFill>
          <a:latin typeface="+mn-lt"/>
          <a:ea typeface="+mn-ea"/>
          <a:cs typeface="+mn-cs"/>
        </a:defRPr>
      </a:lvl1pPr>
      <a:lvl2pPr marL="493776" indent="-228600" algn="l" defTabSz="914400" rtl="0" eaLnBrk="1" latinLnBrk="0" hangingPunct="1">
        <a:lnSpc>
          <a:spcPct val="120000"/>
        </a:lnSpc>
        <a:spcBef>
          <a:spcPts val="500"/>
        </a:spcBef>
        <a:buSzPct val="87000"/>
        <a:buFont typeface="Arial" panose="020B0604020202020204" pitchFamily="34" charset="0"/>
        <a:buChar char="•"/>
        <a:defRPr sz="1800" kern="1200">
          <a:solidFill>
            <a:schemeClr val="tx1"/>
          </a:solidFill>
          <a:latin typeface="+mn-lt"/>
          <a:ea typeface="+mn-ea"/>
          <a:cs typeface="+mn-cs"/>
        </a:defRPr>
      </a:lvl2pPr>
      <a:lvl3pPr marL="731520" indent="-228600" algn="l" defTabSz="914400" rtl="0" eaLnBrk="1" latinLnBrk="0" hangingPunct="1">
        <a:lnSpc>
          <a:spcPct val="120000"/>
        </a:lnSpc>
        <a:spcBef>
          <a:spcPts val="500"/>
        </a:spcBef>
        <a:buSzPct val="87000"/>
        <a:buFont typeface="Arial" panose="020B0604020202020204" pitchFamily="34" charset="0"/>
        <a:buChar char="•"/>
        <a:defRPr sz="1600" kern="1200">
          <a:solidFill>
            <a:schemeClr val="tx1"/>
          </a:solidFill>
          <a:latin typeface="+mn-lt"/>
          <a:ea typeface="+mn-ea"/>
          <a:cs typeface="+mn-cs"/>
        </a:defRPr>
      </a:lvl3pPr>
      <a:lvl4pPr marL="1051560" indent="-28575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4pPr>
      <a:lvl5pPr marL="1298448" indent="-22860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9F9BF86-FE94-4517-B97D-026C7515E5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45BE400B-0E93-4CDD-8F9E-C64A14440120}"/>
              </a:ext>
            </a:extLst>
          </p:cNvPr>
          <p:cNvPicPr>
            <a:picLocks noChangeAspect="1"/>
          </p:cNvPicPr>
          <p:nvPr/>
        </p:nvPicPr>
        <p:blipFill>
          <a:blip r:embed="rId3"/>
          <a:srcRect l="4236" r="38914"/>
          <a:stretch/>
        </p:blipFill>
        <p:spPr>
          <a:xfrm>
            <a:off x="20" y="10"/>
            <a:ext cx="6931132" cy="6857990"/>
          </a:xfrm>
          <a:prstGeom prst="rect">
            <a:avLst/>
          </a:prstGeom>
        </p:spPr>
      </p:pic>
      <p:sp>
        <p:nvSpPr>
          <p:cNvPr id="2" name="Title 1">
            <a:extLst>
              <a:ext uri="{FF2B5EF4-FFF2-40B4-BE49-F238E27FC236}">
                <a16:creationId xmlns:a16="http://schemas.microsoft.com/office/drawing/2014/main" id="{A8AD648B-8D2F-2449-0DD7-2D436C49680F}"/>
              </a:ext>
            </a:extLst>
          </p:cNvPr>
          <p:cNvSpPr>
            <a:spLocks noGrp="1"/>
          </p:cNvSpPr>
          <p:nvPr>
            <p:ph type="ctrTitle"/>
          </p:nvPr>
        </p:nvSpPr>
        <p:spPr>
          <a:xfrm>
            <a:off x="7537528" y="1032764"/>
            <a:ext cx="4308672" cy="3224045"/>
          </a:xfrm>
        </p:spPr>
        <p:txBody>
          <a:bodyPr anchor="b">
            <a:normAutofit/>
          </a:bodyPr>
          <a:lstStyle/>
          <a:p>
            <a:pPr>
              <a:lnSpc>
                <a:spcPct val="90000"/>
              </a:lnSpc>
            </a:pPr>
            <a:r>
              <a:rPr lang="en-IN" sz="4500" dirty="0"/>
              <a:t>The Data Ecosystem: </a:t>
            </a:r>
            <a:r>
              <a:rPr lang="en-IN" sz="4500"/>
              <a:t>Comprehensive Introduction</a:t>
            </a:r>
            <a:endParaRPr lang="en-IN" sz="4500" dirty="0"/>
          </a:p>
        </p:txBody>
      </p:sp>
      <p:sp>
        <p:nvSpPr>
          <p:cNvPr id="3" name="Subtitle 2">
            <a:extLst>
              <a:ext uri="{FF2B5EF4-FFF2-40B4-BE49-F238E27FC236}">
                <a16:creationId xmlns:a16="http://schemas.microsoft.com/office/drawing/2014/main" id="{D735EB5A-BCF2-0CFA-30A8-DB8CBE03D297}"/>
              </a:ext>
            </a:extLst>
          </p:cNvPr>
          <p:cNvSpPr>
            <a:spLocks noGrp="1"/>
          </p:cNvSpPr>
          <p:nvPr>
            <p:ph type="subTitle" idx="1"/>
          </p:nvPr>
        </p:nvSpPr>
        <p:spPr>
          <a:xfrm>
            <a:off x="7535756" y="5046281"/>
            <a:ext cx="4308672" cy="1172408"/>
          </a:xfrm>
        </p:spPr>
        <p:txBody>
          <a:bodyPr anchor="t">
            <a:normAutofit/>
          </a:bodyPr>
          <a:lstStyle/>
          <a:p>
            <a:r>
              <a:rPr lang="en-IN"/>
              <a:t>Exploring the Components of Data Ecosystem</a:t>
            </a:r>
          </a:p>
        </p:txBody>
      </p:sp>
      <p:cxnSp>
        <p:nvCxnSpPr>
          <p:cNvPr id="11" name="Straight Connector 10">
            <a:extLst>
              <a:ext uri="{FF2B5EF4-FFF2-40B4-BE49-F238E27FC236}">
                <a16:creationId xmlns:a16="http://schemas.microsoft.com/office/drawing/2014/main" id="{6CA391F1-4B2C-521B-F6A5-52C74B30349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675848" y="4711579"/>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5" name="Slide Number Placeholder 4">
            <a:extLst>
              <a:ext uri="{FF2B5EF4-FFF2-40B4-BE49-F238E27FC236}">
                <a16:creationId xmlns:a16="http://schemas.microsoft.com/office/drawing/2014/main" id="{454E8777-3C1E-65CC-B06E-ED733703D82F}"/>
              </a:ext>
            </a:extLst>
          </p:cNvPr>
          <p:cNvSpPr>
            <a:spLocks noGrp="1"/>
          </p:cNvSpPr>
          <p:nvPr>
            <p:ph type="sldNum" sz="quarter" idx="12"/>
          </p:nvPr>
        </p:nvSpPr>
        <p:spPr/>
        <p:txBody>
          <a:bodyPr/>
          <a:lstStyle/>
          <a:p>
            <a:fld id="{70C12960-6E85-460F-B6E3-5B82CB31AF3D}" type="slidenum">
              <a:rPr lang="en-US" smtClean="0"/>
              <a:t>1</a:t>
            </a:fld>
            <a:endParaRPr lang="en-US"/>
          </a:p>
        </p:txBody>
      </p:sp>
    </p:spTree>
    <p:extLst>
      <p:ext uri="{BB962C8B-B14F-4D97-AF65-F5344CB8AC3E}">
        <p14:creationId xmlns:p14="http://schemas.microsoft.com/office/powerpoint/2010/main" val="21482723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par>
                                <p:cTn id="11" presetID="42" presetClass="entr" presetSubtype="0" fill="hold" grpId="1" nodeType="withEffect">
                                  <p:stCondLst>
                                    <p:cond delay="250"/>
                                  </p:stCondLst>
                                  <p:iterate type="lt">
                                    <p:tmPct val="10000"/>
                                  </p:iterate>
                                  <p:childTnLst>
                                    <p:set>
                                      <p:cBhvr>
                                        <p:cTn id="12" dur="1" fill="hold">
                                          <p:stCondLst>
                                            <p:cond delay="0"/>
                                          </p:stCondLst>
                                        </p:cTn>
                                        <p:tgtEl>
                                          <p:spTgt spid="3"/>
                                        </p:tgtEl>
                                        <p:attrNameLst>
                                          <p:attrName>style.visibility</p:attrName>
                                        </p:attrNameLst>
                                      </p:cBhvr>
                                      <p:to>
                                        <p:strVal val="visible"/>
                                      </p:to>
                                    </p:set>
                                    <p:animEffect transition="in" filter="fade">
                                      <p:cBhvr>
                                        <p:cTn id="13" dur="250"/>
                                        <p:tgtEl>
                                          <p:spTgt spid="3"/>
                                        </p:tgtEl>
                                      </p:cBhvr>
                                    </p:animEffect>
                                    <p:anim calcmode="lin" valueType="num">
                                      <p:cBhvr>
                                        <p:cTn id="14" dur="250" fill="hold"/>
                                        <p:tgtEl>
                                          <p:spTgt spid="3"/>
                                        </p:tgtEl>
                                        <p:attrNameLst>
                                          <p:attrName>ppt_x</p:attrName>
                                        </p:attrNameLst>
                                      </p:cBhvr>
                                      <p:tavLst>
                                        <p:tav tm="0">
                                          <p:val>
                                            <p:strVal val="#ppt_x"/>
                                          </p:val>
                                        </p:tav>
                                        <p:tav tm="100000">
                                          <p:val>
                                            <p:strVal val="#ppt_x"/>
                                          </p:val>
                                        </p:tav>
                                      </p:tavLst>
                                    </p:anim>
                                    <p:anim calcmode="lin" valueType="num">
                                      <p:cBhvr>
                                        <p:cTn id="15"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3" grpId="1"/>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useBgFill="1">
        <p:nvSpPr>
          <p:cNvPr id="12" name="Rectangle 11">
            <a:extLst>
              <a:ext uri="{FF2B5EF4-FFF2-40B4-BE49-F238E27FC236}">
                <a16:creationId xmlns:a16="http://schemas.microsoft.com/office/drawing/2014/main" id="{744CAA32-F237-419C-A2DD-43C28D920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abstract programm binary code  and colored array cube Database">
            <a:extLst>
              <a:ext uri="{FF2B5EF4-FFF2-40B4-BE49-F238E27FC236}">
                <a16:creationId xmlns:a16="http://schemas.microsoft.com/office/drawing/2014/main" id="{0C725008-5ECE-436C-97D0-B2704E1900A2}"/>
              </a:ext>
            </a:extLst>
          </p:cNvPr>
          <p:cNvPicPr>
            <a:picLocks noGrp="1" noChangeAspect="1"/>
          </p:cNvPicPr>
          <p:nvPr>
            <p:ph sz="half" idx="1"/>
          </p:nvPr>
        </p:nvPicPr>
        <p:blipFill>
          <a:blip r:embed="rId3"/>
          <a:srcRect l="24144" r="2" b="2"/>
          <a:stretch/>
        </p:blipFill>
        <p:spPr>
          <a:xfrm>
            <a:off x="-1" y="914399"/>
            <a:ext cx="6657255" cy="5353523"/>
          </a:xfrm>
          <a:prstGeom prst="rect">
            <a:avLst/>
          </a:prstGeom>
        </p:spPr>
      </p:pic>
      <p:cxnSp>
        <p:nvCxnSpPr>
          <p:cNvPr id="14" name="Straight Connector 13">
            <a:extLst>
              <a:ext uri="{FF2B5EF4-FFF2-40B4-BE49-F238E27FC236}">
                <a16:creationId xmlns:a16="http://schemas.microsoft.com/office/drawing/2014/main" id="{08052531-D50B-3899-B150-D05525F4F2B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0" y="6267922"/>
            <a:ext cx="6656832" cy="1"/>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B43404C9-3C51-64AF-8EDA-61346BED3414}"/>
              </a:ext>
            </a:extLst>
          </p:cNvPr>
          <p:cNvSpPr>
            <a:spLocks noGrp="1"/>
          </p:cNvSpPr>
          <p:nvPr>
            <p:ph type="title"/>
          </p:nvPr>
        </p:nvSpPr>
        <p:spPr>
          <a:xfrm>
            <a:off x="7269904" y="914400"/>
            <a:ext cx="4261104" cy="1097280"/>
          </a:xfrm>
        </p:spPr>
        <p:txBody>
          <a:bodyPr vert="horz" lIns="91440" tIns="45720" rIns="91440" bIns="45720" rtlCol="0" anchor="t">
            <a:normAutofit/>
          </a:bodyPr>
          <a:lstStyle/>
          <a:p>
            <a:r>
              <a:rPr lang="en-US" sz="3600"/>
              <a:t>Course Contents</a:t>
            </a:r>
          </a:p>
        </p:txBody>
      </p:sp>
      <p:sp>
        <p:nvSpPr>
          <p:cNvPr id="4" name="Content Placeholder 3">
            <a:extLst>
              <a:ext uri="{FF2B5EF4-FFF2-40B4-BE49-F238E27FC236}">
                <a16:creationId xmlns:a16="http://schemas.microsoft.com/office/drawing/2014/main" id="{D4D2BC59-B5E1-4471-7D41-F620925BDD0E}"/>
              </a:ext>
            </a:extLst>
          </p:cNvPr>
          <p:cNvSpPr>
            <a:spLocks noGrp="1"/>
          </p:cNvSpPr>
          <p:nvPr>
            <p:ph sz="half" idx="2"/>
          </p:nvPr>
        </p:nvSpPr>
        <p:spPr>
          <a:xfrm>
            <a:off x="7269905" y="2176036"/>
            <a:ext cx="4261104" cy="4121887"/>
          </a:xfrm>
        </p:spPr>
        <p:txBody>
          <a:bodyPr vert="horz" lIns="91440" tIns="45720" rIns="91440" bIns="45720" rtlCol="0">
            <a:normAutofit/>
          </a:bodyPr>
          <a:lstStyle/>
          <a:p>
            <a:r>
              <a:rPr lang="en-US"/>
              <a:t>Introduction to the Data Ecosystem</a:t>
            </a:r>
          </a:p>
          <a:p>
            <a:r>
              <a:rPr lang="en-US"/>
              <a:t>Sources of Data</a:t>
            </a:r>
          </a:p>
          <a:p>
            <a:r>
              <a:rPr lang="en-US"/>
              <a:t>Databases</a:t>
            </a:r>
          </a:p>
        </p:txBody>
      </p:sp>
      <p:sp>
        <p:nvSpPr>
          <p:cNvPr id="3" name="Slide Number Placeholder 2">
            <a:extLst>
              <a:ext uri="{FF2B5EF4-FFF2-40B4-BE49-F238E27FC236}">
                <a16:creationId xmlns:a16="http://schemas.microsoft.com/office/drawing/2014/main" id="{FBD0C404-18BA-286D-4923-BE50EE277C0D}"/>
              </a:ext>
            </a:extLst>
          </p:cNvPr>
          <p:cNvSpPr>
            <a:spLocks noGrp="1"/>
          </p:cNvSpPr>
          <p:nvPr>
            <p:ph type="sldNum" sz="quarter" idx="12"/>
          </p:nvPr>
        </p:nvSpPr>
        <p:spPr/>
        <p:txBody>
          <a:bodyPr/>
          <a:lstStyle/>
          <a:p>
            <a:fld id="{70C12960-6E85-460F-B6E3-5B82CB31AF3D}" type="slidenum">
              <a:rPr lang="en-US" smtClean="0"/>
              <a:t>2</a:t>
            </a:fld>
            <a:endParaRPr lang="en-US"/>
          </a:p>
        </p:txBody>
      </p:sp>
    </p:spTree>
    <p:extLst>
      <p:ext uri="{BB962C8B-B14F-4D97-AF65-F5344CB8AC3E}">
        <p14:creationId xmlns:p14="http://schemas.microsoft.com/office/powerpoint/2010/main" val="352880936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useBgFill="1">
        <p:nvSpPr>
          <p:cNvPr id="9" name="Rectangle 8">
            <a:extLst>
              <a:ext uri="{FF2B5EF4-FFF2-40B4-BE49-F238E27FC236}">
                <a16:creationId xmlns:a16="http://schemas.microsoft.com/office/drawing/2014/main" id="{46B9231A-B34B-4A29-A6AC-532E1EE815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randview Display"/>
              <a:ea typeface="+mn-ea"/>
              <a:cs typeface="+mn-cs"/>
            </a:endParaRPr>
          </a:p>
        </p:txBody>
      </p:sp>
      <p:sp useBgFill="1">
        <p:nvSpPr>
          <p:cNvPr id="11" name="Rectangle 10">
            <a:extLst>
              <a:ext uri="{FF2B5EF4-FFF2-40B4-BE49-F238E27FC236}">
                <a16:creationId xmlns:a16="http://schemas.microsoft.com/office/drawing/2014/main" id="{19F9BF86-FE94-4517-B97D-026C7515E5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randview Display"/>
              <a:ea typeface="+mn-ea"/>
              <a:cs typeface="+mn-cs"/>
            </a:endParaRPr>
          </a:p>
        </p:txBody>
      </p:sp>
      <p:sp>
        <p:nvSpPr>
          <p:cNvPr id="2" name="Title 1">
            <a:extLst>
              <a:ext uri="{FF2B5EF4-FFF2-40B4-BE49-F238E27FC236}">
                <a16:creationId xmlns:a16="http://schemas.microsoft.com/office/drawing/2014/main" id="{68980F7B-4F63-5222-EE05-4E75C084AD5E}"/>
              </a:ext>
            </a:extLst>
          </p:cNvPr>
          <p:cNvSpPr>
            <a:spLocks noGrp="1"/>
          </p:cNvSpPr>
          <p:nvPr>
            <p:ph type="title"/>
          </p:nvPr>
        </p:nvSpPr>
        <p:spPr>
          <a:xfrm>
            <a:off x="559219" y="1115844"/>
            <a:ext cx="7680960" cy="4631911"/>
          </a:xfrm>
        </p:spPr>
        <p:txBody>
          <a:bodyPr vert="horz" lIns="91440" tIns="45720" rIns="91440" bIns="45720" rtlCol="0" anchor="b">
            <a:normAutofit/>
          </a:bodyPr>
          <a:lstStyle/>
          <a:p>
            <a:r>
              <a:rPr lang="en-US" sz="6500"/>
              <a:t>Introduction to the Data Ecosystem</a:t>
            </a:r>
          </a:p>
        </p:txBody>
      </p:sp>
      <p:cxnSp>
        <p:nvCxnSpPr>
          <p:cNvPr id="13" name="Straight Connector 12">
            <a:extLst>
              <a:ext uri="{FF2B5EF4-FFF2-40B4-BE49-F238E27FC236}">
                <a16:creationId xmlns:a16="http://schemas.microsoft.com/office/drawing/2014/main" id="{53C0BBAA-A5EC-5D5D-32E6-9F7EA604848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23131" y="6268313"/>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3" name="Slide Number Placeholder 2">
            <a:extLst>
              <a:ext uri="{FF2B5EF4-FFF2-40B4-BE49-F238E27FC236}">
                <a16:creationId xmlns:a16="http://schemas.microsoft.com/office/drawing/2014/main" id="{51A4961C-DB50-D31B-7483-D8F7F85C3EF0}"/>
              </a:ext>
            </a:extLst>
          </p:cNvPr>
          <p:cNvSpPr>
            <a:spLocks noGrp="1"/>
          </p:cNvSpPr>
          <p:nvPr>
            <p:ph type="sldNum" sz="quarter" idx="12"/>
          </p:nvPr>
        </p:nvSpPr>
        <p:spPr/>
        <p:txBody>
          <a:bodyPr/>
          <a:lstStyle/>
          <a:p>
            <a:fld id="{70C12960-6E85-460F-B6E3-5B82CB31AF3D}" type="slidenum">
              <a:rPr lang="en-US" smtClean="0"/>
              <a:t>3</a:t>
            </a:fld>
            <a:endParaRPr lang="en-US"/>
          </a:p>
        </p:txBody>
      </p:sp>
    </p:spTree>
    <p:extLst>
      <p:ext uri="{BB962C8B-B14F-4D97-AF65-F5344CB8AC3E}">
        <p14:creationId xmlns:p14="http://schemas.microsoft.com/office/powerpoint/2010/main" val="183944665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useBgFill="1">
        <p:nvSpPr>
          <p:cNvPr id="12" name="Rectangle 11">
            <a:extLst>
              <a:ext uri="{FF2B5EF4-FFF2-40B4-BE49-F238E27FC236}">
                <a16:creationId xmlns:a16="http://schemas.microsoft.com/office/drawing/2014/main" id="{744CAA32-F237-419C-A2DD-43C28D920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Internet of Things Concept">
            <a:extLst>
              <a:ext uri="{FF2B5EF4-FFF2-40B4-BE49-F238E27FC236}">
                <a16:creationId xmlns:a16="http://schemas.microsoft.com/office/drawing/2014/main" id="{D7E8CDEB-D3D2-4D9E-97D9-0B1F2CB6266A}"/>
              </a:ext>
            </a:extLst>
          </p:cNvPr>
          <p:cNvPicPr>
            <a:picLocks noGrp="1" noChangeAspect="1"/>
          </p:cNvPicPr>
          <p:nvPr>
            <p:ph sz="half" idx="1"/>
          </p:nvPr>
        </p:nvPicPr>
        <p:blipFill>
          <a:blip r:embed="rId3"/>
          <a:srcRect l="17800" r="27134" b="2"/>
          <a:stretch/>
        </p:blipFill>
        <p:spPr>
          <a:xfrm>
            <a:off x="20" y="914399"/>
            <a:ext cx="4416532" cy="5353523"/>
          </a:xfrm>
          <a:prstGeom prst="rect">
            <a:avLst/>
          </a:prstGeom>
        </p:spPr>
      </p:pic>
      <p:cxnSp>
        <p:nvCxnSpPr>
          <p:cNvPr id="14" name="Straight Connector 13">
            <a:extLst>
              <a:ext uri="{FF2B5EF4-FFF2-40B4-BE49-F238E27FC236}">
                <a16:creationId xmlns:a16="http://schemas.microsoft.com/office/drawing/2014/main" id="{08052531-D50B-3899-B150-D05525F4F2B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0" y="6267922"/>
            <a:ext cx="4416552" cy="1"/>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09A05F38-35B1-C263-7749-D3F0FDB3B063}"/>
              </a:ext>
            </a:extLst>
          </p:cNvPr>
          <p:cNvSpPr>
            <a:spLocks noGrp="1"/>
          </p:cNvSpPr>
          <p:nvPr>
            <p:ph type="title"/>
          </p:nvPr>
        </p:nvSpPr>
        <p:spPr>
          <a:xfrm>
            <a:off x="5029200" y="914400"/>
            <a:ext cx="6501810" cy="1097280"/>
          </a:xfrm>
        </p:spPr>
        <p:txBody>
          <a:bodyPr vert="horz" lIns="91440" tIns="45720" rIns="91440" bIns="45720" rtlCol="0" anchor="t">
            <a:normAutofit/>
          </a:bodyPr>
          <a:lstStyle/>
          <a:p>
            <a:pPr>
              <a:lnSpc>
                <a:spcPct val="90000"/>
              </a:lnSpc>
            </a:pPr>
            <a:r>
              <a:rPr lang="en-US" sz="3400"/>
              <a:t>Overview of the Data Ecosystem</a:t>
            </a:r>
          </a:p>
        </p:txBody>
      </p:sp>
      <p:sp>
        <p:nvSpPr>
          <p:cNvPr id="4" name="Content Placeholder 3">
            <a:extLst>
              <a:ext uri="{FF2B5EF4-FFF2-40B4-BE49-F238E27FC236}">
                <a16:creationId xmlns:a16="http://schemas.microsoft.com/office/drawing/2014/main" id="{5AED169E-C176-2C6A-E779-4332AFFDEAC7}"/>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029200" y="2176036"/>
            <a:ext cx="6501810" cy="4121885"/>
          </a:xfrm>
        </p:spPr>
        <p:txBody>
          <a:bodyPr>
            <a:normAutofit/>
          </a:bodyPr>
          <a:lstStyle/>
          <a:p>
            <a:pPr marL="0" indent="0">
              <a:spcBef>
                <a:spcPts val="2500"/>
              </a:spcBef>
              <a:buNone/>
            </a:pPr>
            <a:r>
              <a:rPr lang="en-US" sz="1400" b="1"/>
              <a:t>Data Sources</a:t>
            </a:r>
          </a:p>
          <a:p>
            <a:pPr marL="0" lvl="1" indent="0">
              <a:buNone/>
            </a:pPr>
            <a:r>
              <a:rPr lang="en-US" sz="1400"/>
              <a:t>Data sources are the origin of the data and can be internal or external to the organization. Understanding data sources is essential for assessing data quality and reliability.</a:t>
            </a:r>
          </a:p>
          <a:p>
            <a:pPr marL="0" indent="0">
              <a:spcBef>
                <a:spcPts val="2500"/>
              </a:spcBef>
              <a:buNone/>
            </a:pPr>
            <a:r>
              <a:rPr lang="en-US" sz="1400" b="1"/>
              <a:t>Databases</a:t>
            </a:r>
          </a:p>
          <a:p>
            <a:pPr marL="0" lvl="1" indent="0">
              <a:buNone/>
            </a:pPr>
            <a:r>
              <a:rPr lang="en-US" sz="1400"/>
              <a:t>Databases are the foundation of the data ecosystem and provide a means to store, manage, and organize data. Understanding databases is crucial for ensuring data integrity and security.</a:t>
            </a:r>
          </a:p>
          <a:p>
            <a:pPr marL="0" indent="0">
              <a:spcBef>
                <a:spcPts val="2500"/>
              </a:spcBef>
              <a:buNone/>
            </a:pPr>
            <a:r>
              <a:rPr lang="en-US" sz="1400" b="1"/>
              <a:t>Analytics Tools</a:t>
            </a:r>
          </a:p>
          <a:p>
            <a:pPr marL="0" lvl="1" indent="0">
              <a:buNone/>
            </a:pPr>
            <a:r>
              <a:rPr lang="en-US" sz="1400"/>
              <a:t>Analytics tools are critical for extracting insights and value from data. Understanding analytics tools is essential for identifying patterns and trends, and making informed decisions.</a:t>
            </a:r>
            <a:endParaRPr lang="en-IN" sz="1400"/>
          </a:p>
        </p:txBody>
      </p:sp>
      <p:sp>
        <p:nvSpPr>
          <p:cNvPr id="3" name="Slide Number Placeholder 2">
            <a:extLst>
              <a:ext uri="{FF2B5EF4-FFF2-40B4-BE49-F238E27FC236}">
                <a16:creationId xmlns:a16="http://schemas.microsoft.com/office/drawing/2014/main" id="{B57320D8-02AE-2BC2-20E2-D7A4C97AEFB2}"/>
              </a:ext>
            </a:extLst>
          </p:cNvPr>
          <p:cNvSpPr>
            <a:spLocks noGrp="1"/>
          </p:cNvSpPr>
          <p:nvPr>
            <p:ph type="sldNum" sz="quarter" idx="12"/>
          </p:nvPr>
        </p:nvSpPr>
        <p:spPr/>
        <p:txBody>
          <a:bodyPr/>
          <a:lstStyle/>
          <a:p>
            <a:fld id="{70C12960-6E85-460F-B6E3-5B82CB31AF3D}" type="slidenum">
              <a:rPr lang="en-US" smtClean="0"/>
              <a:t>4</a:t>
            </a:fld>
            <a:endParaRPr lang="en-US"/>
          </a:p>
        </p:txBody>
      </p:sp>
    </p:spTree>
    <p:extLst>
      <p:ext uri="{BB962C8B-B14F-4D97-AF65-F5344CB8AC3E}">
        <p14:creationId xmlns:p14="http://schemas.microsoft.com/office/powerpoint/2010/main" val="268475039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useBgFill="1">
        <p:nvSpPr>
          <p:cNvPr id="12" name="Rectangle 11">
            <a:extLst>
              <a:ext uri="{FF2B5EF4-FFF2-40B4-BE49-F238E27FC236}">
                <a16:creationId xmlns:a16="http://schemas.microsoft.com/office/drawing/2014/main" id="{744CAA32-F237-419C-A2DD-43C28D920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graphs and charts  Financial data analyzingPlease see some similar pictures from my lightbox:">
            <a:extLst>
              <a:ext uri="{FF2B5EF4-FFF2-40B4-BE49-F238E27FC236}">
                <a16:creationId xmlns:a16="http://schemas.microsoft.com/office/drawing/2014/main" id="{62A0B16A-FA02-4896-9474-3C578A10B5A6}"/>
              </a:ext>
            </a:extLst>
          </p:cNvPr>
          <p:cNvPicPr>
            <a:picLocks noGrp="1" noChangeAspect="1"/>
          </p:cNvPicPr>
          <p:nvPr>
            <p:ph sz="half" idx="1"/>
          </p:nvPr>
        </p:nvPicPr>
        <p:blipFill>
          <a:blip r:embed="rId3"/>
          <a:srcRect l="18327" r="26606" b="2"/>
          <a:stretch/>
        </p:blipFill>
        <p:spPr>
          <a:xfrm>
            <a:off x="20" y="914399"/>
            <a:ext cx="4416532" cy="5353523"/>
          </a:xfrm>
          <a:prstGeom prst="rect">
            <a:avLst/>
          </a:prstGeom>
        </p:spPr>
      </p:pic>
      <p:cxnSp>
        <p:nvCxnSpPr>
          <p:cNvPr id="14" name="Straight Connector 13">
            <a:extLst>
              <a:ext uri="{FF2B5EF4-FFF2-40B4-BE49-F238E27FC236}">
                <a16:creationId xmlns:a16="http://schemas.microsoft.com/office/drawing/2014/main" id="{08052531-D50B-3899-B150-D05525F4F2B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0" y="6267922"/>
            <a:ext cx="4416552" cy="1"/>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739C2B10-CF04-1470-2A87-7F66A8045593}"/>
              </a:ext>
            </a:extLst>
          </p:cNvPr>
          <p:cNvSpPr>
            <a:spLocks noGrp="1"/>
          </p:cNvSpPr>
          <p:nvPr>
            <p:ph type="title"/>
          </p:nvPr>
        </p:nvSpPr>
        <p:spPr>
          <a:xfrm>
            <a:off x="5029200" y="914400"/>
            <a:ext cx="6501810" cy="1097280"/>
          </a:xfrm>
        </p:spPr>
        <p:txBody>
          <a:bodyPr vert="horz" lIns="91440" tIns="45720" rIns="91440" bIns="45720" rtlCol="0" anchor="t">
            <a:normAutofit/>
          </a:bodyPr>
          <a:lstStyle/>
          <a:p>
            <a:pPr>
              <a:lnSpc>
                <a:spcPct val="90000"/>
              </a:lnSpc>
            </a:pPr>
            <a:r>
              <a:rPr lang="en-US" sz="3400"/>
              <a:t>Importance of Data in Decision-Making and Business Operations</a:t>
            </a:r>
          </a:p>
        </p:txBody>
      </p:sp>
      <p:sp>
        <p:nvSpPr>
          <p:cNvPr id="4" name="Content Placeholder 3">
            <a:extLst>
              <a:ext uri="{FF2B5EF4-FFF2-40B4-BE49-F238E27FC236}">
                <a16:creationId xmlns:a16="http://schemas.microsoft.com/office/drawing/2014/main" id="{456F17F0-8C33-EF7B-4846-F51D0BAE9F8B}"/>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029200" y="2176036"/>
            <a:ext cx="6501810" cy="4121885"/>
          </a:xfrm>
        </p:spPr>
        <p:txBody>
          <a:bodyPr>
            <a:normAutofit/>
          </a:bodyPr>
          <a:lstStyle/>
          <a:p>
            <a:pPr marL="0" indent="0">
              <a:spcBef>
                <a:spcPts val="2500"/>
              </a:spcBef>
              <a:buNone/>
            </a:pPr>
            <a:r>
              <a:rPr lang="en-US" sz="1400" b="1"/>
              <a:t>Customer Behavior Insights</a:t>
            </a:r>
          </a:p>
          <a:p>
            <a:pPr marL="0" lvl="1" indent="0">
              <a:buNone/>
            </a:pPr>
            <a:r>
              <a:rPr lang="en-US" sz="1400"/>
              <a:t>Data provides valuable insights into customer behavior and preferences, allowing businesses to tailor their products and services to meet the needs of their target audience.</a:t>
            </a:r>
          </a:p>
          <a:p>
            <a:pPr marL="0" indent="0">
              <a:spcBef>
                <a:spcPts val="2500"/>
              </a:spcBef>
              <a:buNone/>
            </a:pPr>
            <a:r>
              <a:rPr lang="en-US" sz="1400" b="1"/>
              <a:t>Market Trend Analysis</a:t>
            </a:r>
          </a:p>
          <a:p>
            <a:pPr marL="0" lvl="1" indent="0">
              <a:buNone/>
            </a:pPr>
            <a:r>
              <a:rPr lang="en-US" sz="1400"/>
              <a:t>Data helps businesses stay on top of market trends and identify emerging opportunities, enabling them to adapt quickly to changing market conditions.</a:t>
            </a:r>
          </a:p>
          <a:p>
            <a:pPr marL="0" indent="0">
              <a:spcBef>
                <a:spcPts val="2500"/>
              </a:spcBef>
              <a:buNone/>
            </a:pPr>
            <a:r>
              <a:rPr lang="en-US" sz="1400" b="1"/>
              <a:t>Operational Efficiency Improvement</a:t>
            </a:r>
          </a:p>
          <a:p>
            <a:pPr marL="0" lvl="1" indent="0">
              <a:buNone/>
            </a:pPr>
            <a:r>
              <a:rPr lang="en-US" sz="1400"/>
              <a:t>Data can help businesses identify areas of inefficiency and waste in their operations, allowing them to streamline processes and reduce costs.</a:t>
            </a:r>
            <a:endParaRPr lang="en-IN" sz="1400"/>
          </a:p>
        </p:txBody>
      </p:sp>
      <p:sp>
        <p:nvSpPr>
          <p:cNvPr id="3" name="Slide Number Placeholder 2">
            <a:extLst>
              <a:ext uri="{FF2B5EF4-FFF2-40B4-BE49-F238E27FC236}">
                <a16:creationId xmlns:a16="http://schemas.microsoft.com/office/drawing/2014/main" id="{F3527802-D40E-4E3B-D1FF-E3A9753BDE55}"/>
              </a:ext>
            </a:extLst>
          </p:cNvPr>
          <p:cNvSpPr>
            <a:spLocks noGrp="1"/>
          </p:cNvSpPr>
          <p:nvPr>
            <p:ph type="sldNum" sz="quarter" idx="12"/>
          </p:nvPr>
        </p:nvSpPr>
        <p:spPr/>
        <p:txBody>
          <a:bodyPr/>
          <a:lstStyle/>
          <a:p>
            <a:fld id="{70C12960-6E85-460F-B6E3-5B82CB31AF3D}" type="slidenum">
              <a:rPr lang="en-US" smtClean="0"/>
              <a:t>5</a:t>
            </a:fld>
            <a:endParaRPr lang="en-US"/>
          </a:p>
        </p:txBody>
      </p:sp>
    </p:spTree>
    <p:extLst>
      <p:ext uri="{BB962C8B-B14F-4D97-AF65-F5344CB8AC3E}">
        <p14:creationId xmlns:p14="http://schemas.microsoft.com/office/powerpoint/2010/main" val="229006042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useBgFill="1">
        <p:nvSpPr>
          <p:cNvPr id="12" name="Rectangle 11">
            <a:extLst>
              <a:ext uri="{FF2B5EF4-FFF2-40B4-BE49-F238E27FC236}">
                <a16:creationId xmlns:a16="http://schemas.microsoft.com/office/drawing/2014/main" id="{8FCE029E-5073-4498-8104-8427AA9873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randview Display"/>
              <a:ea typeface="+mn-ea"/>
              <a:cs typeface="+mn-cs"/>
            </a:endParaRPr>
          </a:p>
        </p:txBody>
      </p:sp>
      <p:pic>
        <p:nvPicPr>
          <p:cNvPr id="5" name="Content Placeholder 4" descr="Teamwork concept with two businessman, &quot;searching&quot; and &quot;idea&quot; symbols. Solving problem concept with two businessman. First with search symbol instead of head, second with &quot; idea&quot; symbol. Between is data cloud with progress / thinking / growth symbols.">
            <a:extLst>
              <a:ext uri="{FF2B5EF4-FFF2-40B4-BE49-F238E27FC236}">
                <a16:creationId xmlns:a16="http://schemas.microsoft.com/office/drawing/2014/main" id="{2559381E-A781-4FD1-9128-A90496722DCC}"/>
              </a:ext>
            </a:extLst>
          </p:cNvPr>
          <p:cNvPicPr>
            <a:picLocks noGrp="1" noChangeAspect="1"/>
          </p:cNvPicPr>
          <p:nvPr>
            <p:ph sz="half" idx="1"/>
          </p:nvPr>
        </p:nvPicPr>
        <p:blipFill>
          <a:blip r:embed="rId3"/>
          <a:srcRect t="4995" r="-2" b="-2"/>
          <a:stretch/>
        </p:blipFill>
        <p:spPr>
          <a:xfrm>
            <a:off x="1" y="2613892"/>
            <a:ext cx="4946906" cy="3689359"/>
          </a:xfrm>
          <a:prstGeom prst="rect">
            <a:avLst/>
          </a:prstGeom>
        </p:spPr>
      </p:pic>
      <p:cxnSp>
        <p:nvCxnSpPr>
          <p:cNvPr id="14" name="Straight Connector 13">
            <a:extLst>
              <a:ext uri="{FF2B5EF4-FFF2-40B4-BE49-F238E27FC236}">
                <a16:creationId xmlns:a16="http://schemas.microsoft.com/office/drawing/2014/main" id="{BEFF515C-2521-4964-9DAC-2BFB8EC86AE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0" y="6274446"/>
            <a:ext cx="4946904" cy="1"/>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18D76DD7-B3EB-E896-EDAD-DE8E753B0934}"/>
              </a:ext>
            </a:extLst>
          </p:cNvPr>
          <p:cNvSpPr>
            <a:spLocks noGrp="1"/>
          </p:cNvSpPr>
          <p:nvPr>
            <p:ph type="title"/>
          </p:nvPr>
        </p:nvSpPr>
        <p:spPr>
          <a:xfrm>
            <a:off x="640080" y="914401"/>
            <a:ext cx="4306824" cy="1477817"/>
          </a:xfrm>
        </p:spPr>
        <p:txBody>
          <a:bodyPr vert="horz" lIns="91440" tIns="45720" rIns="91440" bIns="45720" rtlCol="0" anchor="t">
            <a:normAutofit/>
          </a:bodyPr>
          <a:lstStyle/>
          <a:p>
            <a:r>
              <a:rPr lang="en-US" sz="3700"/>
              <a:t>Key Components of the Data Ecosystem</a:t>
            </a:r>
          </a:p>
        </p:txBody>
      </p:sp>
      <p:sp>
        <p:nvSpPr>
          <p:cNvPr id="4" name="Content Placeholder 3">
            <a:extLst>
              <a:ext uri="{FF2B5EF4-FFF2-40B4-BE49-F238E27FC236}">
                <a16:creationId xmlns:a16="http://schemas.microsoft.com/office/drawing/2014/main" id="{41ED1698-F05D-DAD5-8BED-665EE6EC1CBF}"/>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641848" y="1014984"/>
            <a:ext cx="5889161" cy="5288267"/>
          </a:xfrm>
        </p:spPr>
        <p:txBody>
          <a:bodyPr>
            <a:normAutofit/>
          </a:bodyPr>
          <a:lstStyle/>
          <a:p>
            <a:pPr marL="0" indent="0">
              <a:spcBef>
                <a:spcPts val="2500"/>
              </a:spcBef>
              <a:buNone/>
            </a:pPr>
            <a:r>
              <a:rPr lang="en-US" sz="1400" b="1"/>
              <a:t>Data Sources</a:t>
            </a:r>
          </a:p>
          <a:p>
            <a:pPr marL="0" lvl="1" indent="0">
              <a:buNone/>
            </a:pPr>
            <a:r>
              <a:rPr lang="en-US" sz="1400"/>
              <a:t>Data sources are the origin of raw data, such as sensors, social media, or public records, that are used to produce, manage, and analyze data.</a:t>
            </a:r>
          </a:p>
          <a:p>
            <a:pPr marL="0" indent="0">
              <a:spcBef>
                <a:spcPts val="2500"/>
              </a:spcBef>
              <a:buNone/>
            </a:pPr>
            <a:r>
              <a:rPr lang="en-US" sz="1400" b="1"/>
              <a:t>Databases</a:t>
            </a:r>
          </a:p>
          <a:p>
            <a:pPr marL="0" lvl="1" indent="0">
              <a:buNone/>
            </a:pPr>
            <a:r>
              <a:rPr lang="en-US" sz="1400"/>
              <a:t>Databases are a structured collection of data that are organized, managed, and accessed by computers. They enable efficient data storage, retrieval, and data management.</a:t>
            </a:r>
          </a:p>
          <a:p>
            <a:pPr marL="0" indent="0">
              <a:spcBef>
                <a:spcPts val="2500"/>
              </a:spcBef>
              <a:buNone/>
            </a:pPr>
            <a:r>
              <a:rPr lang="en-US" sz="1400" b="1"/>
              <a:t>Analytics Tools</a:t>
            </a:r>
          </a:p>
          <a:p>
            <a:pPr marL="0" lvl="1" indent="0">
              <a:buNone/>
            </a:pPr>
            <a:r>
              <a:rPr lang="en-US" sz="1400"/>
              <a:t>Analytics tools are software applications that enable data exploration, visualization, and analysis, such as business intelligence, machine learning, or data mining tools.</a:t>
            </a:r>
          </a:p>
          <a:p>
            <a:pPr marL="0" indent="0">
              <a:spcBef>
                <a:spcPts val="2500"/>
              </a:spcBef>
              <a:buNone/>
            </a:pPr>
            <a:r>
              <a:rPr lang="en-US" sz="1400" b="1"/>
              <a:t>Human Operators</a:t>
            </a:r>
          </a:p>
          <a:p>
            <a:pPr marL="0" lvl="1" indent="0">
              <a:buNone/>
            </a:pPr>
            <a:r>
              <a:rPr lang="en-US" sz="1400"/>
              <a:t>Human operators are individuals responsible for managing, developing, and analyzing data in the data ecosystem.</a:t>
            </a:r>
            <a:endParaRPr lang="en-IN" sz="1400"/>
          </a:p>
        </p:txBody>
      </p:sp>
      <p:sp>
        <p:nvSpPr>
          <p:cNvPr id="3" name="Slide Number Placeholder 2">
            <a:extLst>
              <a:ext uri="{FF2B5EF4-FFF2-40B4-BE49-F238E27FC236}">
                <a16:creationId xmlns:a16="http://schemas.microsoft.com/office/drawing/2014/main" id="{6585F85D-21BB-91FA-D94B-95DAC1628E5B}"/>
              </a:ext>
            </a:extLst>
          </p:cNvPr>
          <p:cNvSpPr>
            <a:spLocks noGrp="1"/>
          </p:cNvSpPr>
          <p:nvPr>
            <p:ph type="sldNum" sz="quarter" idx="12"/>
          </p:nvPr>
        </p:nvSpPr>
        <p:spPr/>
        <p:txBody>
          <a:bodyPr/>
          <a:lstStyle/>
          <a:p>
            <a:fld id="{70C12960-6E85-460F-B6E3-5B82CB31AF3D}" type="slidenum">
              <a:rPr lang="en-US" smtClean="0"/>
              <a:t>6</a:t>
            </a:fld>
            <a:endParaRPr lang="en-US"/>
          </a:p>
        </p:txBody>
      </p:sp>
    </p:spTree>
    <p:extLst>
      <p:ext uri="{BB962C8B-B14F-4D97-AF65-F5344CB8AC3E}">
        <p14:creationId xmlns:p14="http://schemas.microsoft.com/office/powerpoint/2010/main" val="378764686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useBgFill="1">
        <p:nvSpPr>
          <p:cNvPr id="12" name="Rectangle 11">
            <a:extLst>
              <a:ext uri="{FF2B5EF4-FFF2-40B4-BE49-F238E27FC236}">
                <a16:creationId xmlns:a16="http://schemas.microsoft.com/office/drawing/2014/main" id="{8FCE029E-5073-4498-8104-8427AA9873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randview Display"/>
              <a:ea typeface="+mn-ea"/>
              <a:cs typeface="+mn-cs"/>
            </a:endParaRPr>
          </a:p>
        </p:txBody>
      </p:sp>
      <p:pic>
        <p:nvPicPr>
          <p:cNvPr id="5" name="Content Placeholder 4" descr="Scientist viewing DNA test results on a computer screen in the laboratory">
            <a:extLst>
              <a:ext uri="{FF2B5EF4-FFF2-40B4-BE49-F238E27FC236}">
                <a16:creationId xmlns:a16="http://schemas.microsoft.com/office/drawing/2014/main" id="{2AF96342-687B-425A-BAC4-03517AF123D2}"/>
              </a:ext>
            </a:extLst>
          </p:cNvPr>
          <p:cNvPicPr>
            <a:picLocks noGrp="1" noChangeAspect="1"/>
          </p:cNvPicPr>
          <p:nvPr>
            <p:ph sz="half" idx="1"/>
          </p:nvPr>
        </p:nvPicPr>
        <p:blipFill>
          <a:blip r:embed="rId3"/>
          <a:srcRect l="1112" r="-2" b="-2"/>
          <a:stretch/>
        </p:blipFill>
        <p:spPr>
          <a:xfrm>
            <a:off x="1" y="2613892"/>
            <a:ext cx="4946906" cy="3689359"/>
          </a:xfrm>
          <a:prstGeom prst="rect">
            <a:avLst/>
          </a:prstGeom>
        </p:spPr>
      </p:pic>
      <p:cxnSp>
        <p:nvCxnSpPr>
          <p:cNvPr id="14" name="Straight Connector 13">
            <a:extLst>
              <a:ext uri="{FF2B5EF4-FFF2-40B4-BE49-F238E27FC236}">
                <a16:creationId xmlns:a16="http://schemas.microsoft.com/office/drawing/2014/main" id="{BEFF515C-2521-4964-9DAC-2BFB8EC86AE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0" y="6274446"/>
            <a:ext cx="4946904" cy="1"/>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8A4485DC-786E-EBB5-D18C-4E9BE418788D}"/>
              </a:ext>
            </a:extLst>
          </p:cNvPr>
          <p:cNvSpPr>
            <a:spLocks noGrp="1"/>
          </p:cNvSpPr>
          <p:nvPr>
            <p:ph type="title"/>
          </p:nvPr>
        </p:nvSpPr>
        <p:spPr>
          <a:xfrm>
            <a:off x="640080" y="914401"/>
            <a:ext cx="4306824" cy="1477817"/>
          </a:xfrm>
        </p:spPr>
        <p:txBody>
          <a:bodyPr vert="horz" lIns="91440" tIns="45720" rIns="91440" bIns="45720" rtlCol="0" anchor="t">
            <a:normAutofit/>
          </a:bodyPr>
          <a:lstStyle/>
          <a:p>
            <a:r>
              <a:rPr lang="en-US"/>
              <a:t>Evolution of Data Ecosystems</a:t>
            </a:r>
          </a:p>
        </p:txBody>
      </p:sp>
      <p:sp>
        <p:nvSpPr>
          <p:cNvPr id="4" name="Content Placeholder 3">
            <a:extLst>
              <a:ext uri="{FF2B5EF4-FFF2-40B4-BE49-F238E27FC236}">
                <a16:creationId xmlns:a16="http://schemas.microsoft.com/office/drawing/2014/main" id="{822CA94A-079A-56AC-0727-535934B0D742}"/>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641848" y="1014984"/>
            <a:ext cx="5889161" cy="5288267"/>
          </a:xfrm>
        </p:spPr>
        <p:txBody>
          <a:bodyPr>
            <a:normAutofit/>
          </a:bodyPr>
          <a:lstStyle/>
          <a:p>
            <a:pPr marL="0" indent="0">
              <a:spcBef>
                <a:spcPts val="2500"/>
              </a:spcBef>
              <a:buNone/>
            </a:pPr>
            <a:r>
              <a:rPr lang="en-US" sz="1400" b="1"/>
              <a:t>Batch Processing</a:t>
            </a:r>
          </a:p>
          <a:p>
            <a:pPr marL="0" lvl="1" indent="0">
              <a:buNone/>
            </a:pPr>
            <a:r>
              <a:rPr lang="en-US" sz="1400"/>
              <a:t>Batch processing was the earliest form of data processing, where data was collected and processed in batches at a later time. It was the primary method used for data processing until the arrival of real-time processing.</a:t>
            </a:r>
          </a:p>
          <a:p>
            <a:pPr marL="0" indent="0">
              <a:spcBef>
                <a:spcPts val="2500"/>
              </a:spcBef>
              <a:buNone/>
            </a:pPr>
            <a:r>
              <a:rPr lang="en-US" sz="1400" b="1"/>
              <a:t>Real-Time Processing</a:t>
            </a:r>
          </a:p>
          <a:p>
            <a:pPr marL="0" lvl="1" indent="0">
              <a:buNone/>
            </a:pPr>
            <a:r>
              <a:rPr lang="en-US" sz="1400"/>
              <a:t>Real-time processing refers to the ability to process data immediately as it becomes available. This has become more common with the advent of new technologies like the internet and the cloud.</a:t>
            </a:r>
          </a:p>
          <a:p>
            <a:pPr marL="0" indent="0">
              <a:spcBef>
                <a:spcPts val="2500"/>
              </a:spcBef>
              <a:buNone/>
            </a:pPr>
            <a:r>
              <a:rPr lang="en-US" sz="1400" b="1"/>
              <a:t>Big Data</a:t>
            </a:r>
          </a:p>
          <a:p>
            <a:pPr marL="0" lvl="1" indent="0">
              <a:buNone/>
            </a:pPr>
            <a:r>
              <a:rPr lang="en-US" sz="1400"/>
              <a:t>The term Big Data refers to the large and complex sets of data that are difficult to process using traditional data processing methods. It has become increasingly popular with the advent of the internet and is used in a variety of industries to gain insights and drive decision-making.</a:t>
            </a:r>
            <a:endParaRPr lang="en-IN" sz="1400"/>
          </a:p>
        </p:txBody>
      </p:sp>
      <p:sp>
        <p:nvSpPr>
          <p:cNvPr id="3" name="Slide Number Placeholder 2">
            <a:extLst>
              <a:ext uri="{FF2B5EF4-FFF2-40B4-BE49-F238E27FC236}">
                <a16:creationId xmlns:a16="http://schemas.microsoft.com/office/drawing/2014/main" id="{62AC1029-E96A-7470-F66D-044695310F52}"/>
              </a:ext>
            </a:extLst>
          </p:cNvPr>
          <p:cNvSpPr>
            <a:spLocks noGrp="1"/>
          </p:cNvSpPr>
          <p:nvPr>
            <p:ph type="sldNum" sz="quarter" idx="12"/>
          </p:nvPr>
        </p:nvSpPr>
        <p:spPr/>
        <p:txBody>
          <a:bodyPr/>
          <a:lstStyle/>
          <a:p>
            <a:fld id="{70C12960-6E85-460F-B6E3-5B82CB31AF3D}" type="slidenum">
              <a:rPr lang="en-US" smtClean="0"/>
              <a:t>7</a:t>
            </a:fld>
            <a:endParaRPr lang="en-US"/>
          </a:p>
        </p:txBody>
      </p:sp>
    </p:spTree>
    <p:extLst>
      <p:ext uri="{BB962C8B-B14F-4D97-AF65-F5344CB8AC3E}">
        <p14:creationId xmlns:p14="http://schemas.microsoft.com/office/powerpoint/2010/main" val="282644160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useBgFill="1">
        <p:nvSpPr>
          <p:cNvPr id="9" name="Rectangle 8">
            <a:extLst>
              <a:ext uri="{FF2B5EF4-FFF2-40B4-BE49-F238E27FC236}">
                <a16:creationId xmlns:a16="http://schemas.microsoft.com/office/drawing/2014/main" id="{46B9231A-B34B-4A29-A6AC-532E1EE815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randview Display"/>
              <a:ea typeface="+mn-ea"/>
              <a:cs typeface="+mn-cs"/>
            </a:endParaRPr>
          </a:p>
        </p:txBody>
      </p:sp>
      <p:sp useBgFill="1">
        <p:nvSpPr>
          <p:cNvPr id="11" name="Rectangle 10">
            <a:extLst>
              <a:ext uri="{FF2B5EF4-FFF2-40B4-BE49-F238E27FC236}">
                <a16:creationId xmlns:a16="http://schemas.microsoft.com/office/drawing/2014/main" id="{19F9BF86-FE94-4517-B97D-026C7515E5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randview Display"/>
              <a:ea typeface="+mn-ea"/>
              <a:cs typeface="+mn-cs"/>
            </a:endParaRPr>
          </a:p>
        </p:txBody>
      </p:sp>
      <p:sp>
        <p:nvSpPr>
          <p:cNvPr id="2" name="Title 1">
            <a:extLst>
              <a:ext uri="{FF2B5EF4-FFF2-40B4-BE49-F238E27FC236}">
                <a16:creationId xmlns:a16="http://schemas.microsoft.com/office/drawing/2014/main" id="{97C7BF85-C36F-016B-941E-B59248D0D4C0}"/>
              </a:ext>
            </a:extLst>
          </p:cNvPr>
          <p:cNvSpPr>
            <a:spLocks noGrp="1"/>
          </p:cNvSpPr>
          <p:nvPr>
            <p:ph type="title"/>
          </p:nvPr>
        </p:nvSpPr>
        <p:spPr>
          <a:xfrm>
            <a:off x="559219" y="1115844"/>
            <a:ext cx="7680960" cy="4631911"/>
          </a:xfrm>
        </p:spPr>
        <p:txBody>
          <a:bodyPr vert="horz" lIns="91440" tIns="45720" rIns="91440" bIns="45720" rtlCol="0" anchor="b">
            <a:normAutofit/>
          </a:bodyPr>
          <a:lstStyle/>
          <a:p>
            <a:r>
              <a:rPr lang="en-US" sz="6500"/>
              <a:t>Sources of Data</a:t>
            </a:r>
          </a:p>
        </p:txBody>
      </p:sp>
      <p:cxnSp>
        <p:nvCxnSpPr>
          <p:cNvPr id="13" name="Straight Connector 12">
            <a:extLst>
              <a:ext uri="{FF2B5EF4-FFF2-40B4-BE49-F238E27FC236}">
                <a16:creationId xmlns:a16="http://schemas.microsoft.com/office/drawing/2014/main" id="{53C0BBAA-A5EC-5D5D-32E6-9F7EA604848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23131" y="6268313"/>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3" name="Slide Number Placeholder 2">
            <a:extLst>
              <a:ext uri="{FF2B5EF4-FFF2-40B4-BE49-F238E27FC236}">
                <a16:creationId xmlns:a16="http://schemas.microsoft.com/office/drawing/2014/main" id="{CA8754B2-EAAF-E5FD-F78C-2471387801CB}"/>
              </a:ext>
            </a:extLst>
          </p:cNvPr>
          <p:cNvSpPr>
            <a:spLocks noGrp="1"/>
          </p:cNvSpPr>
          <p:nvPr>
            <p:ph type="sldNum" sz="quarter" idx="12"/>
          </p:nvPr>
        </p:nvSpPr>
        <p:spPr/>
        <p:txBody>
          <a:bodyPr/>
          <a:lstStyle/>
          <a:p>
            <a:fld id="{70C12960-6E85-460F-B6E3-5B82CB31AF3D}" type="slidenum">
              <a:rPr lang="en-US" smtClean="0"/>
              <a:t>8</a:t>
            </a:fld>
            <a:endParaRPr lang="en-US"/>
          </a:p>
        </p:txBody>
      </p:sp>
    </p:spTree>
    <p:extLst>
      <p:ext uri="{BB962C8B-B14F-4D97-AF65-F5344CB8AC3E}">
        <p14:creationId xmlns:p14="http://schemas.microsoft.com/office/powerpoint/2010/main" val="136254724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useBgFill="1">
        <p:nvSpPr>
          <p:cNvPr id="12" name="Rectangle 11">
            <a:extLst>
              <a:ext uri="{FF2B5EF4-FFF2-40B4-BE49-F238E27FC236}">
                <a16:creationId xmlns:a16="http://schemas.microsoft.com/office/drawing/2014/main" id="{8FCE029E-5073-4498-8104-8427AA9873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randview Display"/>
              <a:ea typeface="+mn-ea"/>
              <a:cs typeface="+mn-cs"/>
            </a:endParaRPr>
          </a:p>
        </p:txBody>
      </p:sp>
      <p:pic>
        <p:nvPicPr>
          <p:cNvPr id="5" name="Content Placeholder 4" descr="Office work table with economic charts documents on top view">
            <a:extLst>
              <a:ext uri="{FF2B5EF4-FFF2-40B4-BE49-F238E27FC236}">
                <a16:creationId xmlns:a16="http://schemas.microsoft.com/office/drawing/2014/main" id="{C86269A1-93C6-4059-8D26-FC0C0B80FA2F}"/>
              </a:ext>
            </a:extLst>
          </p:cNvPr>
          <p:cNvPicPr>
            <a:picLocks noGrp="1" noChangeAspect="1"/>
          </p:cNvPicPr>
          <p:nvPr>
            <p:ph sz="half" idx="1"/>
          </p:nvPr>
        </p:nvPicPr>
        <p:blipFill>
          <a:blip r:embed="rId3"/>
          <a:srcRect l="16059" r="16278" b="1"/>
          <a:stretch/>
        </p:blipFill>
        <p:spPr>
          <a:xfrm>
            <a:off x="1" y="2613892"/>
            <a:ext cx="3739895" cy="3689359"/>
          </a:xfrm>
          <a:prstGeom prst="rect">
            <a:avLst/>
          </a:prstGeom>
        </p:spPr>
      </p:pic>
      <p:cxnSp>
        <p:nvCxnSpPr>
          <p:cNvPr id="14" name="Straight Connector 13">
            <a:extLst>
              <a:ext uri="{FF2B5EF4-FFF2-40B4-BE49-F238E27FC236}">
                <a16:creationId xmlns:a16="http://schemas.microsoft.com/office/drawing/2014/main" id="{BEFF515C-2521-4964-9DAC-2BFB8EC86AE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0" y="6274446"/>
            <a:ext cx="3739896" cy="1"/>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9DE88BFE-2B66-08AC-3EA4-3E42672347A3}"/>
              </a:ext>
            </a:extLst>
          </p:cNvPr>
          <p:cNvSpPr>
            <a:spLocks noGrp="1"/>
          </p:cNvSpPr>
          <p:nvPr>
            <p:ph type="title"/>
          </p:nvPr>
        </p:nvSpPr>
        <p:spPr>
          <a:xfrm>
            <a:off x="640080" y="914401"/>
            <a:ext cx="3099816" cy="1477817"/>
          </a:xfrm>
        </p:spPr>
        <p:txBody>
          <a:bodyPr vert="horz" lIns="91440" tIns="45720" rIns="91440" bIns="45720" rtlCol="0" anchor="t">
            <a:normAutofit/>
          </a:bodyPr>
          <a:lstStyle/>
          <a:p>
            <a:r>
              <a:rPr lang="en-US" sz="3600"/>
              <a:t>Types of Data Sources</a:t>
            </a:r>
          </a:p>
        </p:txBody>
      </p:sp>
      <p:sp>
        <p:nvSpPr>
          <p:cNvPr id="4" name="Content Placeholder 3">
            <a:extLst>
              <a:ext uri="{FF2B5EF4-FFF2-40B4-BE49-F238E27FC236}">
                <a16:creationId xmlns:a16="http://schemas.microsoft.com/office/drawing/2014/main" id="{201695C4-1406-9786-E75D-4D6EC5CFF6B4}"/>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325537" y="1014984"/>
            <a:ext cx="7205472" cy="5288266"/>
          </a:xfrm>
        </p:spPr>
        <p:txBody>
          <a:bodyPr>
            <a:normAutofit/>
          </a:bodyPr>
          <a:lstStyle/>
          <a:p>
            <a:pPr marL="0" indent="0">
              <a:lnSpc>
                <a:spcPct val="110000"/>
              </a:lnSpc>
              <a:spcBef>
                <a:spcPts val="2500"/>
              </a:spcBef>
              <a:buNone/>
            </a:pPr>
            <a:r>
              <a:rPr lang="en-US" sz="1300" b="1"/>
              <a:t>Internal Data Sources</a:t>
            </a:r>
          </a:p>
          <a:p>
            <a:pPr marL="0" lvl="1" indent="0">
              <a:lnSpc>
                <a:spcPct val="110000"/>
              </a:lnSpc>
              <a:buNone/>
            </a:pPr>
            <a:r>
              <a:rPr lang="en-US" sz="1300"/>
              <a:t>Internal data sources are data that are collected from within an organization. Examples include financial reports, sales reports, and customer data. Internal data sources are typically easier to access and analyze, but may not provide a complete picture of the market or industry.</a:t>
            </a:r>
          </a:p>
          <a:p>
            <a:pPr marL="0" indent="0">
              <a:lnSpc>
                <a:spcPct val="110000"/>
              </a:lnSpc>
              <a:spcBef>
                <a:spcPts val="2500"/>
              </a:spcBef>
              <a:buNone/>
            </a:pPr>
            <a:r>
              <a:rPr lang="en-US" sz="1300" b="1"/>
              <a:t>External Data Sources</a:t>
            </a:r>
          </a:p>
          <a:p>
            <a:pPr marL="0" lvl="1" indent="0">
              <a:lnSpc>
                <a:spcPct val="110000"/>
              </a:lnSpc>
              <a:buNone/>
            </a:pPr>
            <a:r>
              <a:rPr lang="en-US" sz="1300"/>
              <a:t>External data sources are data that are collected from outside an organization. Examples include market research reports, social media data, and government data. External data sources may provide a more complete picture of the market or industry, but may be more difficult to access and analyze.</a:t>
            </a:r>
          </a:p>
          <a:p>
            <a:pPr marL="0" indent="0">
              <a:lnSpc>
                <a:spcPct val="110000"/>
              </a:lnSpc>
              <a:spcBef>
                <a:spcPts val="2500"/>
              </a:spcBef>
              <a:buNone/>
            </a:pPr>
            <a:r>
              <a:rPr lang="en-US" sz="1300" b="1"/>
              <a:t>Real-time Data</a:t>
            </a:r>
          </a:p>
          <a:p>
            <a:pPr marL="0" lvl="1" indent="0">
              <a:lnSpc>
                <a:spcPct val="110000"/>
              </a:lnSpc>
              <a:buNone/>
            </a:pPr>
            <a:r>
              <a:rPr lang="en-US" sz="1300"/>
              <a:t>Real-time data are data that are collected and analyzed in real-time. Examples include website traffic, social media interactions, and sensor data. Real-time data can be used to make quick decisions and respond to events as they happen.</a:t>
            </a:r>
          </a:p>
          <a:p>
            <a:pPr marL="0" indent="0">
              <a:lnSpc>
                <a:spcPct val="110000"/>
              </a:lnSpc>
              <a:spcBef>
                <a:spcPts val="2500"/>
              </a:spcBef>
              <a:buNone/>
            </a:pPr>
            <a:r>
              <a:rPr lang="en-US" sz="1300" b="1"/>
              <a:t>Batch Data</a:t>
            </a:r>
          </a:p>
          <a:p>
            <a:pPr marL="0" lvl="1" indent="0">
              <a:lnSpc>
                <a:spcPct val="110000"/>
              </a:lnSpc>
              <a:buNone/>
            </a:pPr>
            <a:r>
              <a:rPr lang="en-US" sz="1300"/>
              <a:t>Batch data are data that are collected and analyzed in batches or sets. Examples include financial data, sales data, and customer data. Batch data can be used to analyze trends and patterns over time.</a:t>
            </a:r>
            <a:endParaRPr lang="en-IN" sz="1300"/>
          </a:p>
        </p:txBody>
      </p:sp>
      <p:sp>
        <p:nvSpPr>
          <p:cNvPr id="3" name="Slide Number Placeholder 2">
            <a:extLst>
              <a:ext uri="{FF2B5EF4-FFF2-40B4-BE49-F238E27FC236}">
                <a16:creationId xmlns:a16="http://schemas.microsoft.com/office/drawing/2014/main" id="{1C27BD3B-540C-028E-530F-9FF6FB61EF22}"/>
              </a:ext>
            </a:extLst>
          </p:cNvPr>
          <p:cNvSpPr>
            <a:spLocks noGrp="1"/>
          </p:cNvSpPr>
          <p:nvPr>
            <p:ph type="sldNum" sz="quarter" idx="12"/>
          </p:nvPr>
        </p:nvSpPr>
        <p:spPr/>
        <p:txBody>
          <a:bodyPr/>
          <a:lstStyle/>
          <a:p>
            <a:fld id="{70C12960-6E85-460F-B6E3-5B82CB31AF3D}" type="slidenum">
              <a:rPr lang="en-US" smtClean="0"/>
              <a:t>9</a:t>
            </a:fld>
            <a:endParaRPr lang="en-US"/>
          </a:p>
        </p:txBody>
      </p:sp>
    </p:spTree>
    <p:extLst>
      <p:ext uri="{BB962C8B-B14F-4D97-AF65-F5344CB8AC3E}">
        <p14:creationId xmlns:p14="http://schemas.microsoft.com/office/powerpoint/2010/main" val="105959668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useBgFill="1">
        <p:nvSpPr>
          <p:cNvPr id="12" name="Rectangle 11">
            <a:extLst>
              <a:ext uri="{FF2B5EF4-FFF2-40B4-BE49-F238E27FC236}">
                <a16:creationId xmlns:a16="http://schemas.microsoft.com/office/drawing/2014/main" id="{8FCE029E-5073-4498-8104-8427AA9873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randview Display"/>
              <a:ea typeface="+mn-ea"/>
              <a:cs typeface="+mn-cs"/>
            </a:endParaRPr>
          </a:p>
        </p:txBody>
      </p:sp>
      <p:pic>
        <p:nvPicPr>
          <p:cNvPr id="5" name="Content Placeholder 4" descr="technology and innovation concept">
            <a:extLst>
              <a:ext uri="{FF2B5EF4-FFF2-40B4-BE49-F238E27FC236}">
                <a16:creationId xmlns:a16="http://schemas.microsoft.com/office/drawing/2014/main" id="{0A9C9A09-61AC-4DBF-9F80-B6690DB7B8BE}"/>
              </a:ext>
            </a:extLst>
          </p:cNvPr>
          <p:cNvPicPr>
            <a:picLocks noGrp="1" noChangeAspect="1"/>
          </p:cNvPicPr>
          <p:nvPr>
            <p:ph sz="half" idx="1"/>
          </p:nvPr>
        </p:nvPicPr>
        <p:blipFill>
          <a:blip r:embed="rId3"/>
          <a:srcRect l="14028" r="9209" b="2"/>
          <a:stretch/>
        </p:blipFill>
        <p:spPr>
          <a:xfrm>
            <a:off x="1" y="2613892"/>
            <a:ext cx="4946906" cy="3689359"/>
          </a:xfrm>
          <a:prstGeom prst="rect">
            <a:avLst/>
          </a:prstGeom>
        </p:spPr>
      </p:pic>
      <p:cxnSp>
        <p:nvCxnSpPr>
          <p:cNvPr id="14" name="Straight Connector 13">
            <a:extLst>
              <a:ext uri="{FF2B5EF4-FFF2-40B4-BE49-F238E27FC236}">
                <a16:creationId xmlns:a16="http://schemas.microsoft.com/office/drawing/2014/main" id="{BEFF515C-2521-4964-9DAC-2BFB8EC86AE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0" y="6274446"/>
            <a:ext cx="4946904" cy="1"/>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58D0741F-F84B-7358-81BE-C75ADCFAA857}"/>
              </a:ext>
            </a:extLst>
          </p:cNvPr>
          <p:cNvSpPr>
            <a:spLocks noGrp="1"/>
          </p:cNvSpPr>
          <p:nvPr>
            <p:ph type="title"/>
          </p:nvPr>
        </p:nvSpPr>
        <p:spPr>
          <a:xfrm>
            <a:off x="640080" y="914401"/>
            <a:ext cx="4306824" cy="1477817"/>
          </a:xfrm>
        </p:spPr>
        <p:txBody>
          <a:bodyPr vert="horz" lIns="91440" tIns="45720" rIns="91440" bIns="45720" rtlCol="0" anchor="t">
            <a:normAutofit/>
          </a:bodyPr>
          <a:lstStyle/>
          <a:p>
            <a:r>
              <a:rPr lang="en-US"/>
              <a:t>Common Data Sources</a:t>
            </a:r>
          </a:p>
        </p:txBody>
      </p:sp>
      <p:sp>
        <p:nvSpPr>
          <p:cNvPr id="4" name="Content Placeholder 3">
            <a:extLst>
              <a:ext uri="{FF2B5EF4-FFF2-40B4-BE49-F238E27FC236}">
                <a16:creationId xmlns:a16="http://schemas.microsoft.com/office/drawing/2014/main" id="{11392C05-6F40-8F8E-0B38-44CFB4442D1F}"/>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641848" y="1014984"/>
            <a:ext cx="5889161" cy="5288267"/>
          </a:xfrm>
        </p:spPr>
        <p:txBody>
          <a:bodyPr>
            <a:normAutofit/>
          </a:bodyPr>
          <a:lstStyle/>
          <a:p>
            <a:pPr marL="0" indent="0">
              <a:spcBef>
                <a:spcPts val="2500"/>
              </a:spcBef>
              <a:buNone/>
            </a:pPr>
            <a:r>
              <a:rPr lang="en-US" sz="1400" b="1"/>
              <a:t>Transactional Systems</a:t>
            </a:r>
          </a:p>
          <a:p>
            <a:pPr marL="0" lvl="1" indent="0">
              <a:buNone/>
            </a:pPr>
            <a:r>
              <a:rPr lang="en-US" sz="1400"/>
              <a:t>Transactional systems are a common source of data for analytics, providing valuable insights into business operations and customer behavior.</a:t>
            </a:r>
          </a:p>
          <a:p>
            <a:pPr marL="0" indent="0">
              <a:spcBef>
                <a:spcPts val="2500"/>
              </a:spcBef>
              <a:buNone/>
            </a:pPr>
            <a:r>
              <a:rPr lang="en-US" sz="1400" b="1"/>
              <a:t>IoT and Sensor Data</a:t>
            </a:r>
          </a:p>
          <a:p>
            <a:pPr marL="0" lvl="1" indent="0">
              <a:buNone/>
            </a:pPr>
            <a:r>
              <a:rPr lang="en-US" sz="1400"/>
              <a:t>IoT and sensor data are becoming increasingly popular for data analytics, providing valuable information about machine performance, environmental conditions, and consumer behavior.</a:t>
            </a:r>
          </a:p>
          <a:p>
            <a:pPr marL="0" indent="0">
              <a:spcBef>
                <a:spcPts val="2500"/>
              </a:spcBef>
              <a:buNone/>
            </a:pPr>
            <a:r>
              <a:rPr lang="en-US" sz="1400" b="1"/>
              <a:t>Social Media Platforms</a:t>
            </a:r>
          </a:p>
          <a:p>
            <a:pPr marL="0" lvl="1" indent="0">
              <a:buNone/>
            </a:pPr>
            <a:r>
              <a:rPr lang="en-US" sz="1400"/>
              <a:t>Social media platforms are a rich source of data for understanding consumer behavior, sentiment analysis, and trend analysis.</a:t>
            </a:r>
          </a:p>
          <a:p>
            <a:pPr marL="0" indent="0">
              <a:spcBef>
                <a:spcPts val="2500"/>
              </a:spcBef>
              <a:buNone/>
            </a:pPr>
            <a:r>
              <a:rPr lang="en-US" sz="1400" b="1"/>
              <a:t>Surveys and Polls</a:t>
            </a:r>
          </a:p>
          <a:p>
            <a:pPr marL="0" lvl="1" indent="0">
              <a:buNone/>
            </a:pPr>
            <a:r>
              <a:rPr lang="en-US" sz="1400"/>
              <a:t>Surveys and polls provide valuable insights into customer preferences, opinions, and attitudes, helping organizations make informed decisions.</a:t>
            </a:r>
            <a:endParaRPr lang="en-IN" sz="1400"/>
          </a:p>
        </p:txBody>
      </p:sp>
      <p:sp>
        <p:nvSpPr>
          <p:cNvPr id="3" name="Slide Number Placeholder 2">
            <a:extLst>
              <a:ext uri="{FF2B5EF4-FFF2-40B4-BE49-F238E27FC236}">
                <a16:creationId xmlns:a16="http://schemas.microsoft.com/office/drawing/2014/main" id="{B77E66A2-0165-8858-7F2F-1B36FAD6FEF6}"/>
              </a:ext>
            </a:extLst>
          </p:cNvPr>
          <p:cNvSpPr>
            <a:spLocks noGrp="1"/>
          </p:cNvSpPr>
          <p:nvPr>
            <p:ph type="sldNum" sz="quarter" idx="12"/>
          </p:nvPr>
        </p:nvSpPr>
        <p:spPr/>
        <p:txBody>
          <a:bodyPr/>
          <a:lstStyle/>
          <a:p>
            <a:fld id="{70C12960-6E85-460F-B6E3-5B82CB31AF3D}" type="slidenum">
              <a:rPr lang="en-US" smtClean="0"/>
              <a:t>10</a:t>
            </a:fld>
            <a:endParaRPr lang="en-US"/>
          </a:p>
        </p:txBody>
      </p:sp>
    </p:spTree>
    <p:extLst>
      <p:ext uri="{BB962C8B-B14F-4D97-AF65-F5344CB8AC3E}">
        <p14:creationId xmlns:p14="http://schemas.microsoft.com/office/powerpoint/2010/main" val="71610791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useBgFill="1">
        <p:nvSpPr>
          <p:cNvPr id="12" name="Rectangle 11">
            <a:extLst>
              <a:ext uri="{FF2B5EF4-FFF2-40B4-BE49-F238E27FC236}">
                <a16:creationId xmlns:a16="http://schemas.microsoft.com/office/drawing/2014/main" id="{8FCE029E-5073-4498-8104-8427AA9873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randview Display"/>
              <a:ea typeface="+mn-ea"/>
              <a:cs typeface="+mn-cs"/>
            </a:endParaRPr>
          </a:p>
        </p:txBody>
      </p:sp>
      <p:pic>
        <p:nvPicPr>
          <p:cNvPr id="5" name="Content Placeholder 4" descr="3d illustration">
            <a:extLst>
              <a:ext uri="{FF2B5EF4-FFF2-40B4-BE49-F238E27FC236}">
                <a16:creationId xmlns:a16="http://schemas.microsoft.com/office/drawing/2014/main" id="{773D8B5A-1124-4B37-81DC-D00F7B983C9E}"/>
              </a:ext>
            </a:extLst>
          </p:cNvPr>
          <p:cNvPicPr>
            <a:picLocks noGrp="1" noChangeAspect="1"/>
          </p:cNvPicPr>
          <p:nvPr>
            <p:ph sz="half" idx="1"/>
          </p:nvPr>
        </p:nvPicPr>
        <p:blipFill>
          <a:blip r:embed="rId3"/>
          <a:srcRect t="6970" r="-2" b="18449"/>
          <a:stretch/>
        </p:blipFill>
        <p:spPr>
          <a:xfrm>
            <a:off x="1" y="2613892"/>
            <a:ext cx="4946906" cy="3689359"/>
          </a:xfrm>
          <a:prstGeom prst="rect">
            <a:avLst/>
          </a:prstGeom>
        </p:spPr>
      </p:pic>
      <p:cxnSp>
        <p:nvCxnSpPr>
          <p:cNvPr id="14" name="Straight Connector 13">
            <a:extLst>
              <a:ext uri="{FF2B5EF4-FFF2-40B4-BE49-F238E27FC236}">
                <a16:creationId xmlns:a16="http://schemas.microsoft.com/office/drawing/2014/main" id="{BEFF515C-2521-4964-9DAC-2BFB8EC86AE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0" y="6274446"/>
            <a:ext cx="4946904" cy="1"/>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51824856-C3D0-40AE-AD6A-176C1F77F86F}"/>
              </a:ext>
            </a:extLst>
          </p:cNvPr>
          <p:cNvSpPr>
            <a:spLocks noGrp="1"/>
          </p:cNvSpPr>
          <p:nvPr>
            <p:ph type="title"/>
          </p:nvPr>
        </p:nvSpPr>
        <p:spPr>
          <a:xfrm>
            <a:off x="640080" y="914401"/>
            <a:ext cx="4306824" cy="1477817"/>
          </a:xfrm>
        </p:spPr>
        <p:txBody>
          <a:bodyPr vert="horz" lIns="91440" tIns="45720" rIns="91440" bIns="45720" rtlCol="0" anchor="t">
            <a:normAutofit/>
          </a:bodyPr>
          <a:lstStyle/>
          <a:p>
            <a:r>
              <a:rPr lang="en-US"/>
              <a:t>Data Capture Methods</a:t>
            </a:r>
          </a:p>
        </p:txBody>
      </p:sp>
      <p:sp>
        <p:nvSpPr>
          <p:cNvPr id="4" name="Content Placeholder 3">
            <a:extLst>
              <a:ext uri="{FF2B5EF4-FFF2-40B4-BE49-F238E27FC236}">
                <a16:creationId xmlns:a16="http://schemas.microsoft.com/office/drawing/2014/main" id="{6223CD90-6FE4-CEAC-2842-704D2A8CB9AF}"/>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641848" y="1014984"/>
            <a:ext cx="5889161" cy="5288267"/>
          </a:xfrm>
        </p:spPr>
        <p:txBody>
          <a:bodyPr>
            <a:normAutofit/>
          </a:bodyPr>
          <a:lstStyle/>
          <a:p>
            <a:pPr marL="0" indent="0">
              <a:spcBef>
                <a:spcPts val="2500"/>
              </a:spcBef>
              <a:buNone/>
            </a:pPr>
            <a:r>
              <a:rPr lang="en-US" sz="1400" b="1"/>
              <a:t>APIs and Data Streams</a:t>
            </a:r>
          </a:p>
          <a:p>
            <a:pPr marL="0" lvl="1" indent="0">
              <a:buNone/>
            </a:pPr>
            <a:r>
              <a:rPr lang="en-US" sz="1400"/>
              <a:t>Application Programming Interfaces (APIs) and Data Streams are commonly used methods of capturing data. They offer real-time data access and are often used by businesses to stay up-to-date with changes in the market and customer behavior.</a:t>
            </a:r>
          </a:p>
          <a:p>
            <a:pPr marL="0" indent="0">
              <a:spcBef>
                <a:spcPts val="2500"/>
              </a:spcBef>
              <a:buNone/>
            </a:pPr>
            <a:r>
              <a:rPr lang="en-US" sz="1400" b="1"/>
              <a:t>Web Scraping</a:t>
            </a:r>
          </a:p>
          <a:p>
            <a:pPr marL="0" lvl="1" indent="0">
              <a:buNone/>
            </a:pPr>
            <a:r>
              <a:rPr lang="en-US" sz="1400"/>
              <a:t>Web Scraping is a method of extracting data from websites and online sources. It is useful for gathering information on competitors, pricing, and industry trends.</a:t>
            </a:r>
          </a:p>
          <a:p>
            <a:pPr marL="0" indent="0">
              <a:spcBef>
                <a:spcPts val="2500"/>
              </a:spcBef>
              <a:buNone/>
            </a:pPr>
            <a:r>
              <a:rPr lang="en-US" sz="1400" b="1"/>
              <a:t>Manual Data Entry vs. Automated Collection</a:t>
            </a:r>
          </a:p>
          <a:p>
            <a:pPr marL="0" lvl="1" indent="0">
              <a:buNone/>
            </a:pPr>
            <a:r>
              <a:rPr lang="en-US" sz="1400"/>
              <a:t>Manual Data Entry and Automated Collection are two ways in which data can be captured. While manual data entry is time-consuming and prone to errors, automated collection can be more efficient and accurate, provided that the right tools and processes are in place.</a:t>
            </a:r>
            <a:endParaRPr lang="en-IN" sz="1400"/>
          </a:p>
        </p:txBody>
      </p:sp>
      <p:sp>
        <p:nvSpPr>
          <p:cNvPr id="3" name="Slide Number Placeholder 2">
            <a:extLst>
              <a:ext uri="{FF2B5EF4-FFF2-40B4-BE49-F238E27FC236}">
                <a16:creationId xmlns:a16="http://schemas.microsoft.com/office/drawing/2014/main" id="{3E7C8139-75F2-F6ED-253C-343EF0D6641E}"/>
              </a:ext>
            </a:extLst>
          </p:cNvPr>
          <p:cNvSpPr>
            <a:spLocks noGrp="1"/>
          </p:cNvSpPr>
          <p:nvPr>
            <p:ph type="sldNum" sz="quarter" idx="12"/>
          </p:nvPr>
        </p:nvSpPr>
        <p:spPr/>
        <p:txBody>
          <a:bodyPr/>
          <a:lstStyle/>
          <a:p>
            <a:fld id="{70C12960-6E85-460F-B6E3-5B82CB31AF3D}" type="slidenum">
              <a:rPr lang="en-US" smtClean="0"/>
              <a:t>11</a:t>
            </a:fld>
            <a:endParaRPr lang="en-US"/>
          </a:p>
        </p:txBody>
      </p:sp>
    </p:spTree>
    <p:extLst>
      <p:ext uri="{BB962C8B-B14F-4D97-AF65-F5344CB8AC3E}">
        <p14:creationId xmlns:p14="http://schemas.microsoft.com/office/powerpoint/2010/main" val="71177587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useBgFill="1">
        <p:nvSpPr>
          <p:cNvPr id="9" name="Rectangle 8">
            <a:extLst>
              <a:ext uri="{FF2B5EF4-FFF2-40B4-BE49-F238E27FC236}">
                <a16:creationId xmlns:a16="http://schemas.microsoft.com/office/drawing/2014/main" id="{46B9231A-B34B-4A29-A6AC-532E1EE815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randview Display"/>
              <a:ea typeface="+mn-ea"/>
              <a:cs typeface="+mn-cs"/>
            </a:endParaRPr>
          </a:p>
        </p:txBody>
      </p:sp>
      <p:sp useBgFill="1">
        <p:nvSpPr>
          <p:cNvPr id="11" name="Rectangle 10">
            <a:extLst>
              <a:ext uri="{FF2B5EF4-FFF2-40B4-BE49-F238E27FC236}">
                <a16:creationId xmlns:a16="http://schemas.microsoft.com/office/drawing/2014/main" id="{19F9BF86-FE94-4517-B97D-026C7515E5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randview Display"/>
              <a:ea typeface="+mn-ea"/>
              <a:cs typeface="+mn-cs"/>
            </a:endParaRPr>
          </a:p>
        </p:txBody>
      </p:sp>
      <p:sp>
        <p:nvSpPr>
          <p:cNvPr id="2" name="Title 1">
            <a:extLst>
              <a:ext uri="{FF2B5EF4-FFF2-40B4-BE49-F238E27FC236}">
                <a16:creationId xmlns:a16="http://schemas.microsoft.com/office/drawing/2014/main" id="{FA890B12-A7BC-4B6B-5B67-CB1F9C74F370}"/>
              </a:ext>
            </a:extLst>
          </p:cNvPr>
          <p:cNvSpPr>
            <a:spLocks noGrp="1"/>
          </p:cNvSpPr>
          <p:nvPr>
            <p:ph type="title"/>
          </p:nvPr>
        </p:nvSpPr>
        <p:spPr>
          <a:xfrm>
            <a:off x="559219" y="1115844"/>
            <a:ext cx="7680960" cy="4631911"/>
          </a:xfrm>
        </p:spPr>
        <p:txBody>
          <a:bodyPr vert="horz" lIns="91440" tIns="45720" rIns="91440" bIns="45720" rtlCol="0" anchor="b">
            <a:normAutofit/>
          </a:bodyPr>
          <a:lstStyle/>
          <a:p>
            <a:r>
              <a:rPr lang="en-US" sz="6500"/>
              <a:t>Databases</a:t>
            </a:r>
          </a:p>
        </p:txBody>
      </p:sp>
      <p:cxnSp>
        <p:nvCxnSpPr>
          <p:cNvPr id="13" name="Straight Connector 12">
            <a:extLst>
              <a:ext uri="{FF2B5EF4-FFF2-40B4-BE49-F238E27FC236}">
                <a16:creationId xmlns:a16="http://schemas.microsoft.com/office/drawing/2014/main" id="{53C0BBAA-A5EC-5D5D-32E6-9F7EA604848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23131" y="6268313"/>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3" name="Slide Number Placeholder 2">
            <a:extLst>
              <a:ext uri="{FF2B5EF4-FFF2-40B4-BE49-F238E27FC236}">
                <a16:creationId xmlns:a16="http://schemas.microsoft.com/office/drawing/2014/main" id="{14F7C7BD-2B99-443A-2ACD-E39B01083765}"/>
              </a:ext>
            </a:extLst>
          </p:cNvPr>
          <p:cNvSpPr>
            <a:spLocks noGrp="1"/>
          </p:cNvSpPr>
          <p:nvPr>
            <p:ph type="sldNum" sz="quarter" idx="12"/>
          </p:nvPr>
        </p:nvSpPr>
        <p:spPr/>
        <p:txBody>
          <a:bodyPr/>
          <a:lstStyle/>
          <a:p>
            <a:fld id="{70C12960-6E85-460F-B6E3-5B82CB31AF3D}" type="slidenum">
              <a:rPr lang="en-US" smtClean="0"/>
              <a:t>12</a:t>
            </a:fld>
            <a:endParaRPr lang="en-US"/>
          </a:p>
        </p:txBody>
      </p:sp>
    </p:spTree>
    <p:extLst>
      <p:ext uri="{BB962C8B-B14F-4D97-AF65-F5344CB8AC3E}">
        <p14:creationId xmlns:p14="http://schemas.microsoft.com/office/powerpoint/2010/main" val="130766505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useBgFill="1">
        <p:nvSpPr>
          <p:cNvPr id="12" name="Rectangle 11">
            <a:extLst>
              <a:ext uri="{FF2B5EF4-FFF2-40B4-BE49-F238E27FC236}">
                <a16:creationId xmlns:a16="http://schemas.microsoft.com/office/drawing/2014/main" id="{744CAA32-F237-419C-A2DD-43C28D920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Coloured organisers on shelves">
            <a:extLst>
              <a:ext uri="{FF2B5EF4-FFF2-40B4-BE49-F238E27FC236}">
                <a16:creationId xmlns:a16="http://schemas.microsoft.com/office/drawing/2014/main" id="{449765F5-7DCF-40D5-A907-A99C10C76DE7}"/>
              </a:ext>
            </a:extLst>
          </p:cNvPr>
          <p:cNvPicPr>
            <a:picLocks noGrp="1" noChangeAspect="1"/>
          </p:cNvPicPr>
          <p:nvPr>
            <p:ph sz="half" idx="1"/>
          </p:nvPr>
        </p:nvPicPr>
        <p:blipFill>
          <a:blip r:embed="rId3"/>
          <a:srcRect r="4565"/>
          <a:stretch/>
        </p:blipFill>
        <p:spPr>
          <a:xfrm>
            <a:off x="20" y="535709"/>
            <a:ext cx="8229580" cy="5820640"/>
          </a:xfrm>
          <a:prstGeom prst="rect">
            <a:avLst/>
          </a:prstGeom>
        </p:spPr>
      </p:pic>
      <p:cxnSp>
        <p:nvCxnSpPr>
          <p:cNvPr id="14" name="Straight Connector 13">
            <a:extLst>
              <a:ext uri="{FF2B5EF4-FFF2-40B4-BE49-F238E27FC236}">
                <a16:creationId xmlns:a16="http://schemas.microsoft.com/office/drawing/2014/main" id="{02C7985C-B0C3-CC50-E86A-B5EBA40E01D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 y="6359240"/>
            <a:ext cx="8229600"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04C4A1AF-7590-8272-47B2-9FC4F72F509C}"/>
              </a:ext>
            </a:extLst>
          </p:cNvPr>
          <p:cNvSpPr>
            <a:spLocks noGrp="1"/>
          </p:cNvSpPr>
          <p:nvPr>
            <p:ph type="title"/>
          </p:nvPr>
        </p:nvSpPr>
        <p:spPr>
          <a:xfrm>
            <a:off x="8719126" y="979051"/>
            <a:ext cx="2811879" cy="1807048"/>
          </a:xfrm>
        </p:spPr>
        <p:txBody>
          <a:bodyPr vert="horz" lIns="91440" tIns="45720" rIns="91440" bIns="45720" rtlCol="0" anchor="b">
            <a:normAutofit/>
          </a:bodyPr>
          <a:lstStyle/>
          <a:p>
            <a:r>
              <a:rPr lang="en-US" sz="3600"/>
              <a:t>What is a Database?</a:t>
            </a:r>
          </a:p>
        </p:txBody>
      </p:sp>
      <p:sp>
        <p:nvSpPr>
          <p:cNvPr id="4" name="Content Placeholder 3">
            <a:extLst>
              <a:ext uri="{FF2B5EF4-FFF2-40B4-BE49-F238E27FC236}">
                <a16:creationId xmlns:a16="http://schemas.microsoft.com/office/drawing/2014/main" id="{CBDE7441-E2B4-8FF1-4AFC-55BB226D59E5}"/>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8719128" y="2922624"/>
            <a:ext cx="2811880" cy="3409950"/>
          </a:xfrm>
        </p:spPr>
        <p:txBody>
          <a:bodyPr>
            <a:normAutofit/>
          </a:bodyPr>
          <a:lstStyle/>
          <a:p>
            <a:pPr marL="0" indent="0">
              <a:spcBef>
                <a:spcPts val="2500"/>
              </a:spcBef>
              <a:buNone/>
            </a:pPr>
            <a:endParaRPr lang="en-US" sz="1400" b="1"/>
          </a:p>
          <a:p>
            <a:pPr marL="0" lvl="1" indent="0">
              <a:buNone/>
            </a:pPr>
            <a:r>
              <a:rPr lang="en-US" sz="1400"/>
              <a:t>A database is a structured collection of data that is organized in a way that allows for efficient storage, retrieval, and analysis. This helps in the efficient management of large volumes of data and ensuring data integrity.</a:t>
            </a:r>
            <a:endParaRPr lang="en-IN" sz="1400"/>
          </a:p>
        </p:txBody>
      </p:sp>
      <p:sp>
        <p:nvSpPr>
          <p:cNvPr id="3" name="Slide Number Placeholder 2">
            <a:extLst>
              <a:ext uri="{FF2B5EF4-FFF2-40B4-BE49-F238E27FC236}">
                <a16:creationId xmlns:a16="http://schemas.microsoft.com/office/drawing/2014/main" id="{AD5C8F8B-631B-0BEF-149D-2D4F7F581F71}"/>
              </a:ext>
            </a:extLst>
          </p:cNvPr>
          <p:cNvSpPr>
            <a:spLocks noGrp="1"/>
          </p:cNvSpPr>
          <p:nvPr>
            <p:ph type="sldNum" sz="quarter" idx="12"/>
          </p:nvPr>
        </p:nvSpPr>
        <p:spPr/>
        <p:txBody>
          <a:bodyPr/>
          <a:lstStyle/>
          <a:p>
            <a:fld id="{70C12960-6E85-460F-B6E3-5B82CB31AF3D}" type="slidenum">
              <a:rPr lang="en-US" smtClean="0"/>
              <a:t>13</a:t>
            </a:fld>
            <a:endParaRPr lang="en-US"/>
          </a:p>
        </p:txBody>
      </p:sp>
    </p:spTree>
    <p:extLst>
      <p:ext uri="{BB962C8B-B14F-4D97-AF65-F5344CB8AC3E}">
        <p14:creationId xmlns:p14="http://schemas.microsoft.com/office/powerpoint/2010/main" val="16602850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useBgFill="1">
        <p:nvSpPr>
          <p:cNvPr id="12" name="Rectangle 11">
            <a:extLst>
              <a:ext uri="{FF2B5EF4-FFF2-40B4-BE49-F238E27FC236}">
                <a16:creationId xmlns:a16="http://schemas.microsoft.com/office/drawing/2014/main" id="{744CAA32-F237-419C-A2DD-43C28D920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3d server with folders">
            <a:extLst>
              <a:ext uri="{FF2B5EF4-FFF2-40B4-BE49-F238E27FC236}">
                <a16:creationId xmlns:a16="http://schemas.microsoft.com/office/drawing/2014/main" id="{A5B72E03-7316-4EBF-B4C0-07351D4F5424}"/>
              </a:ext>
            </a:extLst>
          </p:cNvPr>
          <p:cNvPicPr>
            <a:picLocks noGrp="1" noChangeAspect="1"/>
          </p:cNvPicPr>
          <p:nvPr>
            <p:ph sz="half" idx="1"/>
          </p:nvPr>
        </p:nvPicPr>
        <p:blipFill>
          <a:blip r:embed="rId3"/>
          <a:srcRect r="27197" b="1"/>
          <a:stretch/>
        </p:blipFill>
        <p:spPr>
          <a:xfrm>
            <a:off x="20" y="914399"/>
            <a:ext cx="4416532" cy="5353523"/>
          </a:xfrm>
          <a:prstGeom prst="rect">
            <a:avLst/>
          </a:prstGeom>
        </p:spPr>
      </p:pic>
      <p:cxnSp>
        <p:nvCxnSpPr>
          <p:cNvPr id="14" name="Straight Connector 13">
            <a:extLst>
              <a:ext uri="{FF2B5EF4-FFF2-40B4-BE49-F238E27FC236}">
                <a16:creationId xmlns:a16="http://schemas.microsoft.com/office/drawing/2014/main" id="{08052531-D50B-3899-B150-D05525F4F2B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0" y="6267922"/>
            <a:ext cx="4416552" cy="1"/>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1B21E936-29F2-75C1-895B-7088675BDE39}"/>
              </a:ext>
            </a:extLst>
          </p:cNvPr>
          <p:cNvSpPr>
            <a:spLocks noGrp="1"/>
          </p:cNvSpPr>
          <p:nvPr>
            <p:ph type="title"/>
          </p:nvPr>
        </p:nvSpPr>
        <p:spPr>
          <a:xfrm>
            <a:off x="5029200" y="914400"/>
            <a:ext cx="6501810" cy="1097280"/>
          </a:xfrm>
        </p:spPr>
        <p:txBody>
          <a:bodyPr vert="horz" lIns="91440" tIns="45720" rIns="91440" bIns="45720" rtlCol="0" anchor="t">
            <a:normAutofit/>
          </a:bodyPr>
          <a:lstStyle/>
          <a:p>
            <a:r>
              <a:rPr lang="en-US"/>
              <a:t>Types of Databases</a:t>
            </a:r>
          </a:p>
        </p:txBody>
      </p:sp>
      <p:sp>
        <p:nvSpPr>
          <p:cNvPr id="4" name="Content Placeholder 3">
            <a:extLst>
              <a:ext uri="{FF2B5EF4-FFF2-40B4-BE49-F238E27FC236}">
                <a16:creationId xmlns:a16="http://schemas.microsoft.com/office/drawing/2014/main" id="{EDBDC994-152B-4DA4-AFC5-C8E9C9FEA29D}"/>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029200" y="2176036"/>
            <a:ext cx="6501810" cy="4121885"/>
          </a:xfrm>
        </p:spPr>
        <p:txBody>
          <a:bodyPr>
            <a:normAutofit/>
          </a:bodyPr>
          <a:lstStyle/>
          <a:p>
            <a:pPr marL="0" indent="0">
              <a:spcBef>
                <a:spcPts val="2500"/>
              </a:spcBef>
              <a:buNone/>
            </a:pPr>
            <a:r>
              <a:rPr lang="en-US" sz="1400" b="1"/>
              <a:t>Relational databases</a:t>
            </a:r>
          </a:p>
          <a:p>
            <a:pPr marL="0" lvl="1" indent="0">
              <a:buNone/>
            </a:pPr>
            <a:r>
              <a:rPr lang="en-US" sz="1400"/>
              <a:t>Relational databases are the most common type of database and store data in tables with rows and columns. They are widely used in businesses and organizations for their ease of use and reliability.</a:t>
            </a:r>
          </a:p>
          <a:p>
            <a:pPr marL="0" indent="0">
              <a:spcBef>
                <a:spcPts val="2500"/>
              </a:spcBef>
              <a:buNone/>
            </a:pPr>
            <a:r>
              <a:rPr lang="en-US" sz="1400" b="1"/>
              <a:t>NoSQL databases</a:t>
            </a:r>
          </a:p>
          <a:p>
            <a:pPr marL="0" lvl="1" indent="0">
              <a:buNone/>
            </a:pPr>
            <a:r>
              <a:rPr lang="en-US" sz="1400"/>
              <a:t>NoSQL databases are non-relational databases that allow for flexible and scalable data storage. They are often used for big data and real-time applications.</a:t>
            </a:r>
          </a:p>
          <a:p>
            <a:pPr marL="0" indent="0">
              <a:spcBef>
                <a:spcPts val="2500"/>
              </a:spcBef>
              <a:buNone/>
            </a:pPr>
            <a:r>
              <a:rPr lang="en-US" sz="1400" b="1"/>
              <a:t>Key-value stores</a:t>
            </a:r>
          </a:p>
          <a:p>
            <a:pPr marL="0" lvl="1" indent="0">
              <a:buNone/>
            </a:pPr>
            <a:r>
              <a:rPr lang="en-US" sz="1400"/>
              <a:t>Key-value stores are a type of NoSQL database that stores data as a collection of key-value pairs. They are often used for caching and session management.</a:t>
            </a:r>
            <a:endParaRPr lang="en-IN" sz="1400"/>
          </a:p>
        </p:txBody>
      </p:sp>
      <p:sp>
        <p:nvSpPr>
          <p:cNvPr id="3" name="Slide Number Placeholder 2">
            <a:extLst>
              <a:ext uri="{FF2B5EF4-FFF2-40B4-BE49-F238E27FC236}">
                <a16:creationId xmlns:a16="http://schemas.microsoft.com/office/drawing/2014/main" id="{3333EDAE-DFA0-7313-EC9E-1F59B05CA629}"/>
              </a:ext>
            </a:extLst>
          </p:cNvPr>
          <p:cNvSpPr>
            <a:spLocks noGrp="1"/>
          </p:cNvSpPr>
          <p:nvPr>
            <p:ph type="sldNum" sz="quarter" idx="12"/>
          </p:nvPr>
        </p:nvSpPr>
        <p:spPr/>
        <p:txBody>
          <a:bodyPr/>
          <a:lstStyle/>
          <a:p>
            <a:fld id="{70C12960-6E85-460F-B6E3-5B82CB31AF3D}" type="slidenum">
              <a:rPr lang="en-US" smtClean="0"/>
              <a:t>14</a:t>
            </a:fld>
            <a:endParaRPr lang="en-US"/>
          </a:p>
        </p:txBody>
      </p:sp>
    </p:spTree>
    <p:extLst>
      <p:ext uri="{BB962C8B-B14F-4D97-AF65-F5344CB8AC3E}">
        <p14:creationId xmlns:p14="http://schemas.microsoft.com/office/powerpoint/2010/main" val="1574413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useBgFill="1">
        <p:nvSpPr>
          <p:cNvPr id="12" name="Rectangle 11">
            <a:extLst>
              <a:ext uri="{FF2B5EF4-FFF2-40B4-BE49-F238E27FC236}">
                <a16:creationId xmlns:a16="http://schemas.microsoft.com/office/drawing/2014/main" id="{744CAA32-F237-419C-A2DD-43C28D920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a:extLst>
              <a:ext uri="{FF2B5EF4-FFF2-40B4-BE49-F238E27FC236}">
                <a16:creationId xmlns:a16="http://schemas.microsoft.com/office/drawing/2014/main" id="{333ACAE7-6913-4573-8D8F-4600FD6B62EE}"/>
              </a:ext>
            </a:extLst>
          </p:cNvPr>
          <p:cNvPicPr>
            <a:picLocks noGrp="1" noChangeAspect="1"/>
          </p:cNvPicPr>
          <p:nvPr>
            <p:ph sz="half" idx="1"/>
          </p:nvPr>
        </p:nvPicPr>
        <p:blipFill>
          <a:blip r:embed="rId3"/>
          <a:srcRect l="11357" r="9114" b="2"/>
          <a:stretch/>
        </p:blipFill>
        <p:spPr>
          <a:xfrm>
            <a:off x="20" y="535709"/>
            <a:ext cx="8229580" cy="5820640"/>
          </a:xfrm>
          <a:prstGeom prst="rect">
            <a:avLst/>
          </a:prstGeom>
        </p:spPr>
      </p:pic>
      <p:cxnSp>
        <p:nvCxnSpPr>
          <p:cNvPr id="14" name="Straight Connector 13">
            <a:extLst>
              <a:ext uri="{FF2B5EF4-FFF2-40B4-BE49-F238E27FC236}">
                <a16:creationId xmlns:a16="http://schemas.microsoft.com/office/drawing/2014/main" id="{02C7985C-B0C3-CC50-E86A-B5EBA40E01D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 y="6359240"/>
            <a:ext cx="8229600"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F3C48F51-11C4-7B0A-9A4C-AD81DC1AD5F9}"/>
              </a:ext>
            </a:extLst>
          </p:cNvPr>
          <p:cNvSpPr>
            <a:spLocks noGrp="1"/>
          </p:cNvSpPr>
          <p:nvPr>
            <p:ph type="title"/>
          </p:nvPr>
        </p:nvSpPr>
        <p:spPr>
          <a:xfrm>
            <a:off x="8719126" y="979051"/>
            <a:ext cx="2811879" cy="1807048"/>
          </a:xfrm>
        </p:spPr>
        <p:txBody>
          <a:bodyPr vert="horz" lIns="91440" tIns="45720" rIns="91440" bIns="45720" rtlCol="0" anchor="b">
            <a:normAutofit/>
          </a:bodyPr>
          <a:lstStyle/>
          <a:p>
            <a:r>
              <a:rPr lang="en-US" sz="3600"/>
              <a:t>Database Management Systems</a:t>
            </a:r>
          </a:p>
        </p:txBody>
      </p:sp>
      <p:sp>
        <p:nvSpPr>
          <p:cNvPr id="4" name="Content Placeholder 3">
            <a:extLst>
              <a:ext uri="{FF2B5EF4-FFF2-40B4-BE49-F238E27FC236}">
                <a16:creationId xmlns:a16="http://schemas.microsoft.com/office/drawing/2014/main" id="{CAAC573C-AD16-D27F-677C-D68C753CF9EF}"/>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8719128" y="2922624"/>
            <a:ext cx="2811880" cy="3409950"/>
          </a:xfrm>
        </p:spPr>
        <p:txBody>
          <a:bodyPr>
            <a:normAutofit/>
          </a:bodyPr>
          <a:lstStyle/>
          <a:p>
            <a:pPr marL="0" indent="0">
              <a:spcBef>
                <a:spcPts val="2500"/>
              </a:spcBef>
              <a:buNone/>
            </a:pPr>
            <a:endParaRPr lang="en-US" sz="1400" b="1"/>
          </a:p>
          <a:p>
            <a:pPr marL="0" lvl="1" indent="0">
              <a:buNone/>
            </a:pPr>
            <a:r>
              <a:rPr lang="en-US" sz="1400"/>
              <a:t>A database management system (DBMS) is a software application that enables users to easily create, maintain, and access databases. It provides tools for managing the data and ensuring its integrity and security.</a:t>
            </a:r>
            <a:endParaRPr lang="en-IN" sz="1400"/>
          </a:p>
        </p:txBody>
      </p:sp>
      <p:sp>
        <p:nvSpPr>
          <p:cNvPr id="3" name="Slide Number Placeholder 2">
            <a:extLst>
              <a:ext uri="{FF2B5EF4-FFF2-40B4-BE49-F238E27FC236}">
                <a16:creationId xmlns:a16="http://schemas.microsoft.com/office/drawing/2014/main" id="{2FA6BF09-421F-8FEC-99F4-E5FE1EADCBCD}"/>
              </a:ext>
            </a:extLst>
          </p:cNvPr>
          <p:cNvSpPr>
            <a:spLocks noGrp="1"/>
          </p:cNvSpPr>
          <p:nvPr>
            <p:ph type="sldNum" sz="quarter" idx="12"/>
          </p:nvPr>
        </p:nvSpPr>
        <p:spPr/>
        <p:txBody>
          <a:bodyPr/>
          <a:lstStyle/>
          <a:p>
            <a:fld id="{70C12960-6E85-460F-B6E3-5B82CB31AF3D}" type="slidenum">
              <a:rPr lang="en-US" smtClean="0"/>
              <a:t>15</a:t>
            </a:fld>
            <a:endParaRPr lang="en-US"/>
          </a:p>
        </p:txBody>
      </p:sp>
    </p:spTree>
    <p:extLst>
      <p:ext uri="{BB962C8B-B14F-4D97-AF65-F5344CB8AC3E}">
        <p14:creationId xmlns:p14="http://schemas.microsoft.com/office/powerpoint/2010/main" val="340227469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useBgFill="1">
        <p:nvSpPr>
          <p:cNvPr id="12" name="Rectangle 11">
            <a:extLst>
              <a:ext uri="{FF2B5EF4-FFF2-40B4-BE49-F238E27FC236}">
                <a16:creationId xmlns:a16="http://schemas.microsoft.com/office/drawing/2014/main" id="{744CAA32-F237-419C-A2DD-43C28D920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Computer script on a screen">
            <a:extLst>
              <a:ext uri="{FF2B5EF4-FFF2-40B4-BE49-F238E27FC236}">
                <a16:creationId xmlns:a16="http://schemas.microsoft.com/office/drawing/2014/main" id="{8B1B383C-FD87-422A-8BF7-1C6A54A94AE9}"/>
              </a:ext>
            </a:extLst>
          </p:cNvPr>
          <p:cNvPicPr>
            <a:picLocks noGrp="1" noChangeAspect="1"/>
          </p:cNvPicPr>
          <p:nvPr>
            <p:ph sz="half" idx="1"/>
          </p:nvPr>
        </p:nvPicPr>
        <p:blipFill>
          <a:blip r:embed="rId3"/>
          <a:srcRect r="16996" b="2"/>
          <a:stretch/>
        </p:blipFill>
        <p:spPr>
          <a:xfrm>
            <a:off x="-1" y="914399"/>
            <a:ext cx="6657255" cy="5353523"/>
          </a:xfrm>
          <a:prstGeom prst="rect">
            <a:avLst/>
          </a:prstGeom>
        </p:spPr>
      </p:pic>
      <p:cxnSp>
        <p:nvCxnSpPr>
          <p:cNvPr id="14" name="Straight Connector 13">
            <a:extLst>
              <a:ext uri="{FF2B5EF4-FFF2-40B4-BE49-F238E27FC236}">
                <a16:creationId xmlns:a16="http://schemas.microsoft.com/office/drawing/2014/main" id="{08052531-D50B-3899-B150-D05525F4F2B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0" y="6267922"/>
            <a:ext cx="6656832" cy="1"/>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2835D1E-BE39-5DB7-1007-23A1D5FF6850}"/>
              </a:ext>
            </a:extLst>
          </p:cNvPr>
          <p:cNvSpPr>
            <a:spLocks noGrp="1"/>
          </p:cNvSpPr>
          <p:nvPr>
            <p:ph type="title"/>
          </p:nvPr>
        </p:nvSpPr>
        <p:spPr>
          <a:xfrm>
            <a:off x="7269904" y="914400"/>
            <a:ext cx="4261104" cy="1097280"/>
          </a:xfrm>
        </p:spPr>
        <p:txBody>
          <a:bodyPr vert="horz" lIns="91440" tIns="45720" rIns="91440" bIns="45720" rtlCol="0" anchor="t">
            <a:normAutofit/>
          </a:bodyPr>
          <a:lstStyle/>
          <a:p>
            <a:pPr>
              <a:lnSpc>
                <a:spcPct val="90000"/>
              </a:lnSpc>
            </a:pPr>
            <a:r>
              <a:rPr lang="en-US" sz="3600"/>
              <a:t>Database Operations</a:t>
            </a:r>
          </a:p>
        </p:txBody>
      </p:sp>
      <p:sp>
        <p:nvSpPr>
          <p:cNvPr id="4" name="Content Placeholder 3">
            <a:extLst>
              <a:ext uri="{FF2B5EF4-FFF2-40B4-BE49-F238E27FC236}">
                <a16:creationId xmlns:a16="http://schemas.microsoft.com/office/drawing/2014/main" id="{67883333-71B7-4325-CEEE-3505247112A4}"/>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269905" y="2176036"/>
            <a:ext cx="4261104" cy="4121887"/>
          </a:xfrm>
        </p:spPr>
        <p:txBody>
          <a:bodyPr>
            <a:normAutofit/>
          </a:bodyPr>
          <a:lstStyle/>
          <a:p>
            <a:pPr marL="0" indent="0">
              <a:spcBef>
                <a:spcPts val="2500"/>
              </a:spcBef>
              <a:buNone/>
            </a:pPr>
            <a:r>
              <a:rPr lang="en-IN" sz="1400" b="1"/>
              <a:t>CRUD Operations</a:t>
            </a:r>
          </a:p>
          <a:p>
            <a:pPr marL="0" lvl="1" indent="0">
              <a:buNone/>
            </a:pPr>
            <a:r>
              <a:rPr lang="en-IN" sz="1400"/>
              <a:t>CRUD operations are fundamental database operations that include creating, reading, updating, and deleting data. Understanding CRUD operations is essential for managing and manipulating data in databases.</a:t>
            </a:r>
          </a:p>
          <a:p>
            <a:pPr marL="0" indent="0">
              <a:spcBef>
                <a:spcPts val="2500"/>
              </a:spcBef>
              <a:buNone/>
            </a:pPr>
            <a:r>
              <a:rPr lang="en-IN" sz="1400" b="1"/>
              <a:t>Query Languages</a:t>
            </a:r>
          </a:p>
          <a:p>
            <a:pPr marL="0" lvl="1" indent="0">
              <a:buNone/>
            </a:pPr>
            <a:r>
              <a:rPr lang="en-IN" sz="1400"/>
              <a:t>Query languages, such as SQL, are essential for querying and retrieving data from databases. Knowing query languages is essential for performing advanced data analysis.</a:t>
            </a:r>
          </a:p>
        </p:txBody>
      </p:sp>
      <p:sp>
        <p:nvSpPr>
          <p:cNvPr id="3" name="Slide Number Placeholder 2">
            <a:extLst>
              <a:ext uri="{FF2B5EF4-FFF2-40B4-BE49-F238E27FC236}">
                <a16:creationId xmlns:a16="http://schemas.microsoft.com/office/drawing/2014/main" id="{9E7AC9CC-475B-27BB-6D6E-BFA8082F34FB}"/>
              </a:ext>
            </a:extLst>
          </p:cNvPr>
          <p:cNvSpPr>
            <a:spLocks noGrp="1"/>
          </p:cNvSpPr>
          <p:nvPr>
            <p:ph type="sldNum" sz="quarter" idx="12"/>
          </p:nvPr>
        </p:nvSpPr>
        <p:spPr/>
        <p:txBody>
          <a:bodyPr/>
          <a:lstStyle/>
          <a:p>
            <a:fld id="{70C12960-6E85-460F-B6E3-5B82CB31AF3D}" type="slidenum">
              <a:rPr lang="en-US" smtClean="0"/>
              <a:t>16</a:t>
            </a:fld>
            <a:endParaRPr lang="en-US"/>
          </a:p>
        </p:txBody>
      </p:sp>
    </p:spTree>
    <p:extLst>
      <p:ext uri="{BB962C8B-B14F-4D97-AF65-F5344CB8AC3E}">
        <p14:creationId xmlns:p14="http://schemas.microsoft.com/office/powerpoint/2010/main" val="149751581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theme/theme1.xml><?xml version="1.0" encoding="utf-8"?>
<a:theme xmlns:a="http://schemas.openxmlformats.org/drawingml/2006/main" name="DashVTI">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grandview display">
      <a:majorFont>
        <a:latin typeface="Grandview Display"/>
        <a:ea typeface=""/>
        <a:cs typeface=""/>
      </a:majorFont>
      <a:minorFont>
        <a:latin typeface="Grandview Display"/>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ashVTI" id="{0A75137F-CDEB-4E94-A788-9D255EBE1B91}" vid="{DE9A6A09-5855-45A3-8E99-4290ED24057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34</TotalTime>
  <Words>1916</Words>
  <Application>Microsoft Office PowerPoint</Application>
  <PresentationFormat>Widescreen</PresentationFormat>
  <Paragraphs>130</Paragraphs>
  <Slides>16</Slides>
  <Notes>16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Aptos</vt:lpstr>
      <vt:lpstr>Arial</vt:lpstr>
      <vt:lpstr>Grandview Display</vt:lpstr>
      <vt:lpstr>DashVTI</vt:lpstr>
      <vt:lpstr>The Data Ecosystem: Comprehensive Introduction</vt:lpstr>
      <vt:lpstr>Course Contents</vt:lpstr>
      <vt:lpstr>Introduction to the Data Ecosystem</vt:lpstr>
      <vt:lpstr>Overview of the Data Ecosystem</vt:lpstr>
      <vt:lpstr>Importance of Data in Decision-Making and Business Operations</vt:lpstr>
      <vt:lpstr>Key Components of the Data Ecosystem</vt:lpstr>
      <vt:lpstr>Evolution of Data Ecosystems</vt:lpstr>
      <vt:lpstr>Sources of Data</vt:lpstr>
      <vt:lpstr>Types of Data Sources</vt:lpstr>
      <vt:lpstr>Common Data Sources</vt:lpstr>
      <vt:lpstr>Data Capture Methods</vt:lpstr>
      <vt:lpstr>Databases</vt:lpstr>
      <vt:lpstr>What is a Database?</vt:lpstr>
      <vt:lpstr>Types of Databases</vt:lpstr>
      <vt:lpstr>Database Management Systems</vt:lpstr>
      <vt:lpstr>Database Operations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Arnab Chakraborty</dc:creator>
  <cp:lastModifiedBy>Arnab Chakraborty</cp:lastModifiedBy>
  <cp:revision>2</cp:revision>
  <dcterms:created xsi:type="dcterms:W3CDTF">2024-10-03T07:47:07Z</dcterms:created>
  <dcterms:modified xsi:type="dcterms:W3CDTF">2024-10-03T12:52:44Z</dcterms:modified>
</cp:coreProperties>
</file>